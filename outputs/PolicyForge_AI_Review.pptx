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10e12491ba41f6" /><Relationship Type="http://schemas.openxmlformats.org/officeDocument/2006/relationships/extended-properties" Target="/docProps/app.xml" Id="R9ef4059d502740f2" /><Relationship Type="http://schemas.openxmlformats.org/officeDocument/2006/relationships/officeDocument" Target="/ppt/presentation.xml" Id="R17ada75d07dc4768" /></Relationships>
</file>

<file path=ppt/presentation.xml><?xml version="1.0" encoding="utf-8"?>
<p:presentation xmlns:p="http://schemas.openxmlformats.org/presentationml/2006/main">
  <p:sldMasterIdLst>
    <p:sldMasterId xmlns:r="http://schemas.openxmlformats.org/officeDocument/2006/relationships" id="2147483648" r:id="R6729ccd67fa74244"/>
  </p:sldMasterIdLst>
  <p:notesMasterIdLst>
    <p:notesMasterId xmlns:r="http://schemas.openxmlformats.org/officeDocument/2006/relationships" r:id="R27b9cdfe7fa7443e"/>
  </p:notesMasterIdLst>
  <p:sldIdLst>
    <p:sldId xmlns:r="http://schemas.openxmlformats.org/officeDocument/2006/relationships" id="256" r:id="R73c4e2d0f6fe4677"/>
    <p:sldId xmlns:r="http://schemas.openxmlformats.org/officeDocument/2006/relationships" id="257" r:id="R1027bd550c3e4ca9"/>
    <p:sldId xmlns:r="http://schemas.openxmlformats.org/officeDocument/2006/relationships" id="258" r:id="R35f57ae986ab40dc"/>
    <p:sldId xmlns:r="http://schemas.openxmlformats.org/officeDocument/2006/relationships" id="259" r:id="R0950f7efac45447d"/>
    <p:sldId xmlns:r="http://schemas.openxmlformats.org/officeDocument/2006/relationships" id="260" r:id="R0eb4156a81be4f3f"/>
    <p:sldId xmlns:r="http://schemas.openxmlformats.org/officeDocument/2006/relationships" id="261" r:id="Rf32e7159dca2470f"/>
    <p:sldId xmlns:r="http://schemas.openxmlformats.org/officeDocument/2006/relationships" id="262" r:id="R6ec2bedafebc42b1"/>
    <p:sldId xmlns:r="http://schemas.openxmlformats.org/officeDocument/2006/relationships" id="263" r:id="R5ed39a69dcec48a6"/>
    <p:sldId xmlns:r="http://schemas.openxmlformats.org/officeDocument/2006/relationships" id="264" r:id="Rbd565ac8a2f04f15"/>
    <p:sldId xmlns:r="http://schemas.openxmlformats.org/officeDocument/2006/relationships" id="265" r:id="R13b7aabb27314453"/>
    <p:sldId xmlns:r="http://schemas.openxmlformats.org/officeDocument/2006/relationships" id="266" r:id="R1cced11b360a4337"/>
    <p:sldId xmlns:r="http://schemas.openxmlformats.org/officeDocument/2006/relationships" id="267" r:id="Ra31bc4bc0f3543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b929cc0e4145d3" /><Relationship Type="http://schemas.openxmlformats.org/officeDocument/2006/relationships/slideMaster" Target="/ppt/slideMasters/slideMaster1.xml" Id="R6729ccd67fa74244" /><Relationship Type="http://schemas.openxmlformats.org/officeDocument/2006/relationships/notesMaster" Target="/ppt/notesMasters/notesMaster1.xml" Id="R27b9cdfe7fa7443e" /><Relationship Type="http://schemas.openxmlformats.org/officeDocument/2006/relationships/presProps" Target="/ppt/presProps.xml" Id="R303e95c96a8c48be" /><Relationship Type="http://schemas.openxmlformats.org/officeDocument/2006/relationships/tableStyles" Target="/ppt/tableStyles.xml" Id="R5bb92157b276446c" /><Relationship Type="http://schemas.openxmlformats.org/officeDocument/2006/relationships/slide" Target="/ppt/slides/slide1.xml" Id="R73c4e2d0f6fe4677" /><Relationship Type="http://schemas.openxmlformats.org/officeDocument/2006/relationships/slide" Target="/ppt/slides/slide2.xml" Id="R1027bd550c3e4ca9" /><Relationship Type="http://schemas.openxmlformats.org/officeDocument/2006/relationships/slide" Target="/ppt/slides/slide3.xml" Id="R35f57ae986ab40dc" /><Relationship Type="http://schemas.openxmlformats.org/officeDocument/2006/relationships/slide" Target="/ppt/slides/slide4.xml" Id="R0950f7efac45447d" /><Relationship Type="http://schemas.openxmlformats.org/officeDocument/2006/relationships/slide" Target="/ppt/slides/slide5.xml" Id="R0eb4156a81be4f3f" /><Relationship Type="http://schemas.openxmlformats.org/officeDocument/2006/relationships/slide" Target="/ppt/slides/slide6.xml" Id="Rf32e7159dca2470f" /><Relationship Type="http://schemas.openxmlformats.org/officeDocument/2006/relationships/slide" Target="/ppt/slides/slide7.xml" Id="R6ec2bedafebc42b1" /><Relationship Type="http://schemas.openxmlformats.org/officeDocument/2006/relationships/slide" Target="/ppt/slides/slide8.xml" Id="R5ed39a69dcec48a6" /><Relationship Type="http://schemas.openxmlformats.org/officeDocument/2006/relationships/slide" Target="/ppt/slides/slide9.xml" Id="Rbd565ac8a2f04f15" /><Relationship Type="http://schemas.openxmlformats.org/officeDocument/2006/relationships/slide" Target="/ppt/slides/slide10.xml" Id="R13b7aabb27314453" /><Relationship Type="http://schemas.openxmlformats.org/officeDocument/2006/relationships/slide" Target="/ppt/slides/slide11.xml" Id="R1cced11b360a4337" /><Relationship Type="http://schemas.openxmlformats.org/officeDocument/2006/relationships/slide" Target="/ppt/slides/slide12.xml" Id="Ra31bc4bc0f3543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95b11bddbf47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af65acc0d5445e" /><Relationship Type="http://schemas.openxmlformats.org/officeDocument/2006/relationships/notesMaster" Target="/ppt/notesMasters/notesMaster1.xml" Id="Rc3bc59fd47654c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edfb3da1064c07" /><Relationship Type="http://schemas.openxmlformats.org/officeDocument/2006/relationships/notesMaster" Target="/ppt/notesMasters/notesMaster1.xml" Id="Rda4183eec1f44d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d30a1d30364589" /><Relationship Type="http://schemas.openxmlformats.org/officeDocument/2006/relationships/notesMaster" Target="/ppt/notesMasters/notesMaster1.xml" Id="R51bda3100fa141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18b568c9864dda" /><Relationship Type="http://schemas.openxmlformats.org/officeDocument/2006/relationships/notesMaster" Target="/ppt/notesMasters/notesMaster1.xml" Id="R6f6f5135219949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f667c42a414b4f" /><Relationship Type="http://schemas.openxmlformats.org/officeDocument/2006/relationships/notesMaster" Target="/ppt/notesMasters/notesMaster1.xml" Id="Rdb286fe438da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b7ea9944834c0d" /><Relationship Type="http://schemas.openxmlformats.org/officeDocument/2006/relationships/notesMaster" Target="/ppt/notesMasters/notesMaster1.xml" Id="Reafed4809c0b4e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9dd660f9374177" /><Relationship Type="http://schemas.openxmlformats.org/officeDocument/2006/relationships/notesMaster" Target="/ppt/notesMasters/notesMaster1.xml" Id="Rc7657a8c08984d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e7de74af5e4be0" /><Relationship Type="http://schemas.openxmlformats.org/officeDocument/2006/relationships/notesMaster" Target="/ppt/notesMasters/notesMaster1.xml" Id="Ra9957f056bdc42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cb4e4fae124df3" /><Relationship Type="http://schemas.openxmlformats.org/officeDocument/2006/relationships/notesMaster" Target="/ppt/notesMasters/notesMaster1.xml" Id="R45e733ca26e845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6ce4a26702477b" /><Relationship Type="http://schemas.openxmlformats.org/officeDocument/2006/relationships/notesMaster" Target="/ppt/notesMasters/notesMaster1.xml" Id="Rf586baa8d78244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43017b86a444f1" /><Relationship Type="http://schemas.openxmlformats.org/officeDocument/2006/relationships/notesMaster" Target="/ppt/notesMasters/notesMaster1.xml" Id="R4f850758246748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520063c4174440" /><Relationship Type="http://schemas.openxmlformats.org/officeDocument/2006/relationships/notesMaster" Target="/ppt/notesMasters/notesMaster1.xml" Id="R98f8432c1cab48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PolicyForge AI as a local educational CPU scheduling lab. It compares established algorithms, checks measurable goals and finds repeatable failures. Two AI-related components support learning: a trained decision tree recommends schedulers, and a TF-IDF retrieval tutor explains concepts using simulator evidence. This is a student-scale prototype and does not modify the real operating system scheduler. Source: current local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scheduler can perform well on average while one interactive job waits too long. PolicyForge compares algorithms under a user-defined requirement and exposes the individual failure. Intended users are students and instructors. The simulator assumes a single CPU, known bursts, no I/O and a finite workload. OSTEP provides background on scheduling and metrics: https://pages.cs.wisc.edu/~remzi/OSTEP/cpu-sched.pdf. Project-specific claims come from core.py and experiments.py.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listed objectives are implemented in the current build. The goal parser supports explicit measurable phrases; it is not a general language model. The advisor is learned from examples. The tutor retrieves authored lessons and calculates evidence. The search uses seeded random generation and greedy process deletion. No new scheduling algorithm is claimed. Sources: experiments.py, advisor.py, tutor.py and the web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inputs include process ID, arrival, burst, priority and type. Quantum affects RR and switch cost models overhead. parse_goal() maps supported language into metric, group, aggregate, operator and threshold. Each simulator run provides a trace and metrics; verify() checks the requirement. The advisor predicts from inputs and simulation checks it. The tutor calculates its numerical evidence again from the input snapshot. Sources: server.py and the policyforge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 files index.html, style.css and app.js manage inputs, charts, timeline and tutor chat. server.py accepts JSON over localhost. /api/compare and /api/break call experiments.py, which uses core.py and advisor.py. /api/tutor calls tutor.py, which retrieves lessons and uses core.py, goal verification and the saved advisor for evidence. advisor_model.json stores a decision tree trained offline by scripts/train_advisor.py. Chat remains in browser memory. Sources: server.py, tutor.py, experiments.py, advisor.py and 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simulate() sorts pending jobs, admits arrivals into a deque and selects according to the policy. RR runs min(remaining, quantum), then requeues unfinished work. Endpoint arrivals precede requeueing. SJF and Priority are non-preemptive. For review P2 at q2, first start 2, arrival 1, finish 11, burst 4 yields response 1, turnaround 10 and waiting 6. Switch cost is zero for this example. Source: core.py and reproduced benchmark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advisor implements a supervised CART-style classifier with Gini splits using only Python standard library code. scripts/train_advisor.py generates 240 distinct synthetic workloads and uses deterministic simulation to assign labels, with include_advisor=False. Splits happen at workload level before fitting. Of 192 training examples, NONE111, SJF43, RR30 and FCFS8. Priority has no winning labels. Test support is NONE27, SJF13, RR8, FCFS0 and Priority0. Accuracy is exact agreement with the best-passing label, not real-world performance. Sources: advisor_model.json, train_advisor.py and advisor.py. Conceptual reference: https://scikit-learn.org/stable/modules/tree.html. The implementation does not use scikit-learn.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tutor is retrieval-based AI, not a generative LLM. It fits TF-IDF term weights on 113 example questions across 21 authored topics, normalizes vectors and chooses the closest example by cosine similarity. A minimum match score gates supported questions; known short follow-ups reuse the previous topic. It calculates current-workload evidence through simulate() and verify(). It can show metrics, timelines, a quantum counterfactual and an advisor decision path. Unknown questions receive a scoped fallback. Sources: policyforge/tutor.py, web/app.js and tests/test_tutor.py.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background includes OS scheduling metrics, interpretable decision trees and counterexample testing. Development adds goal checking and search to the scheduling baseline, followed by a learned advisor and local study tutor. Chart data comes from the review workload with switch cost 0. q2 response average2, slowest interactive5; q1 average0.75, slowest2. Switches increase6 to11. Seed42 q1 search fails on attempt3 and reduces7 jobs to4. The test suite now has27 passing tests. Live API and interface-logic checks pass; full visual browser automation remains unavailable. Source: current code, tests and reproduced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delimit the claims. The model is a finite single-CPU educational simulation with known bursts and no I/O. The advisor has one small synthetic split, rare or absent classes and no demonstrated real trace accuracy. The prototype runs all four simulations anyway, so a learned prediction does not establish an application speed advantage. Tutor retrieval covers local topics only, and similarity is not calibrated confidence. Future extensions could broaden datasets, repeated evaluation, add IO bursts and more schedulers, and expand verified lesson coverage. Source: README, model evaluation and tutor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the implemented contribution. The system helps a user define a scheduling requirement, examine results and find failures. The decision tree supplies explainable learned advice and the tutor teaches the underlying concepts using simulator facts. Neither component replaces deterministic checks. The project combines established methods rather than claiming original scheduling theory. A demo can show q2 fail, q1 pass, then seeded q1 failure and tutor explanation. Sources: current simulator, advisor and tutor.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support background concepts. The project uses Python standard library implementations; scikit-learn documentation is a conceptual reference, not an installed model dependency. Project-specific measurements come from current local code and saved artefacts. Accessed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f04882ec464ec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ca9b78ea84840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2eda112746d4d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d12dbec60d4f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f5cc2639df49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36453aef5444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F8B4A6-9296-40A8-A3F9-D57866DBBD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81C080-0214-487C-94EC-99F2D2B9F3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14E9B0-851A-49A2-946B-C77C1265E5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3D076D-FAF2-432B-90B0-B3E0278193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97C740-92D9-480B-9CCF-FB66B26A3B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C614E3-5479-4F7B-B626-B373EADC5E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9B041C-81F9-422D-ADB3-47AC4A0D56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2CBA0A-1787-41CE-9A9E-0ABA7F0B19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B34D70-1756-48EA-94E3-0FFEA54581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B56B2E-3341-441D-99E7-271D0C530C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3cb132bb9649fa" /><Relationship Type="http://schemas.openxmlformats.org/officeDocument/2006/relationships/slideLayout" Target="/ppt/slideLayouts/slideLayout1.xml" Id="R81765e1dcea54a8f" /><Relationship Type="http://schemas.openxmlformats.org/officeDocument/2006/relationships/slideLayout" Target="/ppt/slideLayouts/slideLayout2.xml" Id="R9dc350c5f0c84fe7" /><Relationship Type="http://schemas.openxmlformats.org/officeDocument/2006/relationships/slideLayout" Target="/ppt/slideLayouts/slideLayout3.xml" Id="R4a25db25273c4d45" /><Relationship Type="http://schemas.openxmlformats.org/officeDocument/2006/relationships/slideLayout" Target="/ppt/slideLayouts/slideLayout4.xml" Id="R547fe2934d074c57" /><Relationship Type="http://schemas.openxmlformats.org/officeDocument/2006/relationships/slideLayout" Target="/ppt/slideLayouts/slideLayout5.xml" Id="R8a1ba7fe96bf4505" /><Relationship Type="http://schemas.openxmlformats.org/officeDocument/2006/relationships/slideLayout" Target="/ppt/slideLayouts/slideLayout6.xml" Id="R5b7b3fa79947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765e1dcea54a8f"/>
    <p:sldLayoutId xmlns:r="http://schemas.openxmlformats.org/officeDocument/2006/relationships" id="2147483650" r:id="R9dc350c5f0c84fe7"/>
    <p:sldLayoutId xmlns:r="http://schemas.openxmlformats.org/officeDocument/2006/relationships" id="2147483651" r:id="R4a25db25273c4d45"/>
    <p:sldLayoutId xmlns:r="http://schemas.openxmlformats.org/officeDocument/2006/relationships" id="2147483652" r:id="R547fe2934d074c57"/>
    <p:sldLayoutId xmlns:r="http://schemas.openxmlformats.org/officeDocument/2006/relationships" id="2147483653" r:id="R8a1ba7fe96bf4505"/>
    <p:sldLayoutId xmlns:r="http://schemas.openxmlformats.org/officeDocument/2006/relationships" id="2147483654" r:id="R5b7b3fa79947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8aacac3d454817" /><Relationship Type="http://schemas.openxmlformats.org/officeDocument/2006/relationships/notesSlide" Target="/ppt/notesSlides/notesSlide1.xml" Id="R100d60f809854f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41c987f21943cf" /><Relationship Type="http://schemas.openxmlformats.org/officeDocument/2006/relationships/notesSlide" Target="/ppt/notesSlides/notesSlide2.xml" Id="R85bba3beacc741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ed256aca1d430b" /><Relationship Type="http://schemas.openxmlformats.org/officeDocument/2006/relationships/notesSlide" Target="/ppt/notesSlides/notesSlide3.xml" Id="Rf87176269ff54f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cda551c7d343d4" /><Relationship Type="http://schemas.openxmlformats.org/officeDocument/2006/relationships/notesSlide" Target="/ppt/notesSlides/notesSlide4.xml" Id="Rcebe8d7b53c848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d7072f1940437f" /><Relationship Type="http://schemas.openxmlformats.org/officeDocument/2006/relationships/notesSlide" Target="/ppt/notesSlides/notesSlide5.xml" Id="Rb2e3da166c774f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e38934f6674fc7" /><Relationship Type="http://schemas.openxmlformats.org/officeDocument/2006/relationships/notesSlide" Target="/ppt/notesSlides/notesSlide6.xml" Id="Rbddf379a8e1d4b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edf34cb5f34911" /><Relationship Type="http://schemas.openxmlformats.org/officeDocument/2006/relationships/notesSlide" Target="/ppt/notesSlides/notesSlide7.xml" Id="Read728199fa14b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052b3278044d72" /><Relationship Type="http://schemas.openxmlformats.org/officeDocument/2006/relationships/notesSlide" Target="/ppt/notesSlides/notesSlide8.xml" Id="Rde6cfefb84f140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b9046be6f24717" /><Relationship Type="http://schemas.openxmlformats.org/officeDocument/2006/relationships/chart" Target="/ppt/slides/charts/chart1.xml" Id="Rc3b766f6a91f471a" /><Relationship Type="http://schemas.openxmlformats.org/officeDocument/2006/relationships/notesSlide" Target="/ppt/notesSlides/notesSlide9.xml" Id="R94f51b5ac36e4a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71b14cefa2946b3" /><Relationship Type="http://schemas.openxmlformats.org/officeDocument/2006/relationships/notesSlide" Target="/ppt/notesSlides/notesSlide10.xml" Id="Rc7fb0115b9ac41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6eed856cd0457b" /><Relationship Type="http://schemas.openxmlformats.org/officeDocument/2006/relationships/notesSlide" Target="/ppt/notesSlides/notesSlide11.xml" Id="R213189f61a9a40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3f0fab26644111" /><Relationship Type="http://schemas.openxmlformats.org/officeDocument/2006/relationships/notesSlide" Target="/ppt/notesSlides/notesSlide12.xml" Id="R1b2d71fdb80d410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Quantum 2</c:v>
          </c:tx>
          <c:spPr>
            <a:solidFill xmlns:a="http://schemas.openxmlformats.org/drawingml/2006/main">
              <a:srgbClr val="B35B36"/>
            </a:solidFill>
          </c:spPr>
          <c:invertIfNegative val="0"/>
          <c:cat>
            <c:strRef>
              <c:f>'Chart Data'!$A$2:$A$3</c:f>
              <c:strCache>
                <c:ptCount val="2"/>
                <c:pt idx="0">
                  <c:v>Average response</c:v>
                </c:pt>
                <c:pt idx="1">
                  <c:v>Slowest interactive</c:v>
                </c:pt>
              </c:strCache>
            </c:strRef>
          </c:cat>
          <c:val>
            <c:numRef>
              <c:f>'Chart Data'!$B$2:$B$3</c:f>
              <c:numCache>
                <c:formatCode>0</c:formatCode>
                <c:ptCount val="2"/>
                <c:pt idx="0">
                  <c:v>2</c:v>
                </c:pt>
                <c:pt idx="1">
                  <c:v>5</c:v>
                </c:pt>
              </c:numCache>
            </c:numRef>
          </c:val>
        </c:ser>
        <c:ser>
          <c:idx val="1"/>
          <c:order val="1"/>
          <c:tx>
            <c:v>Quantum 1</c:v>
          </c:tx>
          <c:spPr>
            <a:solidFill xmlns:a="http://schemas.openxmlformats.org/drawingml/2006/main">
              <a:srgbClr val="315F4C"/>
            </a:solidFill>
          </c:spPr>
          <c:invertIfNegative val="0"/>
          <c:cat>
            <c:strRef>
              <c:f>'Chart Data'!$C$2:$C$3</c:f>
              <c:strCache>
                <c:ptCount val="2"/>
                <c:pt idx="0">
                  <c:v>Average response</c:v>
                </c:pt>
                <c:pt idx="1">
                  <c:v>Slowest interactive</c:v>
                </c:pt>
              </c:strCache>
            </c:strRef>
          </c:cat>
          <c:val>
            <c:numRef>
              <c:f>'Chart Data'!$D$2:$D$3</c:f>
              <c:numCache>
                <c:formatCode>0</c:formatCode>
                <c:ptCount val="2"/>
                <c:pt idx="0">
                  <c:v>0.75</c:v>
                </c:pt>
                <c:pt idx="1">
                  <c:v>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263B34"/>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63B34"/>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425">
                    <a:solidFill>
                      <a:srgbClr val="65716A"/>
                    </a:solidFill>
                    <a:latin typeface="Arial"/>
                    <a:ea typeface="Arial"/>
                    <a:cs typeface="Arial"/>
                  </a:rPr>
                  <a:t>Time units</a:t>
                </a:r>
              </a:p>
            </c:rich>
          </c:tx>
          <c:overlay val="0"/>
          <c:txPr>
            <a:bodyPr xmlns:a="http://schemas.openxmlformats.org/drawingml/2006/main" anchorCtr="1"/>
            <a:lstStyle xmlns:a="http://schemas.openxmlformats.org/drawingml/2006/main"/>
            <a:p xmlns:a="http://schemas.openxmlformats.org/drawingml/2006/main">
              <a:pPr>
                <a:defRPr sz="1425">
                  <a:solidFill>
                    <a:srgbClr val="65716A"/>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716A"/>
                </a:solidFill>
                <a:latin typeface="Arial"/>
                <a:ea typeface="Arial"/>
                <a:cs typeface="Arial"/>
              </a:defRPr>
            </a:pPr>
          </a:p>
        </c:txPr>
        <c:crossAx val="48650112"/>
        <c:crossBetween val="between"/>
      </c:valAx>
      <c:spPr>
        <a:solidFill xmlns:a="http://schemas.openxmlformats.org/drawingml/2006/main">
          <a:srgbClr val="F8F7F2"/>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63B34"/>
              </a:solidFill>
              <a:latin typeface="Arial"/>
              <a:ea typeface="Arial"/>
              <a:cs typeface="Arial"/>
            </a:defRPr>
          </a:pPr>
        </a:p>
      </c:txPr>
    </c:legend>
    <c:plotVisOnly val="1"/>
  </c:chart>
  <c:spPr>
    <a:solidFill xmlns:a="http://schemas.openxmlformats.org/drawingml/2006/main">
      <a:srgbClr val="F8F7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C8E23D-ABF5-4125-AD75-43D11572DE83}"/>
              </a:ext>
            </a:extLst>
          </p:cNvPr>
          <p:cNvSpPr>
            <a:spLocks xmlns:a="http://schemas.openxmlformats.org/drawingml/2006/main" noGrp="1"/>
          </p:cNvSpPr>
          <p:nvPr/>
        </p:nvSpPr>
        <p:spPr>
          <a:xfrm xmlns:a="http://schemas.openxmlformats.org/drawingml/2006/main">
            <a:off x="666750" y="6191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1">
                <a:solidFill>
                  <a:srgbClr val="315F4C"/>
                </a:solidFill>
                <a:latin typeface="Arial"/>
                <a:ea typeface="Arial"/>
                <a:cs typeface="Arial"/>
              </a:defRPr>
            </a:defPPr>
            <a:lvl1pPr algn="l">
              <a:defRPr sz="1500" b="1">
                <a:solidFill>
                  <a:srgbClr val="315F4C"/>
                </a:solidFill>
                <a:latin typeface="Arial"/>
                <a:ea typeface="Arial"/>
                <a:cs typeface="Arial"/>
              </a:defRPr>
            </a:lvl1pPr>
            <a:lvl2pPr algn="l">
              <a:defRPr sz="1500" b="1">
                <a:solidFill>
                  <a:srgbClr val="315F4C"/>
                </a:solidFill>
                <a:latin typeface="Arial"/>
                <a:ea typeface="Arial"/>
                <a:cs typeface="Arial"/>
              </a:defRPr>
            </a:lvl2pPr>
            <a:lvl3pPr algn="l">
              <a:defRPr sz="1500" b="1">
                <a:solidFill>
                  <a:srgbClr val="315F4C"/>
                </a:solidFill>
                <a:latin typeface="Arial"/>
                <a:ea typeface="Arial"/>
                <a:cs typeface="Arial"/>
              </a:defRPr>
            </a:lvl3pPr>
            <a:lvl4pPr algn="l">
              <a:defRPr sz="1500" b="1">
                <a:solidFill>
                  <a:srgbClr val="315F4C"/>
                </a:solidFill>
                <a:latin typeface="Arial"/>
                <a:ea typeface="Arial"/>
                <a:cs typeface="Arial"/>
              </a:defRPr>
            </a:lvl4pPr>
            <a:lvl5pPr algn="l">
              <a:defRPr sz="1500" b="1">
                <a:solidFill>
                  <a:srgbClr val="315F4C"/>
                </a:solidFill>
                <a:latin typeface="Arial"/>
                <a:ea typeface="Arial"/>
                <a:cs typeface="Arial"/>
              </a:defRPr>
            </a:lvl5pPr>
            <a:lvl6pPr algn="l">
              <a:defRPr sz="1500" b="1">
                <a:solidFill>
                  <a:srgbClr val="315F4C"/>
                </a:solidFill>
                <a:latin typeface="Arial"/>
                <a:ea typeface="Arial"/>
                <a:cs typeface="Arial"/>
              </a:defRPr>
            </a:lvl6pPr>
            <a:lvl7pPr algn="l">
              <a:defRPr sz="1500" b="1">
                <a:solidFill>
                  <a:srgbClr val="315F4C"/>
                </a:solidFill>
                <a:latin typeface="Arial"/>
                <a:ea typeface="Arial"/>
                <a:cs typeface="Arial"/>
              </a:defRPr>
            </a:lvl7pPr>
            <a:lvl8pPr algn="l">
              <a:defRPr sz="1500" b="1">
                <a:solidFill>
                  <a:srgbClr val="315F4C"/>
                </a:solidFill>
                <a:latin typeface="Arial"/>
                <a:ea typeface="Arial"/>
                <a:cs typeface="Arial"/>
              </a:defRPr>
            </a:lvl8pPr>
            <a:lvl9pPr algn="l">
              <a:defRPr sz="1500" b="1">
                <a:solidFill>
                  <a:srgbClr val="315F4C"/>
                </a:solidFill>
                <a:latin typeface="Arial"/>
                <a:ea typeface="Arial"/>
                <a:cs typeface="Arial"/>
              </a:defRPr>
            </a:lvl9pPr>
          </a:lstStyle>
          <a:p xmlns:a="http://schemas.openxmlformats.org/drawingml/2006/main">
            <a:pPr algn="l">
              <a:defRPr sz="1500" b="1">
                <a:solidFill>
                  <a:srgbClr val="315F4C"/>
                </a:solidFill>
                <a:latin typeface="Arial"/>
                <a:ea typeface="Arial"/>
                <a:cs typeface="Arial"/>
              </a:defRPr>
            </a:pPr>
            <a:r>
              <a:rPr sz="1500" b="1">
                <a:solidFill>
                  <a:srgbClr val="315F4C"/>
                </a:solidFill>
                <a:latin typeface="Arial"/>
                <a:ea typeface="Arial"/>
                <a:cs typeface="Arial"/>
              </a:rPr>
              <a:t>OPERATING SYSTEMS COURSE PROJECT</a:t>
            </a:r>
          </a:p>
        </p:txBody>
      </p:sp>
      <p:sp>
        <p:nvSpPr>
          <p:cNvPr id="2" name="">
            <a:extLst xmlns:a="http://schemas.openxmlformats.org/drawingml/2006/main">
              <a:ext uri="{FF2B5EF4-FFF2-40B4-BE49-F238E27FC236}">
                <a16:creationId xmlns:a16="http://schemas.microsoft.com/office/drawing/2014/main" id="{8B885FEB-0622-4402-9B86-8D3A953B0052}"/>
              </a:ext>
            </a:extLst>
          </p:cNvPr>
          <p:cNvSpPr>
            <a:spLocks xmlns:a="http://schemas.openxmlformats.org/drawingml/2006/main" noGrp="1"/>
          </p:cNvSpPr>
          <p:nvPr/>
        </p:nvSpPr>
        <p:spPr>
          <a:xfrm xmlns:a="http://schemas.openxmlformats.org/drawingml/2006/main">
            <a:off x="666750" y="16573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400" b="1">
                <a:solidFill>
                  <a:srgbClr val="263B34"/>
                </a:solidFill>
                <a:latin typeface="Arial"/>
                <a:ea typeface="Arial"/>
                <a:cs typeface="Arial"/>
              </a:defRPr>
            </a:defPPr>
            <a:lvl1pPr algn="l">
              <a:defRPr sz="5400" b="1">
                <a:solidFill>
                  <a:srgbClr val="263B34"/>
                </a:solidFill>
                <a:latin typeface="Arial"/>
                <a:ea typeface="Arial"/>
                <a:cs typeface="Arial"/>
              </a:defRPr>
            </a:lvl1pPr>
            <a:lvl2pPr algn="l">
              <a:defRPr sz="5400" b="1">
                <a:solidFill>
                  <a:srgbClr val="263B34"/>
                </a:solidFill>
                <a:latin typeface="Arial"/>
                <a:ea typeface="Arial"/>
                <a:cs typeface="Arial"/>
              </a:defRPr>
            </a:lvl2pPr>
            <a:lvl3pPr algn="l">
              <a:defRPr sz="5400" b="1">
                <a:solidFill>
                  <a:srgbClr val="263B34"/>
                </a:solidFill>
                <a:latin typeface="Arial"/>
                <a:ea typeface="Arial"/>
                <a:cs typeface="Arial"/>
              </a:defRPr>
            </a:lvl3pPr>
            <a:lvl4pPr algn="l">
              <a:defRPr sz="5400" b="1">
                <a:solidFill>
                  <a:srgbClr val="263B34"/>
                </a:solidFill>
                <a:latin typeface="Arial"/>
                <a:ea typeface="Arial"/>
                <a:cs typeface="Arial"/>
              </a:defRPr>
            </a:lvl4pPr>
            <a:lvl5pPr algn="l">
              <a:defRPr sz="5400" b="1">
                <a:solidFill>
                  <a:srgbClr val="263B34"/>
                </a:solidFill>
                <a:latin typeface="Arial"/>
                <a:ea typeface="Arial"/>
                <a:cs typeface="Arial"/>
              </a:defRPr>
            </a:lvl5pPr>
            <a:lvl6pPr algn="l">
              <a:defRPr sz="5400" b="1">
                <a:solidFill>
                  <a:srgbClr val="263B34"/>
                </a:solidFill>
                <a:latin typeface="Arial"/>
                <a:ea typeface="Arial"/>
                <a:cs typeface="Arial"/>
              </a:defRPr>
            </a:lvl6pPr>
            <a:lvl7pPr algn="l">
              <a:defRPr sz="5400" b="1">
                <a:solidFill>
                  <a:srgbClr val="263B34"/>
                </a:solidFill>
                <a:latin typeface="Arial"/>
                <a:ea typeface="Arial"/>
                <a:cs typeface="Arial"/>
              </a:defRPr>
            </a:lvl7pPr>
            <a:lvl8pPr algn="l">
              <a:defRPr sz="5400" b="1">
                <a:solidFill>
                  <a:srgbClr val="263B34"/>
                </a:solidFill>
                <a:latin typeface="Arial"/>
                <a:ea typeface="Arial"/>
                <a:cs typeface="Arial"/>
              </a:defRPr>
            </a:lvl8pPr>
            <a:lvl9pPr algn="l">
              <a:defRPr sz="5400" b="1">
                <a:solidFill>
                  <a:srgbClr val="263B34"/>
                </a:solidFill>
                <a:latin typeface="Arial"/>
                <a:ea typeface="Arial"/>
                <a:cs typeface="Arial"/>
              </a:defRPr>
            </a:lvl9pPr>
          </a:lstStyle>
          <a:p xmlns:a="http://schemas.openxmlformats.org/drawingml/2006/main">
            <a:pPr algn="l">
              <a:defRPr sz="5400" b="1">
                <a:solidFill>
                  <a:srgbClr val="263B34"/>
                </a:solidFill>
                <a:latin typeface="Arial"/>
                <a:ea typeface="Arial"/>
                <a:cs typeface="Arial"/>
              </a:defRPr>
            </a:pPr>
            <a:r>
              <a:rPr sz="5400" b="1">
                <a:solidFill>
                  <a:srgbClr val="263B34"/>
                </a:solidFill>
                <a:latin typeface="Arial"/>
                <a:ea typeface="Arial"/>
                <a:cs typeface="Arial"/>
              </a:rPr>
              <a:t>PolicyForge AI</a:t>
            </a:r>
          </a:p>
        </p:txBody>
      </p:sp>
      <p:sp>
        <p:nvSpPr>
          <p:cNvPr id="3" name="">
            <a:extLst xmlns:a="http://schemas.openxmlformats.org/drawingml/2006/main">
              <a:ext uri="{FF2B5EF4-FFF2-40B4-BE49-F238E27FC236}">
                <a16:creationId xmlns:a16="http://schemas.microsoft.com/office/drawing/2014/main" id="{2DD8842B-94CA-4518-87F6-1ABA8181A485}"/>
              </a:ext>
            </a:extLst>
          </p:cNvPr>
          <p:cNvSpPr>
            <a:spLocks xmlns:a="http://schemas.openxmlformats.org/drawingml/2006/main" noGrp="1"/>
          </p:cNvSpPr>
          <p:nvPr/>
        </p:nvSpPr>
        <p:spPr>
          <a:xfrm xmlns:a="http://schemas.openxmlformats.org/drawingml/2006/main">
            <a:off x="704850" y="28289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325" b="0">
                <a:solidFill>
                  <a:srgbClr val="65716A"/>
                </a:solidFill>
                <a:latin typeface="Arial"/>
                <a:ea typeface="Arial"/>
                <a:cs typeface="Arial"/>
              </a:defRPr>
            </a:defPPr>
            <a:lvl1pPr algn="l">
              <a:defRPr sz="2325" b="0">
                <a:solidFill>
                  <a:srgbClr val="65716A"/>
                </a:solidFill>
                <a:latin typeface="Arial"/>
                <a:ea typeface="Arial"/>
                <a:cs typeface="Arial"/>
              </a:defRPr>
            </a:lvl1pPr>
            <a:lvl2pPr algn="l">
              <a:defRPr sz="2325" b="0">
                <a:solidFill>
                  <a:srgbClr val="65716A"/>
                </a:solidFill>
                <a:latin typeface="Arial"/>
                <a:ea typeface="Arial"/>
                <a:cs typeface="Arial"/>
              </a:defRPr>
            </a:lvl2pPr>
            <a:lvl3pPr algn="l">
              <a:defRPr sz="2325" b="0">
                <a:solidFill>
                  <a:srgbClr val="65716A"/>
                </a:solidFill>
                <a:latin typeface="Arial"/>
                <a:ea typeface="Arial"/>
                <a:cs typeface="Arial"/>
              </a:defRPr>
            </a:lvl3pPr>
            <a:lvl4pPr algn="l">
              <a:defRPr sz="2325" b="0">
                <a:solidFill>
                  <a:srgbClr val="65716A"/>
                </a:solidFill>
                <a:latin typeface="Arial"/>
                <a:ea typeface="Arial"/>
                <a:cs typeface="Arial"/>
              </a:defRPr>
            </a:lvl4pPr>
            <a:lvl5pPr algn="l">
              <a:defRPr sz="2325" b="0">
                <a:solidFill>
                  <a:srgbClr val="65716A"/>
                </a:solidFill>
                <a:latin typeface="Arial"/>
                <a:ea typeface="Arial"/>
                <a:cs typeface="Arial"/>
              </a:defRPr>
            </a:lvl5pPr>
            <a:lvl6pPr algn="l">
              <a:defRPr sz="2325" b="0">
                <a:solidFill>
                  <a:srgbClr val="65716A"/>
                </a:solidFill>
                <a:latin typeface="Arial"/>
                <a:ea typeface="Arial"/>
                <a:cs typeface="Arial"/>
              </a:defRPr>
            </a:lvl6pPr>
            <a:lvl7pPr algn="l">
              <a:defRPr sz="2325" b="0">
                <a:solidFill>
                  <a:srgbClr val="65716A"/>
                </a:solidFill>
                <a:latin typeface="Arial"/>
                <a:ea typeface="Arial"/>
                <a:cs typeface="Arial"/>
              </a:defRPr>
            </a:lvl7pPr>
            <a:lvl8pPr algn="l">
              <a:defRPr sz="2325" b="0">
                <a:solidFill>
                  <a:srgbClr val="65716A"/>
                </a:solidFill>
                <a:latin typeface="Arial"/>
                <a:ea typeface="Arial"/>
                <a:cs typeface="Arial"/>
              </a:defRPr>
            </a:lvl8pPr>
            <a:lvl9pPr algn="l">
              <a:defRPr sz="2325" b="0">
                <a:solidFill>
                  <a:srgbClr val="65716A"/>
                </a:solidFill>
                <a:latin typeface="Arial"/>
                <a:ea typeface="Arial"/>
                <a:cs typeface="Arial"/>
              </a:defRPr>
            </a:lvl9pPr>
          </a:lstStyle>
          <a:p xmlns:a="http://schemas.openxmlformats.org/drawingml/2006/main">
            <a:pPr algn="l">
              <a:defRPr sz="2325" b="0">
                <a:solidFill>
                  <a:srgbClr val="65716A"/>
                </a:solidFill>
                <a:latin typeface="Arial"/>
                <a:ea typeface="Arial"/>
                <a:cs typeface="Arial"/>
              </a:defRPr>
            </a:pPr>
            <a:r>
              <a:rPr sz="2325" b="0">
                <a:solidFill>
                  <a:srgbClr val="65716A"/>
                </a:solidFill>
                <a:latin typeface="Arial"/>
                <a:ea typeface="Arial"/>
                <a:cs typeface="Arial"/>
              </a:rPr>
              <a:t>CPU scheduling simulation with a learned scheduler advisor</a:t>
            </a:r>
          </a:p>
          <a:p xmlns:a="http://schemas.openxmlformats.org/drawingml/2006/main">
            <a:pPr algn="l">
              <a:defRPr sz="2325" b="0">
                <a:solidFill>
                  <a:srgbClr val="65716A"/>
                </a:solidFill>
                <a:latin typeface="Arial"/>
                <a:ea typeface="Arial"/>
                <a:cs typeface="Arial"/>
              </a:defRPr>
            </a:pPr>
            <a:r>
              <a:rPr sz="2325" b="0">
                <a:solidFill>
                  <a:srgbClr val="65716A"/>
                </a:solidFill>
                <a:latin typeface="Arial"/>
                <a:ea typeface="Arial"/>
                <a:cs typeface="Arial"/>
              </a:rPr>
              <a:t>and an interactive study tutor</a:t>
            </a:r>
          </a:p>
        </p:txBody>
      </p:sp>
      <p:sp>
        <p:nvSpPr>
          <p:cNvPr id="4" name="">
            <a:extLst xmlns:a="http://schemas.openxmlformats.org/drawingml/2006/main">
              <a:ext uri="{FF2B5EF4-FFF2-40B4-BE49-F238E27FC236}">
                <a16:creationId xmlns:a16="http://schemas.microsoft.com/office/drawing/2014/main" id="{98F279A6-654D-4226-BDD7-2922953904A1}"/>
              </a:ext>
            </a:extLst>
          </p:cNvPr>
          <p:cNvSpPr>
            <a:spLocks xmlns:a="http://schemas.openxmlformats.org/drawingml/2006/main" noGrp="1"/>
          </p:cNvSpPr>
          <p:nvPr/>
        </p:nvSpPr>
        <p:spPr>
          <a:xfrm xmlns:a="http://schemas.openxmlformats.org/drawingml/2006/main">
            <a:off x="704850" y="4000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Four scheduling policies. Measurable goals. Reproducible failure cases.</a:t>
            </a:r>
          </a:p>
        </p:txBody>
      </p:sp>
      <p:sp>
        <p:nvSpPr>
          <p:cNvPr id="5" name="">
            <a:extLst xmlns:a="http://schemas.openxmlformats.org/drawingml/2006/main">
              <a:ext uri="{FF2B5EF4-FFF2-40B4-BE49-F238E27FC236}">
                <a16:creationId xmlns:a16="http://schemas.microsoft.com/office/drawing/2014/main" id="{4CC34CB5-22D7-426C-90D8-2480F2E3BEAF}"/>
              </a:ext>
            </a:extLst>
          </p:cNvPr>
          <p:cNvSpPr>
            <a:spLocks xmlns:a="http://schemas.openxmlformats.org/drawingml/2006/main" noGrp="1"/>
          </p:cNvSpPr>
          <p:nvPr/>
        </p:nvSpPr>
        <p:spPr>
          <a:xfrm xmlns:a="http://schemas.openxmlformats.org/drawingml/2006/main">
            <a:off x="571500" y="4953000"/>
            <a:ext cx="11049000" cy="0"/>
          </a:xfrm>
          <a:prstGeom xmlns:a="http://schemas.openxmlformats.org/drawingml/2006/main" prst="line">
            <a:avLst/>
          </a:prstGeom>
          <a:ln xmlns:a="http://schemas.openxmlformats.org/drawingml/2006/main" w="9525">
            <a:solidFill>
              <a:srgbClr val="D8DED5"/>
            </a:solidFill>
          </a:ln>
        </p:spPr>
      </p:sp>
      <p:sp>
        <p:nvSpPr>
          <p:cNvPr id="6" name="">
            <a:extLst xmlns:a="http://schemas.openxmlformats.org/drawingml/2006/main">
              <a:ext uri="{FF2B5EF4-FFF2-40B4-BE49-F238E27FC236}">
                <a16:creationId xmlns:a16="http://schemas.microsoft.com/office/drawing/2014/main" id="{476C1647-DCC7-4A6A-8C27-653770BACE58}"/>
              </a:ext>
            </a:extLst>
          </p:cNvPr>
          <p:cNvSpPr>
            <a:spLocks xmlns:a="http://schemas.openxmlformats.org/drawingml/2006/main" noGrp="1"/>
          </p:cNvSpPr>
          <p:nvPr/>
        </p:nvSpPr>
        <p:spPr>
          <a:xfrm xmlns:a="http://schemas.openxmlformats.org/drawingml/2006/main">
            <a:off x="704850" y="52482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263B34"/>
                </a:solidFill>
                <a:latin typeface="Arial"/>
                <a:ea typeface="Arial"/>
                <a:cs typeface="Arial"/>
              </a:defRPr>
            </a:defPPr>
            <a:lvl1pPr algn="l">
              <a:defRPr sz="2250" b="1">
                <a:solidFill>
                  <a:srgbClr val="263B34"/>
                </a:solidFill>
                <a:latin typeface="Arial"/>
                <a:ea typeface="Arial"/>
                <a:cs typeface="Arial"/>
              </a:defRPr>
            </a:lvl1pPr>
            <a:lvl2pPr algn="l">
              <a:defRPr sz="2250" b="1">
                <a:solidFill>
                  <a:srgbClr val="263B34"/>
                </a:solidFill>
                <a:latin typeface="Arial"/>
                <a:ea typeface="Arial"/>
                <a:cs typeface="Arial"/>
              </a:defRPr>
            </a:lvl2pPr>
            <a:lvl3pPr algn="l">
              <a:defRPr sz="2250" b="1">
                <a:solidFill>
                  <a:srgbClr val="263B34"/>
                </a:solidFill>
                <a:latin typeface="Arial"/>
                <a:ea typeface="Arial"/>
                <a:cs typeface="Arial"/>
              </a:defRPr>
            </a:lvl3pPr>
            <a:lvl4pPr algn="l">
              <a:defRPr sz="2250" b="1">
                <a:solidFill>
                  <a:srgbClr val="263B34"/>
                </a:solidFill>
                <a:latin typeface="Arial"/>
                <a:ea typeface="Arial"/>
                <a:cs typeface="Arial"/>
              </a:defRPr>
            </a:lvl4pPr>
            <a:lvl5pPr algn="l">
              <a:defRPr sz="2250" b="1">
                <a:solidFill>
                  <a:srgbClr val="263B34"/>
                </a:solidFill>
                <a:latin typeface="Arial"/>
                <a:ea typeface="Arial"/>
                <a:cs typeface="Arial"/>
              </a:defRPr>
            </a:lvl5pPr>
            <a:lvl6pPr algn="l">
              <a:defRPr sz="2250" b="1">
                <a:solidFill>
                  <a:srgbClr val="263B34"/>
                </a:solidFill>
                <a:latin typeface="Arial"/>
                <a:ea typeface="Arial"/>
                <a:cs typeface="Arial"/>
              </a:defRPr>
            </a:lvl6pPr>
            <a:lvl7pPr algn="l">
              <a:defRPr sz="2250" b="1">
                <a:solidFill>
                  <a:srgbClr val="263B34"/>
                </a:solidFill>
                <a:latin typeface="Arial"/>
                <a:ea typeface="Arial"/>
                <a:cs typeface="Arial"/>
              </a:defRPr>
            </a:lvl7pPr>
            <a:lvl8pPr algn="l">
              <a:defRPr sz="2250" b="1">
                <a:solidFill>
                  <a:srgbClr val="263B34"/>
                </a:solidFill>
                <a:latin typeface="Arial"/>
                <a:ea typeface="Arial"/>
                <a:cs typeface="Arial"/>
              </a:defRPr>
            </a:lvl8pPr>
            <a:lvl9pPr algn="l">
              <a:defRPr sz="2250" b="1">
                <a:solidFill>
                  <a:srgbClr val="263B34"/>
                </a:solidFill>
                <a:latin typeface="Arial"/>
                <a:ea typeface="Arial"/>
                <a:cs typeface="Arial"/>
              </a:defRPr>
            </a:lvl9pPr>
          </a:lstStyle>
          <a:p xmlns:a="http://schemas.openxmlformats.org/drawingml/2006/main">
            <a:pPr algn="l">
              <a:defRPr sz="2250" b="1">
                <a:solidFill>
                  <a:srgbClr val="263B34"/>
                </a:solidFill>
                <a:latin typeface="Arial"/>
                <a:ea typeface="Arial"/>
                <a:cs typeface="Arial"/>
              </a:defRPr>
            </a:pPr>
            <a:r>
              <a:rPr sz="2250" b="1">
                <a:solidFill>
                  <a:srgbClr val="263B34"/>
                </a:solidFill>
                <a:latin typeface="Arial"/>
                <a:ea typeface="Arial"/>
                <a:cs typeface="Arial"/>
              </a:rPr>
              <a:t>Aarav Dangwal</a:t>
            </a:r>
          </a:p>
        </p:txBody>
      </p:sp>
      <p:sp>
        <p:nvSpPr>
          <p:cNvPr id="7" name="">
            <a:extLst xmlns:a="http://schemas.openxmlformats.org/drawingml/2006/main">
              <a:ext uri="{FF2B5EF4-FFF2-40B4-BE49-F238E27FC236}">
                <a16:creationId xmlns:a16="http://schemas.microsoft.com/office/drawing/2014/main" id="{85E9649D-8AB1-47D1-8D0F-4FF35022E49E}"/>
              </a:ext>
            </a:extLst>
          </p:cNvPr>
          <p:cNvSpPr>
            <a:spLocks xmlns:a="http://schemas.openxmlformats.org/drawingml/2006/main" noGrp="1"/>
          </p:cNvSpPr>
          <p:nvPr/>
        </p:nvSpPr>
        <p:spPr>
          <a:xfrm xmlns:a="http://schemas.openxmlformats.org/drawingml/2006/main">
            <a:off x="704850" y="57245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24BCE0711</a:t>
            </a:r>
          </a:p>
        </p:txBody>
      </p:sp>
      <p:sp>
        <p:nvSpPr>
          <p:cNvPr id="8" name="">
            <a:extLst xmlns:a="http://schemas.openxmlformats.org/drawingml/2006/main">
              <a:ext uri="{FF2B5EF4-FFF2-40B4-BE49-F238E27FC236}">
                <a16:creationId xmlns:a16="http://schemas.microsoft.com/office/drawing/2014/main" id="{BFD7E527-C5E9-4035-9390-5511DF253A6F}"/>
              </a:ext>
            </a:extLst>
          </p:cNvPr>
          <p:cNvSpPr>
            <a:spLocks xmlns:a="http://schemas.openxmlformats.org/drawingml/2006/main" noGrp="1"/>
          </p:cNvSpPr>
          <p:nvPr/>
        </p:nvSpPr>
        <p:spPr>
          <a:xfrm xmlns:a="http://schemas.openxmlformats.org/drawingml/2006/main">
            <a:off x="704850" y="62388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315F4C"/>
                </a:solidFill>
                <a:latin typeface="Arial"/>
                <a:ea typeface="Arial"/>
                <a:cs typeface="Arial"/>
              </a:defRPr>
            </a:defPPr>
            <a:lvl1pPr algn="l">
              <a:defRPr sz="1425" b="0">
                <a:solidFill>
                  <a:srgbClr val="315F4C"/>
                </a:solidFill>
                <a:latin typeface="Arial"/>
                <a:ea typeface="Arial"/>
                <a:cs typeface="Arial"/>
              </a:defRPr>
            </a:lvl1pPr>
            <a:lvl2pPr algn="l">
              <a:defRPr sz="1425" b="0">
                <a:solidFill>
                  <a:srgbClr val="315F4C"/>
                </a:solidFill>
                <a:latin typeface="Arial"/>
                <a:ea typeface="Arial"/>
                <a:cs typeface="Arial"/>
              </a:defRPr>
            </a:lvl2pPr>
            <a:lvl3pPr algn="l">
              <a:defRPr sz="1425" b="0">
                <a:solidFill>
                  <a:srgbClr val="315F4C"/>
                </a:solidFill>
                <a:latin typeface="Arial"/>
                <a:ea typeface="Arial"/>
                <a:cs typeface="Arial"/>
              </a:defRPr>
            </a:lvl3pPr>
            <a:lvl4pPr algn="l">
              <a:defRPr sz="1425" b="0">
                <a:solidFill>
                  <a:srgbClr val="315F4C"/>
                </a:solidFill>
                <a:latin typeface="Arial"/>
                <a:ea typeface="Arial"/>
                <a:cs typeface="Arial"/>
              </a:defRPr>
            </a:lvl4pPr>
            <a:lvl5pPr algn="l">
              <a:defRPr sz="1425" b="0">
                <a:solidFill>
                  <a:srgbClr val="315F4C"/>
                </a:solidFill>
                <a:latin typeface="Arial"/>
                <a:ea typeface="Arial"/>
                <a:cs typeface="Arial"/>
              </a:defRPr>
            </a:lvl5pPr>
            <a:lvl6pPr algn="l">
              <a:defRPr sz="1425" b="0">
                <a:solidFill>
                  <a:srgbClr val="315F4C"/>
                </a:solidFill>
                <a:latin typeface="Arial"/>
                <a:ea typeface="Arial"/>
                <a:cs typeface="Arial"/>
              </a:defRPr>
            </a:lvl6pPr>
            <a:lvl7pPr algn="l">
              <a:defRPr sz="1425" b="0">
                <a:solidFill>
                  <a:srgbClr val="315F4C"/>
                </a:solidFill>
                <a:latin typeface="Arial"/>
                <a:ea typeface="Arial"/>
                <a:cs typeface="Arial"/>
              </a:defRPr>
            </a:lvl7pPr>
            <a:lvl8pPr algn="l">
              <a:defRPr sz="1425" b="0">
                <a:solidFill>
                  <a:srgbClr val="315F4C"/>
                </a:solidFill>
                <a:latin typeface="Arial"/>
                <a:ea typeface="Arial"/>
                <a:cs typeface="Arial"/>
              </a:defRPr>
            </a:lvl8pPr>
            <a:lvl9pPr algn="l">
              <a:defRPr sz="1425" b="0">
                <a:solidFill>
                  <a:srgbClr val="315F4C"/>
                </a:solidFill>
                <a:latin typeface="Arial"/>
                <a:ea typeface="Arial"/>
                <a:cs typeface="Arial"/>
              </a:defRPr>
            </a:lvl9pPr>
          </a:lstStyle>
          <a:p xmlns:a="http://schemas.openxmlformats.org/drawingml/2006/main">
            <a:pPr algn="l">
              <a:defRPr sz="1425" b="0">
                <a:solidFill>
                  <a:srgbClr val="315F4C"/>
                </a:solidFill>
                <a:latin typeface="Arial"/>
                <a:ea typeface="Arial"/>
                <a:cs typeface="Arial"/>
              </a:defRPr>
            </a:pPr>
            <a:r>
              <a:rPr sz="1425" b="0">
                <a:solidFill>
                  <a:srgbClr val="315F4C"/>
                </a:solidFill>
                <a:latin typeface="Arial"/>
                <a:ea typeface="Arial"/>
                <a:cs typeface="Arial"/>
              </a:rPr>
              <a:t>Final Project Review</a:t>
            </a:r>
          </a:p>
        </p:txBody>
      </p:sp>
    </p:spTree>
    <p:extLst>
      <p:ext uri="{BB962C8B-B14F-4D97-AF65-F5344CB8AC3E}">
        <p14:creationId xmlns:p14="http://schemas.microsoft.com/office/powerpoint/2010/main" val="519931319"/>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69283C-66B1-48E5-BA96-A77987AED83A}"/>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22AAC215-7E25-4521-966F-79DAE460037C}"/>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Introduction and problem statement</a:t>
            </a:r>
          </a:p>
        </p:txBody>
      </p:sp>
      <p:sp>
        <p:nvSpPr>
          <p:cNvPr id="3" name="">
            <a:extLst xmlns:a="http://schemas.openxmlformats.org/drawingml/2006/main">
              <a:ext uri="{FF2B5EF4-FFF2-40B4-BE49-F238E27FC236}">
                <a16:creationId xmlns:a16="http://schemas.microsoft.com/office/drawing/2014/main" id="{ACF40526-3B8B-4361-9D7B-846380D45CBD}"/>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BF9D866F-6379-4512-A820-98B133EC0AC2}"/>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4394AEC2-EF9C-4940-8D87-A4D1636735E7}"/>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888FB8C8-AAF6-4D90-B188-A0117824F2F4}"/>
              </a:ext>
            </a:extLst>
          </p:cNvPr>
          <p:cNvSpPr>
            <a:spLocks xmlns:a="http://schemas.openxmlformats.org/drawingml/2006/main" noGrp="1"/>
          </p:cNvSpPr>
          <p:nvPr/>
        </p:nvSpPr>
        <p:spPr>
          <a:xfrm xmlns:a="http://schemas.openxmlformats.org/drawingml/2006/main">
            <a:off x="619125" y="15716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Why scheduling matters</a:t>
            </a:r>
          </a:p>
        </p:txBody>
      </p:sp>
      <p:sp>
        <p:nvSpPr>
          <p:cNvPr id="7" name="">
            <a:extLst xmlns:a="http://schemas.openxmlformats.org/drawingml/2006/main">
              <a:ext uri="{FF2B5EF4-FFF2-40B4-BE49-F238E27FC236}">
                <a16:creationId xmlns:a16="http://schemas.microsoft.com/office/drawing/2014/main" id="{5D0CA323-0CA1-4E63-9EC9-BF6723059569}"/>
              </a:ext>
            </a:extLst>
          </p:cNvPr>
          <p:cNvSpPr>
            <a:spLocks xmlns:a="http://schemas.openxmlformats.org/drawingml/2006/main" noGrp="1"/>
          </p:cNvSpPr>
          <p:nvPr/>
        </p:nvSpPr>
        <p:spPr>
          <a:xfrm xmlns:a="http://schemas.openxmlformats.org/drawingml/2006/main">
            <a:off x="619125" y="19526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The CPU scheduler chooses which ready process runs next. This choice changes response time, waiting time and turnaround time.</a:t>
            </a:r>
          </a:p>
        </p:txBody>
      </p:sp>
      <p:sp>
        <p:nvSpPr>
          <p:cNvPr id="8" name="">
            <a:extLst xmlns:a="http://schemas.openxmlformats.org/drawingml/2006/main">
              <a:ext uri="{FF2B5EF4-FFF2-40B4-BE49-F238E27FC236}">
                <a16:creationId xmlns:a16="http://schemas.microsoft.com/office/drawing/2014/main" id="{BC90866A-38B8-4158-9E3E-85742E18C941}"/>
              </a:ext>
            </a:extLst>
          </p:cNvPr>
          <p:cNvSpPr>
            <a:spLocks xmlns:a="http://schemas.openxmlformats.org/drawingml/2006/main" noGrp="1"/>
          </p:cNvSpPr>
          <p:nvPr/>
        </p:nvSpPr>
        <p:spPr>
          <a:xfrm xmlns:a="http://schemas.openxmlformats.org/drawingml/2006/main">
            <a:off x="619125" y="29051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The problem with averages</a:t>
            </a:r>
          </a:p>
        </p:txBody>
      </p:sp>
      <p:sp>
        <p:nvSpPr>
          <p:cNvPr id="9" name="">
            <a:extLst xmlns:a="http://schemas.openxmlformats.org/drawingml/2006/main">
              <a:ext uri="{FF2B5EF4-FFF2-40B4-BE49-F238E27FC236}">
                <a16:creationId xmlns:a16="http://schemas.microsoft.com/office/drawing/2014/main" id="{5E7BBDBE-7BAE-43A4-A0F9-438BD5EF875D}"/>
              </a:ext>
            </a:extLst>
          </p:cNvPr>
          <p:cNvSpPr>
            <a:spLocks xmlns:a="http://schemas.openxmlformats.org/drawingml/2006/main" noGrp="1"/>
          </p:cNvSpPr>
          <p:nvPr/>
        </p:nvSpPr>
        <p:spPr>
          <a:xfrm xmlns:a="http://schemas.openxmlformats.org/drawingml/2006/main">
            <a:off x="619125" y="32861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An average response of 2 units can hide a process that waits 5 units. A per-process requirement may fail even when the average looks acceptable.</a:t>
            </a:r>
          </a:p>
        </p:txBody>
      </p:sp>
      <p:sp>
        <p:nvSpPr>
          <p:cNvPr id="10" name="">
            <a:extLst xmlns:a="http://schemas.openxmlformats.org/drawingml/2006/main">
              <a:ext uri="{FF2B5EF4-FFF2-40B4-BE49-F238E27FC236}">
                <a16:creationId xmlns:a16="http://schemas.microsoft.com/office/drawing/2014/main" id="{5625C993-3556-402C-9E1E-0A6E7F67688D}"/>
              </a:ext>
            </a:extLst>
          </p:cNvPr>
          <p:cNvSpPr>
            <a:spLocks xmlns:a="http://schemas.openxmlformats.org/drawingml/2006/main" noGrp="1"/>
          </p:cNvSpPr>
          <p:nvPr/>
        </p:nvSpPr>
        <p:spPr>
          <a:xfrm xmlns:a="http://schemas.openxmlformats.org/drawingml/2006/main">
            <a:off x="619125" y="43338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What PolicyForge provides</a:t>
            </a:r>
          </a:p>
        </p:txBody>
      </p:sp>
      <p:sp>
        <p:nvSpPr>
          <p:cNvPr id="11" name="">
            <a:extLst xmlns:a="http://schemas.openxmlformats.org/drawingml/2006/main">
              <a:ext uri="{FF2B5EF4-FFF2-40B4-BE49-F238E27FC236}">
                <a16:creationId xmlns:a16="http://schemas.microsoft.com/office/drawing/2014/main" id="{3A94652E-C9F2-4B23-B84E-B8B78667037C}"/>
              </a:ext>
            </a:extLst>
          </p:cNvPr>
          <p:cNvSpPr>
            <a:spLocks xmlns:a="http://schemas.openxmlformats.org/drawingml/2006/main" noGrp="1"/>
          </p:cNvSpPr>
          <p:nvPr/>
        </p:nvSpPr>
        <p:spPr>
          <a:xfrm xmlns:a="http://schemas.openxmlformats.org/drawingml/2006/main">
            <a:off x="619125" y="4714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A local lab that compares policies, explains measured results and searches for failures. The tutor helps users understand the algorithms and calculations.</a:t>
            </a:r>
          </a:p>
        </p:txBody>
      </p:sp>
    </p:spTree>
    <p:extLst>
      <p:ext uri="{BB962C8B-B14F-4D97-AF65-F5344CB8AC3E}">
        <p14:creationId xmlns:p14="http://schemas.microsoft.com/office/powerpoint/2010/main" val="928529205"/>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49F2BF-7354-4F6B-9C51-2A3CB12C3B34}"/>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OBJECTIVES</a:t>
            </a:r>
          </a:p>
        </p:txBody>
      </p:sp>
      <p:sp>
        <p:nvSpPr>
          <p:cNvPr id="2" name="">
            <a:extLst xmlns:a="http://schemas.openxmlformats.org/drawingml/2006/main">
              <a:ext uri="{FF2B5EF4-FFF2-40B4-BE49-F238E27FC236}">
                <a16:creationId xmlns:a16="http://schemas.microsoft.com/office/drawing/2014/main" id="{16974D2C-F296-48E4-8B1A-D6A31916DB7B}"/>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Project objectives</a:t>
            </a:r>
          </a:p>
        </p:txBody>
      </p:sp>
      <p:sp>
        <p:nvSpPr>
          <p:cNvPr id="3" name="">
            <a:extLst xmlns:a="http://schemas.openxmlformats.org/drawingml/2006/main">
              <a:ext uri="{FF2B5EF4-FFF2-40B4-BE49-F238E27FC236}">
                <a16:creationId xmlns:a16="http://schemas.microsoft.com/office/drawing/2014/main" id="{1AD47DB3-EF34-4F91-A9D3-1452E9F72C91}"/>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4CD9CF68-4933-4651-A0C7-BEACA99B4B69}"/>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A662D0A8-9FCA-495E-A153-BD72D5C606A1}"/>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19179202-E825-499C-93E0-46F8B6D32ACA}"/>
              </a:ext>
            </a:extLst>
          </p:cNvPr>
          <p:cNvSpPr>
            <a:spLocks xmlns:a="http://schemas.openxmlformats.org/drawingml/2006/main" noGrp="1"/>
          </p:cNvSpPr>
          <p:nvPr/>
        </p:nvSpPr>
        <p:spPr>
          <a:xfrm xmlns:a="http://schemas.openxmlformats.org/drawingml/2006/main">
            <a:off x="619125" y="15811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Compare scheduling policies</a:t>
            </a:r>
          </a:p>
        </p:txBody>
      </p:sp>
      <p:sp>
        <p:nvSpPr>
          <p:cNvPr id="7" name="">
            <a:extLst xmlns:a="http://schemas.openxmlformats.org/drawingml/2006/main">
              <a:ext uri="{FF2B5EF4-FFF2-40B4-BE49-F238E27FC236}">
                <a16:creationId xmlns:a16="http://schemas.microsoft.com/office/drawing/2014/main" id="{142C6E0F-AFBA-41E8-A922-D89C58E22F37}"/>
              </a:ext>
            </a:extLst>
          </p:cNvPr>
          <p:cNvSpPr>
            <a:spLocks xmlns:a="http://schemas.openxmlformats.org/drawingml/2006/main" noGrp="1"/>
          </p:cNvSpPr>
          <p:nvPr/>
        </p:nvSpPr>
        <p:spPr>
          <a:xfrm xmlns:a="http://schemas.openxmlformats.org/drawingml/2006/main">
            <a:off x="619125" y="19621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Evaluate FCFS, SJF, non-preemptive Priority and Round Robin on identical workloads.</a:t>
            </a:r>
          </a:p>
        </p:txBody>
      </p:sp>
      <p:sp>
        <p:nvSpPr>
          <p:cNvPr id="8" name="">
            <a:extLst xmlns:a="http://schemas.openxmlformats.org/drawingml/2006/main">
              <a:ext uri="{FF2B5EF4-FFF2-40B4-BE49-F238E27FC236}">
                <a16:creationId xmlns:a16="http://schemas.microsoft.com/office/drawing/2014/main" id="{8862BD8F-8E64-41EA-8139-4AD4D3143A8B}"/>
              </a:ext>
            </a:extLst>
          </p:cNvPr>
          <p:cNvSpPr>
            <a:spLocks xmlns:a="http://schemas.openxmlformats.org/drawingml/2006/main" noGrp="1"/>
          </p:cNvSpPr>
          <p:nvPr/>
        </p:nvSpPr>
        <p:spPr>
          <a:xfrm xmlns:a="http://schemas.openxmlformats.org/drawingml/2006/main">
            <a:off x="619125" y="26860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Check explicit requirements</a:t>
            </a:r>
          </a:p>
        </p:txBody>
      </p:sp>
      <p:sp>
        <p:nvSpPr>
          <p:cNvPr id="9" name="">
            <a:extLst xmlns:a="http://schemas.openxmlformats.org/drawingml/2006/main">
              <a:ext uri="{FF2B5EF4-FFF2-40B4-BE49-F238E27FC236}">
                <a16:creationId xmlns:a16="http://schemas.microsoft.com/office/drawing/2014/main" id="{31D51CE4-7E87-432A-AC27-F8804313A850}"/>
              </a:ext>
            </a:extLst>
          </p:cNvPr>
          <p:cNvSpPr>
            <a:spLocks xmlns:a="http://schemas.openxmlformats.org/drawingml/2006/main" noGrp="1"/>
          </p:cNvSpPr>
          <p:nvPr/>
        </p:nvSpPr>
        <p:spPr>
          <a:xfrm xmlns:a="http://schemas.openxmlformats.org/drawingml/2006/main">
            <a:off x="619125"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Verify response, waiting, turnaround and continuous ready-wait limits for the appropriate jobs.</a:t>
            </a:r>
          </a:p>
        </p:txBody>
      </p:sp>
      <p:sp>
        <p:nvSpPr>
          <p:cNvPr id="10" name="">
            <a:extLst xmlns:a="http://schemas.openxmlformats.org/drawingml/2006/main">
              <a:ext uri="{FF2B5EF4-FFF2-40B4-BE49-F238E27FC236}">
                <a16:creationId xmlns:a16="http://schemas.microsoft.com/office/drawing/2014/main" id="{2ADCACED-0684-4137-9657-5ECD5C1DE6C1}"/>
              </a:ext>
            </a:extLst>
          </p:cNvPr>
          <p:cNvSpPr>
            <a:spLocks xmlns:a="http://schemas.openxmlformats.org/drawingml/2006/main" noGrp="1"/>
          </p:cNvSpPr>
          <p:nvPr/>
        </p:nvSpPr>
        <p:spPr>
          <a:xfrm xmlns:a="http://schemas.openxmlformats.org/drawingml/2006/main">
            <a:off x="619125" y="37909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Support learning with AI</a:t>
            </a:r>
          </a:p>
        </p:txBody>
      </p:sp>
      <p:sp>
        <p:nvSpPr>
          <p:cNvPr id="11" name="">
            <a:extLst xmlns:a="http://schemas.openxmlformats.org/drawingml/2006/main">
              <a:ext uri="{FF2B5EF4-FFF2-40B4-BE49-F238E27FC236}">
                <a16:creationId xmlns:a16="http://schemas.microsoft.com/office/drawing/2014/main" id="{F51BE5D3-C893-4806-AED1-0B013986DA13}"/>
              </a:ext>
            </a:extLst>
          </p:cNvPr>
          <p:cNvSpPr>
            <a:spLocks xmlns:a="http://schemas.openxmlformats.org/drawingml/2006/main" noGrp="1"/>
          </p:cNvSpPr>
          <p:nvPr/>
        </p:nvSpPr>
        <p:spPr>
          <a:xfrm xmlns:a="http://schemas.openxmlformats.org/drawingml/2006/main">
            <a:off x="619125" y="41719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Predict a scheduler using a trained tree and answer study questions with retrieved lessons and worked evidence.</a:t>
            </a:r>
          </a:p>
        </p:txBody>
      </p:sp>
      <p:sp>
        <p:nvSpPr>
          <p:cNvPr id="12" name="">
            <a:extLst xmlns:a="http://schemas.openxmlformats.org/drawingml/2006/main">
              <a:ext uri="{FF2B5EF4-FFF2-40B4-BE49-F238E27FC236}">
                <a16:creationId xmlns:a16="http://schemas.microsoft.com/office/drawing/2014/main" id="{3B0B1CEC-6A3C-4785-8E1D-6EC113C12E94}"/>
              </a:ext>
            </a:extLst>
          </p:cNvPr>
          <p:cNvSpPr>
            <a:spLocks xmlns:a="http://schemas.openxmlformats.org/drawingml/2006/main" noGrp="1"/>
          </p:cNvSpPr>
          <p:nvPr/>
        </p:nvSpPr>
        <p:spPr>
          <a:xfrm xmlns:a="http://schemas.openxmlformats.org/drawingml/2006/main">
            <a:off x="619125" y="48958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Expose scheduler weaknesses</a:t>
            </a:r>
          </a:p>
        </p:txBody>
      </p:sp>
      <p:sp>
        <p:nvSpPr>
          <p:cNvPr id="13" name="">
            <a:extLst xmlns:a="http://schemas.openxmlformats.org/drawingml/2006/main">
              <a:ext uri="{FF2B5EF4-FFF2-40B4-BE49-F238E27FC236}">
                <a16:creationId xmlns:a16="http://schemas.microsoft.com/office/drawing/2014/main" id="{7A1F336D-3285-4B5F-B2BA-5F20F5EDE18B}"/>
              </a:ext>
            </a:extLst>
          </p:cNvPr>
          <p:cNvSpPr>
            <a:spLocks xmlns:a="http://schemas.openxmlformats.org/drawingml/2006/main" noGrp="1"/>
          </p:cNvSpPr>
          <p:nvPr/>
        </p:nvSpPr>
        <p:spPr>
          <a:xfrm xmlns:a="http://schemas.openxmlformats.org/drawingml/2006/main">
            <a:off x="619125" y="5276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Find, reduce, replay and export workloads that violate a selected requirement.</a:t>
            </a:r>
          </a:p>
        </p:txBody>
      </p:sp>
    </p:spTree>
    <p:extLst>
      <p:ext uri="{BB962C8B-B14F-4D97-AF65-F5344CB8AC3E}">
        <p14:creationId xmlns:p14="http://schemas.microsoft.com/office/powerpoint/2010/main" val="1276702154"/>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F85D3964-B0A3-4664-96EB-82AB3FE3A806}"/>
              </a:ext>
            </a:extLst>
          </p:cNvPr>
          <p:cNvCxnSpPr>
            <a:stCxn xmlns:a="http://schemas.openxmlformats.org/drawingml/2006/main" id="8" idx="3"/>
            <a:endCxn xmlns:a="http://schemas.openxmlformats.org/drawingml/2006/main" id="9" idx="1"/>
          </p:cNvCxnSpPr>
          <p:nvPr/>
        </p:nvCxnSpPr>
        <p:spPr>
          <a:xfrm xmlns:a="http://schemas.openxmlformats.org/drawingml/2006/main">
            <a:off x="8715375" y="2057400"/>
            <a:ext cx="476250" cy="0"/>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8E082915-DFFE-4134-A5C2-DEB9A37C7611}"/>
              </a:ext>
            </a:extLst>
          </p:cNvPr>
          <p:cNvCxnSpPr>
            <a:stCxn xmlns:a="http://schemas.openxmlformats.org/drawingml/2006/main" id="7" idx="3"/>
            <a:endCxn xmlns:a="http://schemas.openxmlformats.org/drawingml/2006/main" id="8" idx="1"/>
          </p:cNvCxnSpPr>
          <p:nvPr/>
        </p:nvCxnSpPr>
        <p:spPr>
          <a:xfrm xmlns:a="http://schemas.openxmlformats.org/drawingml/2006/main">
            <a:off x="5857875" y="2057400"/>
            <a:ext cx="476250" cy="0"/>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CFBE28FB-92A9-45C3-A6F4-B8D7843969C3}"/>
              </a:ext>
            </a:extLst>
          </p:cNvPr>
          <p:cNvCxnSpPr>
            <a:stCxn xmlns:a="http://schemas.openxmlformats.org/drawingml/2006/main" id="6" idx="3"/>
            <a:endCxn xmlns:a="http://schemas.openxmlformats.org/drawingml/2006/main" id="7" idx="1"/>
          </p:cNvCxnSpPr>
          <p:nvPr/>
        </p:nvCxnSpPr>
        <p:spPr>
          <a:xfrm xmlns:a="http://schemas.openxmlformats.org/drawingml/2006/main">
            <a:off x="3000375" y="2057400"/>
            <a:ext cx="476250" cy="0"/>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sp>
        <p:nvSpPr>
          <p:cNvPr id="15" name="">
            <a:extLst xmlns:a="http://schemas.openxmlformats.org/drawingml/2006/main">
              <a:ext uri="{FF2B5EF4-FFF2-40B4-BE49-F238E27FC236}">
                <a16:creationId xmlns:a16="http://schemas.microsoft.com/office/drawing/2014/main" id="{1A597DBF-C680-499C-86B1-73A42F72147C}"/>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METHODOLOGY</a:t>
            </a:r>
          </a:p>
        </p:txBody>
      </p:sp>
      <p:sp>
        <p:nvSpPr>
          <p:cNvPr id="2" name="">
            <a:extLst xmlns:a="http://schemas.openxmlformats.org/drawingml/2006/main">
              <a:ext uri="{FF2B5EF4-FFF2-40B4-BE49-F238E27FC236}">
                <a16:creationId xmlns:a16="http://schemas.microsoft.com/office/drawing/2014/main" id="{807DACE5-3C3E-4403-88B9-B6FCD8DADFE7}"/>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Methodology and experiment workflow</a:t>
            </a:r>
          </a:p>
        </p:txBody>
      </p:sp>
      <p:sp>
        <p:nvSpPr>
          <p:cNvPr id="3" name="">
            <a:extLst xmlns:a="http://schemas.openxmlformats.org/drawingml/2006/main">
              <a:ext uri="{FF2B5EF4-FFF2-40B4-BE49-F238E27FC236}">
                <a16:creationId xmlns:a16="http://schemas.microsoft.com/office/drawing/2014/main" id="{4574468E-230B-4884-9337-B04DD4FE891B}"/>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FC1E2802-04D8-4E02-BBB9-EF10729F3BAC}"/>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DB39DCB5-2C37-4EF9-92B7-371B0F18BB58}"/>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E6015C12-9FF2-4FD3-A11D-CBED362E424A}"/>
              </a:ext>
            </a:extLst>
          </p:cNvPr>
          <p:cNvSpPr>
            <a:spLocks xmlns:a="http://schemas.openxmlformats.org/drawingml/2006/main" noGrp="1"/>
          </p:cNvSpPr>
          <p:nvPr/>
        </p:nvSpPr>
        <p:spPr>
          <a:xfrm xmlns:a="http://schemas.openxmlformats.org/drawingml/2006/main">
            <a:off x="619125" y="1619250"/>
            <a:ext cx="2381250" cy="8763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800">
                <a:solidFill>
                  <a:srgbClr val="263B34"/>
                </a:solidFill>
                <a:latin typeface="Arial"/>
                <a:ea typeface="Arial"/>
                <a:cs typeface="Arial"/>
              </a:defRPr>
            </a:defPPr>
            <a:lvl1pPr algn="ctr">
              <a:defRPr sz="1800">
                <a:solidFill>
                  <a:srgbClr val="263B34"/>
                </a:solidFill>
                <a:latin typeface="Arial"/>
                <a:ea typeface="Arial"/>
                <a:cs typeface="Arial"/>
              </a:defRPr>
            </a:lvl1pPr>
            <a:lvl2pPr algn="ctr">
              <a:defRPr sz="1800">
                <a:solidFill>
                  <a:srgbClr val="263B34"/>
                </a:solidFill>
                <a:latin typeface="Arial"/>
                <a:ea typeface="Arial"/>
                <a:cs typeface="Arial"/>
              </a:defRPr>
            </a:lvl2pPr>
            <a:lvl3pPr algn="ctr">
              <a:defRPr sz="1800">
                <a:solidFill>
                  <a:srgbClr val="263B34"/>
                </a:solidFill>
                <a:latin typeface="Arial"/>
                <a:ea typeface="Arial"/>
                <a:cs typeface="Arial"/>
              </a:defRPr>
            </a:lvl3pPr>
            <a:lvl4pPr algn="ctr">
              <a:defRPr sz="1800">
                <a:solidFill>
                  <a:srgbClr val="263B34"/>
                </a:solidFill>
                <a:latin typeface="Arial"/>
                <a:ea typeface="Arial"/>
                <a:cs typeface="Arial"/>
              </a:defRPr>
            </a:lvl4pPr>
            <a:lvl5pPr algn="ctr">
              <a:defRPr sz="1800">
                <a:solidFill>
                  <a:srgbClr val="263B34"/>
                </a:solidFill>
                <a:latin typeface="Arial"/>
                <a:ea typeface="Arial"/>
                <a:cs typeface="Arial"/>
              </a:defRPr>
            </a:lvl5pPr>
            <a:lvl6pPr algn="ctr">
              <a:defRPr sz="1800">
                <a:solidFill>
                  <a:srgbClr val="263B34"/>
                </a:solidFill>
                <a:latin typeface="Arial"/>
                <a:ea typeface="Arial"/>
                <a:cs typeface="Arial"/>
              </a:defRPr>
            </a:lvl6pPr>
            <a:lvl7pPr algn="ctr">
              <a:defRPr sz="1800">
                <a:solidFill>
                  <a:srgbClr val="263B34"/>
                </a:solidFill>
                <a:latin typeface="Arial"/>
                <a:ea typeface="Arial"/>
                <a:cs typeface="Arial"/>
              </a:defRPr>
            </a:lvl7pPr>
            <a:lvl8pPr algn="ctr">
              <a:defRPr sz="1800">
                <a:solidFill>
                  <a:srgbClr val="263B34"/>
                </a:solidFill>
                <a:latin typeface="Arial"/>
                <a:ea typeface="Arial"/>
                <a:cs typeface="Arial"/>
              </a:defRPr>
            </a:lvl8pPr>
            <a:lvl9pPr algn="ctr">
              <a:defRPr sz="1800">
                <a:solidFill>
                  <a:srgbClr val="263B34"/>
                </a:solidFill>
                <a:latin typeface="Arial"/>
                <a:ea typeface="Arial"/>
                <a:cs typeface="Arial"/>
              </a:defRPr>
            </a:lvl9pPr>
          </a:lstStyle>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Define workload</a:t>
            </a:r>
          </a:p>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and requirement</a:t>
            </a:r>
          </a:p>
        </p:txBody>
      </p:sp>
      <p:sp>
        <p:nvSpPr>
          <p:cNvPr id="7" name="">
            <a:extLst xmlns:a="http://schemas.openxmlformats.org/drawingml/2006/main">
              <a:ext uri="{FF2B5EF4-FFF2-40B4-BE49-F238E27FC236}">
                <a16:creationId xmlns:a16="http://schemas.microsoft.com/office/drawing/2014/main" id="{2E1E2E48-EF1D-41FE-A145-95D3BC8D3A4E}"/>
              </a:ext>
            </a:extLst>
          </p:cNvPr>
          <p:cNvSpPr>
            <a:spLocks xmlns:a="http://schemas.openxmlformats.org/drawingml/2006/main" noGrp="1"/>
          </p:cNvSpPr>
          <p:nvPr/>
        </p:nvSpPr>
        <p:spPr>
          <a:xfrm xmlns:a="http://schemas.openxmlformats.org/drawingml/2006/main">
            <a:off x="3476625" y="1619250"/>
            <a:ext cx="2381250" cy="8763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800">
                <a:solidFill>
                  <a:srgbClr val="263B34"/>
                </a:solidFill>
                <a:latin typeface="Arial"/>
                <a:ea typeface="Arial"/>
                <a:cs typeface="Arial"/>
              </a:defRPr>
            </a:defPPr>
            <a:lvl1pPr algn="ctr">
              <a:defRPr sz="1800">
                <a:solidFill>
                  <a:srgbClr val="263B34"/>
                </a:solidFill>
                <a:latin typeface="Arial"/>
                <a:ea typeface="Arial"/>
                <a:cs typeface="Arial"/>
              </a:defRPr>
            </a:lvl1pPr>
            <a:lvl2pPr algn="ctr">
              <a:defRPr sz="1800">
                <a:solidFill>
                  <a:srgbClr val="263B34"/>
                </a:solidFill>
                <a:latin typeface="Arial"/>
                <a:ea typeface="Arial"/>
                <a:cs typeface="Arial"/>
              </a:defRPr>
            </a:lvl2pPr>
            <a:lvl3pPr algn="ctr">
              <a:defRPr sz="1800">
                <a:solidFill>
                  <a:srgbClr val="263B34"/>
                </a:solidFill>
                <a:latin typeface="Arial"/>
                <a:ea typeface="Arial"/>
                <a:cs typeface="Arial"/>
              </a:defRPr>
            </a:lvl3pPr>
            <a:lvl4pPr algn="ctr">
              <a:defRPr sz="1800">
                <a:solidFill>
                  <a:srgbClr val="263B34"/>
                </a:solidFill>
                <a:latin typeface="Arial"/>
                <a:ea typeface="Arial"/>
                <a:cs typeface="Arial"/>
              </a:defRPr>
            </a:lvl4pPr>
            <a:lvl5pPr algn="ctr">
              <a:defRPr sz="1800">
                <a:solidFill>
                  <a:srgbClr val="263B34"/>
                </a:solidFill>
                <a:latin typeface="Arial"/>
                <a:ea typeface="Arial"/>
                <a:cs typeface="Arial"/>
              </a:defRPr>
            </a:lvl5pPr>
            <a:lvl6pPr algn="ctr">
              <a:defRPr sz="1800">
                <a:solidFill>
                  <a:srgbClr val="263B34"/>
                </a:solidFill>
                <a:latin typeface="Arial"/>
                <a:ea typeface="Arial"/>
                <a:cs typeface="Arial"/>
              </a:defRPr>
            </a:lvl6pPr>
            <a:lvl7pPr algn="ctr">
              <a:defRPr sz="1800">
                <a:solidFill>
                  <a:srgbClr val="263B34"/>
                </a:solidFill>
                <a:latin typeface="Arial"/>
                <a:ea typeface="Arial"/>
                <a:cs typeface="Arial"/>
              </a:defRPr>
            </a:lvl7pPr>
            <a:lvl8pPr algn="ctr">
              <a:defRPr sz="1800">
                <a:solidFill>
                  <a:srgbClr val="263B34"/>
                </a:solidFill>
                <a:latin typeface="Arial"/>
                <a:ea typeface="Arial"/>
                <a:cs typeface="Arial"/>
              </a:defRPr>
            </a:lvl8pPr>
            <a:lvl9pPr algn="ctr">
              <a:defRPr sz="1800">
                <a:solidFill>
                  <a:srgbClr val="263B34"/>
                </a:solidFill>
                <a:latin typeface="Arial"/>
                <a:ea typeface="Arial"/>
                <a:cs typeface="Arial"/>
              </a:defRPr>
            </a:lvl9pPr>
          </a:lstStyle>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Run four</a:t>
            </a:r>
          </a:p>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scheduling policies</a:t>
            </a:r>
          </a:p>
        </p:txBody>
      </p:sp>
      <p:sp>
        <p:nvSpPr>
          <p:cNvPr id="8" name="">
            <a:extLst xmlns:a="http://schemas.openxmlformats.org/drawingml/2006/main">
              <a:ext uri="{FF2B5EF4-FFF2-40B4-BE49-F238E27FC236}">
                <a16:creationId xmlns:a16="http://schemas.microsoft.com/office/drawing/2014/main" id="{6B24FB97-7F57-48AA-BC6E-21CBC47A8AD1}"/>
              </a:ext>
            </a:extLst>
          </p:cNvPr>
          <p:cNvSpPr>
            <a:spLocks xmlns:a="http://schemas.openxmlformats.org/drawingml/2006/main" noGrp="1"/>
          </p:cNvSpPr>
          <p:nvPr/>
        </p:nvSpPr>
        <p:spPr>
          <a:xfrm xmlns:a="http://schemas.openxmlformats.org/drawingml/2006/main">
            <a:off x="6334125" y="1619250"/>
            <a:ext cx="2381250" cy="8763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800">
                <a:solidFill>
                  <a:srgbClr val="263B34"/>
                </a:solidFill>
                <a:latin typeface="Arial"/>
                <a:ea typeface="Arial"/>
                <a:cs typeface="Arial"/>
              </a:defRPr>
            </a:defPPr>
            <a:lvl1pPr algn="ctr">
              <a:defRPr sz="1800">
                <a:solidFill>
                  <a:srgbClr val="263B34"/>
                </a:solidFill>
                <a:latin typeface="Arial"/>
                <a:ea typeface="Arial"/>
                <a:cs typeface="Arial"/>
              </a:defRPr>
            </a:lvl1pPr>
            <a:lvl2pPr algn="ctr">
              <a:defRPr sz="1800">
                <a:solidFill>
                  <a:srgbClr val="263B34"/>
                </a:solidFill>
                <a:latin typeface="Arial"/>
                <a:ea typeface="Arial"/>
                <a:cs typeface="Arial"/>
              </a:defRPr>
            </a:lvl2pPr>
            <a:lvl3pPr algn="ctr">
              <a:defRPr sz="1800">
                <a:solidFill>
                  <a:srgbClr val="263B34"/>
                </a:solidFill>
                <a:latin typeface="Arial"/>
                <a:ea typeface="Arial"/>
                <a:cs typeface="Arial"/>
              </a:defRPr>
            </a:lvl3pPr>
            <a:lvl4pPr algn="ctr">
              <a:defRPr sz="1800">
                <a:solidFill>
                  <a:srgbClr val="263B34"/>
                </a:solidFill>
                <a:latin typeface="Arial"/>
                <a:ea typeface="Arial"/>
                <a:cs typeface="Arial"/>
              </a:defRPr>
            </a:lvl4pPr>
            <a:lvl5pPr algn="ctr">
              <a:defRPr sz="1800">
                <a:solidFill>
                  <a:srgbClr val="263B34"/>
                </a:solidFill>
                <a:latin typeface="Arial"/>
                <a:ea typeface="Arial"/>
                <a:cs typeface="Arial"/>
              </a:defRPr>
            </a:lvl5pPr>
            <a:lvl6pPr algn="ctr">
              <a:defRPr sz="1800">
                <a:solidFill>
                  <a:srgbClr val="263B34"/>
                </a:solidFill>
                <a:latin typeface="Arial"/>
                <a:ea typeface="Arial"/>
                <a:cs typeface="Arial"/>
              </a:defRPr>
            </a:lvl6pPr>
            <a:lvl7pPr algn="ctr">
              <a:defRPr sz="1800">
                <a:solidFill>
                  <a:srgbClr val="263B34"/>
                </a:solidFill>
                <a:latin typeface="Arial"/>
                <a:ea typeface="Arial"/>
                <a:cs typeface="Arial"/>
              </a:defRPr>
            </a:lvl7pPr>
            <a:lvl8pPr algn="ctr">
              <a:defRPr sz="1800">
                <a:solidFill>
                  <a:srgbClr val="263B34"/>
                </a:solidFill>
                <a:latin typeface="Arial"/>
                <a:ea typeface="Arial"/>
                <a:cs typeface="Arial"/>
              </a:defRPr>
            </a:lvl8pPr>
            <a:lvl9pPr algn="ctr">
              <a:defRPr sz="1800">
                <a:solidFill>
                  <a:srgbClr val="263B34"/>
                </a:solidFill>
                <a:latin typeface="Arial"/>
                <a:ea typeface="Arial"/>
                <a:cs typeface="Arial"/>
              </a:defRPr>
            </a:lvl9pPr>
          </a:lstStyle>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Verify the goal</a:t>
            </a:r>
          </a:p>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and compare results</a:t>
            </a:r>
          </a:p>
        </p:txBody>
      </p:sp>
      <p:sp>
        <p:nvSpPr>
          <p:cNvPr id="9" name="">
            <a:extLst xmlns:a="http://schemas.openxmlformats.org/drawingml/2006/main">
              <a:ext uri="{FF2B5EF4-FFF2-40B4-BE49-F238E27FC236}">
                <a16:creationId xmlns:a16="http://schemas.microsoft.com/office/drawing/2014/main" id="{969D1D55-AE64-47B1-93F3-6E08702CFA92}"/>
              </a:ext>
            </a:extLst>
          </p:cNvPr>
          <p:cNvSpPr>
            <a:spLocks xmlns:a="http://schemas.openxmlformats.org/drawingml/2006/main" noGrp="1"/>
          </p:cNvSpPr>
          <p:nvPr/>
        </p:nvSpPr>
        <p:spPr>
          <a:xfrm xmlns:a="http://schemas.openxmlformats.org/drawingml/2006/main">
            <a:off x="9191625" y="1619250"/>
            <a:ext cx="2381250" cy="8763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800">
                <a:solidFill>
                  <a:srgbClr val="263B34"/>
                </a:solidFill>
                <a:latin typeface="Arial"/>
                <a:ea typeface="Arial"/>
                <a:cs typeface="Arial"/>
              </a:defRPr>
            </a:defPPr>
            <a:lvl1pPr algn="ctr">
              <a:defRPr sz="1800">
                <a:solidFill>
                  <a:srgbClr val="263B34"/>
                </a:solidFill>
                <a:latin typeface="Arial"/>
                <a:ea typeface="Arial"/>
                <a:cs typeface="Arial"/>
              </a:defRPr>
            </a:lvl1pPr>
            <a:lvl2pPr algn="ctr">
              <a:defRPr sz="1800">
                <a:solidFill>
                  <a:srgbClr val="263B34"/>
                </a:solidFill>
                <a:latin typeface="Arial"/>
                <a:ea typeface="Arial"/>
                <a:cs typeface="Arial"/>
              </a:defRPr>
            </a:lvl2pPr>
            <a:lvl3pPr algn="ctr">
              <a:defRPr sz="1800">
                <a:solidFill>
                  <a:srgbClr val="263B34"/>
                </a:solidFill>
                <a:latin typeface="Arial"/>
                <a:ea typeface="Arial"/>
                <a:cs typeface="Arial"/>
              </a:defRPr>
            </a:lvl3pPr>
            <a:lvl4pPr algn="ctr">
              <a:defRPr sz="1800">
                <a:solidFill>
                  <a:srgbClr val="263B34"/>
                </a:solidFill>
                <a:latin typeface="Arial"/>
                <a:ea typeface="Arial"/>
                <a:cs typeface="Arial"/>
              </a:defRPr>
            </a:lvl4pPr>
            <a:lvl5pPr algn="ctr">
              <a:defRPr sz="1800">
                <a:solidFill>
                  <a:srgbClr val="263B34"/>
                </a:solidFill>
                <a:latin typeface="Arial"/>
                <a:ea typeface="Arial"/>
                <a:cs typeface="Arial"/>
              </a:defRPr>
            </a:lvl5pPr>
            <a:lvl6pPr algn="ctr">
              <a:defRPr sz="1800">
                <a:solidFill>
                  <a:srgbClr val="263B34"/>
                </a:solidFill>
                <a:latin typeface="Arial"/>
                <a:ea typeface="Arial"/>
                <a:cs typeface="Arial"/>
              </a:defRPr>
            </a:lvl6pPr>
            <a:lvl7pPr algn="ctr">
              <a:defRPr sz="1800">
                <a:solidFill>
                  <a:srgbClr val="263B34"/>
                </a:solidFill>
                <a:latin typeface="Arial"/>
                <a:ea typeface="Arial"/>
                <a:cs typeface="Arial"/>
              </a:defRPr>
            </a:lvl7pPr>
            <a:lvl8pPr algn="ctr">
              <a:defRPr sz="1800">
                <a:solidFill>
                  <a:srgbClr val="263B34"/>
                </a:solidFill>
                <a:latin typeface="Arial"/>
                <a:ea typeface="Arial"/>
                <a:cs typeface="Arial"/>
              </a:defRPr>
            </a:lvl8pPr>
            <a:lvl9pPr algn="ctr">
              <a:defRPr sz="1800">
                <a:solidFill>
                  <a:srgbClr val="263B34"/>
                </a:solidFill>
                <a:latin typeface="Arial"/>
                <a:ea typeface="Arial"/>
                <a:cs typeface="Arial"/>
              </a:defRPr>
            </a:lvl9pPr>
          </a:lstStyle>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Explain results</a:t>
            </a:r>
          </a:p>
          <a:p xmlns:a="http://schemas.openxmlformats.org/drawingml/2006/main">
            <a:pPr algn="ctr">
              <a:defRPr sz="1800">
                <a:solidFill>
                  <a:srgbClr val="263B34"/>
                </a:solidFill>
                <a:latin typeface="Arial"/>
                <a:ea typeface="Arial"/>
                <a:cs typeface="Arial"/>
              </a:defRPr>
            </a:pPr>
            <a:r>
              <a:rPr sz="1800">
                <a:solidFill>
                  <a:srgbClr val="263B34"/>
                </a:solidFill>
                <a:latin typeface="Arial"/>
                <a:ea typeface="Arial"/>
                <a:cs typeface="Arial"/>
              </a:rPr>
              <a:t>and test new jobs</a:t>
            </a:r>
          </a:p>
        </p:txBody>
      </p:sp>
      <p:graphicFrame>
        <p:nvGraphicFramePr>
          <p:cNvPr id="13" name="">
            <a:extLst xmlns:a="http://schemas.openxmlformats.org/drawingml/2006/main">
              <a:ext uri="{FF2B5EF4-FFF2-40B4-BE49-F238E27FC236}">
                <a16:creationId xmlns:a16="http://schemas.microsoft.com/office/drawing/2014/main" id="{8A85AA6B-82C0-4285-A558-B2200DF7D9FE}"/>
              </a:ext>
            </a:extLst>
          </p:cNvPr>
          <p:cNvGraphicFramePr/>
          <p:nvPr/>
        </p:nvGraphicFramePr>
        <p:xfrm>
          <a:off xmlns:a="http://schemas.openxmlformats.org/drawingml/2006/main" x="619125" y="3000375"/>
          <a:ext xmlns:a="http://schemas.openxmlformats.org/drawingml/2006/main" cx="10953750" cy="2762250"/>
        </p:xfrm>
        <a:graphic xmlns:a="http://schemas.openxmlformats.org/drawingml/2006/main">
          <a:graphicData uri="http://schemas.openxmlformats.org/drawingml/2006/table">
            <a:tbl>
              <a:tblPr/>
              <a:tblGrid>
                <a:gridCol w="2476500"/>
                <a:gridCol w="8477250"/>
              </a:tblGrid>
              <a:tr h="552450">
                <a:tc>
                  <a:txBody>
                    <a:bodyPr lIns="114300" tIns="85725" rIns="95250" bIns="76200"/>
                    <a:lstStyle/>
                    <a:p>
                      <a:r>
                        <a:rPr sz="1650" b="1">
                          <a:solidFill>
                            <a:srgbClr val="FFFFFF"/>
                          </a:solidFill>
                          <a:latin typeface="Arial"/>
                          <a:ea typeface="Arial"/>
                          <a:cs typeface="Arial"/>
                        </a:rPr>
                        <a:t>Stage</a:t>
                      </a:r>
                    </a:p>
                  </a:txBody>
                  <a:tcPr marL="91440" marR="91440" marT="45720" marB="45720" anchor="ctr">
                    <a:lnL w="9525">
                      <a:solidFill>
                        <a:srgbClr val="D8DED5"/>
                      </a:solidFill>
                      <a:prstDash val="solid"/>
                    </a:lnL>
                    <a:lnR w="9525">
                      <a:solidFill>
                        <a:srgbClr val="D8DED5"/>
                      </a:solidFill>
                      <a:prstDash val="solid"/>
                    </a:lnR>
                    <a:lnT w="9525">
                      <a:solidFill>
                        <a:srgbClr val="D8DED5"/>
                      </a:solidFill>
                      <a:prstDash val="solid"/>
                    </a:lnT>
                    <a:lnB w="9525">
                      <a:solidFill>
                        <a:srgbClr val="D8DED5"/>
                      </a:solidFill>
                      <a:prstDash val="solid"/>
                    </a:lnB>
                    <a:solidFill>
                      <a:srgbClr val="315F4C"/>
                    </a:solidFill>
                  </a:tcPr>
                </a:tc>
                <a:tc>
                  <a:txBody>
                    <a:bodyPr lIns="114300" tIns="85725" rIns="95250" bIns="76200"/>
                    <a:lstStyle/>
                    <a:p>
                      <a:r>
                        <a:rPr sz="1650" b="1">
                          <a:solidFill>
                            <a:srgbClr val="FFFFFF"/>
                          </a:solidFill>
                          <a:latin typeface="Arial"/>
                          <a:ea typeface="Arial"/>
                          <a:cs typeface="Arial"/>
                        </a:rPr>
                        <a:t>Implementation</a:t>
                      </a:r>
                    </a:p>
                  </a:txBody>
                  <a:tcPr marL="91440" marR="91440" marT="45720" marB="45720" anchor="ctr">
                    <a:lnR w="9525">
                      <a:solidFill>
                        <a:srgbClr val="D8DED5"/>
                      </a:solidFill>
                      <a:prstDash val="solid"/>
                    </a:lnR>
                    <a:lnT w="9525">
                      <a:solidFill>
                        <a:srgbClr val="D8DED5"/>
                      </a:solidFill>
                      <a:prstDash val="solid"/>
                    </a:lnT>
                    <a:lnB w="9525">
                      <a:solidFill>
                        <a:srgbClr val="D8DED5"/>
                      </a:solidFill>
                      <a:prstDash val="solid"/>
                    </a:lnB>
                    <a:solidFill>
                      <a:srgbClr val="315F4C"/>
                    </a:solidFill>
                  </a:tcPr>
                </a:tc>
              </a:tr>
              <a:tr h="552450">
                <a:tc>
                  <a:txBody>
                    <a:bodyPr lIns="114300" tIns="85725" rIns="95250" bIns="76200"/>
                    <a:lstStyle/>
                    <a:p>
                      <a:r>
                        <a:rPr sz="1725" b="0">
                          <a:solidFill>
                            <a:srgbClr val="263B34"/>
                          </a:solidFill>
                          <a:latin typeface="Arial"/>
                          <a:ea typeface="Arial"/>
                          <a:cs typeface="Arial"/>
                        </a:rPr>
                        <a:t>Input and goal</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FFFFF"/>
                    </a:solidFill>
                  </a:tcPr>
                </a:tc>
                <a:tc>
                  <a:txBody>
                    <a:bodyPr lIns="114300" tIns="85725" rIns="95250" bIns="76200"/>
                    <a:lstStyle/>
                    <a:p>
                      <a:r>
                        <a:rPr sz="1725" b="0">
                          <a:solidFill>
                            <a:srgbClr val="263B34"/>
                          </a:solidFill>
                          <a:latin typeface="Arial"/>
                          <a:ea typeface="Arial"/>
                          <a:cs typeface="Arial"/>
                        </a:rPr>
                        <a:t>Jobs, quantum, switch cost and a supported measurable requirement.</a:t>
                      </a:r>
                    </a:p>
                  </a:txBody>
                  <a:tcPr marL="91440" marR="91440" marT="45720" marB="45720" anchor="ctr">
                    <a:lnR w="9525">
                      <a:solidFill>
                        <a:srgbClr val="D8DED5"/>
                      </a:solidFill>
                      <a:prstDash val="solid"/>
                    </a:lnR>
                    <a:lnB w="9525">
                      <a:solidFill>
                        <a:srgbClr val="D8DED5"/>
                      </a:solidFill>
                      <a:prstDash val="solid"/>
                    </a:lnB>
                    <a:solidFill>
                      <a:srgbClr val="FFFFFF"/>
                    </a:solidFill>
                  </a:tcPr>
                </a:tc>
              </a:tr>
              <a:tr h="552450">
                <a:tc>
                  <a:txBody>
                    <a:bodyPr lIns="114300" tIns="85725" rIns="95250" bIns="76200"/>
                    <a:lstStyle/>
                    <a:p>
                      <a:r>
                        <a:rPr sz="1725" b="0">
                          <a:solidFill>
                            <a:srgbClr val="263B34"/>
                          </a:solidFill>
                          <a:latin typeface="Arial"/>
                          <a:ea typeface="Arial"/>
                          <a:cs typeface="Arial"/>
                        </a:rPr>
                        <a:t>Measurement</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0F3EB"/>
                    </a:solidFill>
                  </a:tcPr>
                </a:tc>
                <a:tc>
                  <a:txBody>
                    <a:bodyPr lIns="114300" tIns="85725" rIns="95250" bIns="76200"/>
                    <a:lstStyle/>
                    <a:p>
                      <a:r>
                        <a:rPr sz="1725" b="0">
                          <a:solidFill>
                            <a:srgbClr val="263B34"/>
                          </a:solidFill>
                          <a:latin typeface="Arial"/>
                          <a:ea typeface="Arial"/>
                          <a:cs typeface="Arial"/>
                        </a:rPr>
                        <a:t>Record execution intervals and calculate response, waiting and turnaround.</a:t>
                      </a:r>
                    </a:p>
                  </a:txBody>
                  <a:tcPr marL="91440" marR="91440" marT="45720" marB="45720" anchor="ctr">
                    <a:lnR w="9525">
                      <a:solidFill>
                        <a:srgbClr val="D8DED5"/>
                      </a:solidFill>
                      <a:prstDash val="solid"/>
                    </a:lnR>
                    <a:lnB w="9525">
                      <a:solidFill>
                        <a:srgbClr val="D8DED5"/>
                      </a:solidFill>
                      <a:prstDash val="solid"/>
                    </a:lnB>
                    <a:solidFill>
                      <a:srgbClr val="F0F3EB"/>
                    </a:solidFill>
                  </a:tcPr>
                </a:tc>
              </a:tr>
              <a:tr h="552450">
                <a:tc>
                  <a:txBody>
                    <a:bodyPr lIns="114300" tIns="85725" rIns="95250" bIns="76200"/>
                    <a:lstStyle/>
                    <a:p>
                      <a:r>
                        <a:rPr sz="1725" b="0">
                          <a:solidFill>
                            <a:srgbClr val="263B34"/>
                          </a:solidFill>
                          <a:latin typeface="Arial"/>
                          <a:ea typeface="Arial"/>
                          <a:cs typeface="Arial"/>
                        </a:rPr>
                        <a:t>AI assistance</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FFFFF"/>
                    </a:solidFill>
                  </a:tcPr>
                </a:tc>
                <a:tc>
                  <a:txBody>
                    <a:bodyPr lIns="114300" tIns="85725" rIns="95250" bIns="76200"/>
                    <a:lstStyle/>
                    <a:p>
                      <a:r>
                        <a:rPr sz="1725" b="0">
                          <a:solidFill>
                            <a:srgbClr val="263B34"/>
                          </a:solidFill>
                          <a:latin typeface="Arial"/>
                          <a:ea typeface="Arial"/>
                          <a:cs typeface="Arial"/>
                        </a:rPr>
                        <a:t>Learned prediction and retrieved tutor lessons with verified examples.</a:t>
                      </a:r>
                    </a:p>
                  </a:txBody>
                  <a:tcPr marL="91440" marR="91440" marT="45720" marB="45720" anchor="ctr">
                    <a:lnR w="9525">
                      <a:solidFill>
                        <a:srgbClr val="D8DED5"/>
                      </a:solidFill>
                      <a:prstDash val="solid"/>
                    </a:lnR>
                    <a:lnB w="9525">
                      <a:solidFill>
                        <a:srgbClr val="D8DED5"/>
                      </a:solidFill>
                      <a:prstDash val="solid"/>
                    </a:lnB>
                    <a:solidFill>
                      <a:srgbClr val="FFFFFF"/>
                    </a:solidFill>
                  </a:tcPr>
                </a:tc>
              </a:tr>
              <a:tr h="552450">
                <a:tc>
                  <a:txBody>
                    <a:bodyPr lIns="114300" tIns="85725" rIns="95250" bIns="76200"/>
                    <a:lstStyle/>
                    <a:p>
                      <a:r>
                        <a:rPr sz="1725" b="0">
                          <a:solidFill>
                            <a:srgbClr val="263B34"/>
                          </a:solidFill>
                          <a:latin typeface="Arial"/>
                          <a:ea typeface="Arial"/>
                          <a:cs typeface="Arial"/>
                        </a:rPr>
                        <a:t>Adversarial test</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0F3EB"/>
                    </a:solidFill>
                  </a:tcPr>
                </a:tc>
                <a:tc>
                  <a:txBody>
                    <a:bodyPr lIns="114300" tIns="85725" rIns="95250" bIns="76200"/>
                    <a:lstStyle/>
                    <a:p>
                      <a:r>
                        <a:rPr sz="1725" b="0">
                          <a:solidFill>
                            <a:srgbClr val="263B34"/>
                          </a:solidFill>
                          <a:latin typeface="Arial"/>
                          <a:ea typeface="Arial"/>
                          <a:cs typeface="Arial"/>
                        </a:rPr>
                        <a:t>Generate workloads, find a failure, reduce the jobs and replay it.</a:t>
                      </a:r>
                    </a:p>
                  </a:txBody>
                  <a:tcPr marL="91440" marR="91440" marT="45720" marB="45720" anchor="ctr">
                    <a:lnR w="9525">
                      <a:solidFill>
                        <a:srgbClr val="D8DED5"/>
                      </a:solidFill>
                      <a:prstDash val="solid"/>
                    </a:lnR>
                    <a:lnB w="9525">
                      <a:solidFill>
                        <a:srgbClr val="D8DED5"/>
                      </a:solidFill>
                      <a:prstDash val="solid"/>
                    </a:lnB>
                    <a:solidFill>
                      <a:srgbClr val="F0F3EB"/>
                    </a:solidFill>
                  </a:tcPr>
                </a:tc>
              </a:tr>
            </a:tbl>
          </a:graphicData>
        </a:graphic>
      </p:graphicFrame>
      <p:sp>
        <p:nvSpPr>
          <p:cNvPr id="14" name="">
            <a:extLst xmlns:a="http://schemas.openxmlformats.org/drawingml/2006/main">
              <a:ext uri="{FF2B5EF4-FFF2-40B4-BE49-F238E27FC236}">
                <a16:creationId xmlns:a16="http://schemas.microsoft.com/office/drawing/2014/main" id="{133B0A05-4783-4488-82D2-79499A68C53A}"/>
              </a:ext>
            </a:extLst>
          </p:cNvPr>
          <p:cNvSpPr>
            <a:spLocks xmlns:a="http://schemas.openxmlformats.org/drawingml/2006/main" noGrp="1"/>
          </p:cNvSpPr>
          <p:nvPr/>
        </p:nvSpPr>
        <p:spPr>
          <a:xfrm xmlns:a="http://schemas.openxmlformats.org/drawingml/2006/main">
            <a:off x="609600" y="59531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5716A"/>
                </a:solidFill>
                <a:latin typeface="Arial"/>
                <a:ea typeface="Arial"/>
                <a:cs typeface="Arial"/>
              </a:defRPr>
            </a:defPPr>
            <a:lvl1pPr algn="l">
              <a:defRPr sz="1500" b="0">
                <a:solidFill>
                  <a:srgbClr val="65716A"/>
                </a:solidFill>
                <a:latin typeface="Arial"/>
                <a:ea typeface="Arial"/>
                <a:cs typeface="Arial"/>
              </a:defRPr>
            </a:lvl1pPr>
            <a:lvl2pPr algn="l">
              <a:defRPr sz="1500" b="0">
                <a:solidFill>
                  <a:srgbClr val="65716A"/>
                </a:solidFill>
                <a:latin typeface="Arial"/>
                <a:ea typeface="Arial"/>
                <a:cs typeface="Arial"/>
              </a:defRPr>
            </a:lvl2pPr>
            <a:lvl3pPr algn="l">
              <a:defRPr sz="1500" b="0">
                <a:solidFill>
                  <a:srgbClr val="65716A"/>
                </a:solidFill>
                <a:latin typeface="Arial"/>
                <a:ea typeface="Arial"/>
                <a:cs typeface="Arial"/>
              </a:defRPr>
            </a:lvl3pPr>
            <a:lvl4pPr algn="l">
              <a:defRPr sz="1500" b="0">
                <a:solidFill>
                  <a:srgbClr val="65716A"/>
                </a:solidFill>
                <a:latin typeface="Arial"/>
                <a:ea typeface="Arial"/>
                <a:cs typeface="Arial"/>
              </a:defRPr>
            </a:lvl4pPr>
            <a:lvl5pPr algn="l">
              <a:defRPr sz="1500" b="0">
                <a:solidFill>
                  <a:srgbClr val="65716A"/>
                </a:solidFill>
                <a:latin typeface="Arial"/>
                <a:ea typeface="Arial"/>
                <a:cs typeface="Arial"/>
              </a:defRPr>
            </a:lvl5pPr>
            <a:lvl6pPr algn="l">
              <a:defRPr sz="1500" b="0">
                <a:solidFill>
                  <a:srgbClr val="65716A"/>
                </a:solidFill>
                <a:latin typeface="Arial"/>
                <a:ea typeface="Arial"/>
                <a:cs typeface="Arial"/>
              </a:defRPr>
            </a:lvl6pPr>
            <a:lvl7pPr algn="l">
              <a:defRPr sz="1500" b="0">
                <a:solidFill>
                  <a:srgbClr val="65716A"/>
                </a:solidFill>
                <a:latin typeface="Arial"/>
                <a:ea typeface="Arial"/>
                <a:cs typeface="Arial"/>
              </a:defRPr>
            </a:lvl7pPr>
            <a:lvl8pPr algn="l">
              <a:defRPr sz="1500" b="0">
                <a:solidFill>
                  <a:srgbClr val="65716A"/>
                </a:solidFill>
                <a:latin typeface="Arial"/>
                <a:ea typeface="Arial"/>
                <a:cs typeface="Arial"/>
              </a:defRPr>
            </a:lvl8pPr>
            <a:lvl9pPr algn="l">
              <a:defRPr sz="1500" b="0">
                <a:solidFill>
                  <a:srgbClr val="65716A"/>
                </a:solidFill>
                <a:latin typeface="Arial"/>
                <a:ea typeface="Arial"/>
                <a:cs typeface="Arial"/>
              </a:defRPr>
            </a:lvl9pPr>
          </a:lstStyle>
          <a:p xmlns:a="http://schemas.openxmlformats.org/drawingml/2006/main">
            <a:pPr algn="l">
              <a:defRPr sz="1500" b="0">
                <a:solidFill>
                  <a:srgbClr val="65716A"/>
                </a:solidFill>
                <a:latin typeface="Arial"/>
                <a:ea typeface="Arial"/>
                <a:cs typeface="Arial"/>
              </a:defRPr>
            </a:pPr>
            <a:r>
              <a:rPr sz="1500" b="0">
                <a:solidFill>
                  <a:srgbClr val="65716A"/>
                </a:solidFill>
                <a:latin typeface="Arial"/>
                <a:ea typeface="Arial"/>
                <a:cs typeface="Arial"/>
              </a:rPr>
              <a:t>Time values are simulated units. Job type selects the goal’s target group, not the CPU execution order.</a:t>
            </a:r>
          </a:p>
        </p:txBody>
      </p:sp>
    </p:spTree>
    <p:extLst>
      <p:ext uri="{BB962C8B-B14F-4D97-AF65-F5344CB8AC3E}">
        <p14:creationId xmlns:p14="http://schemas.microsoft.com/office/powerpoint/2010/main" val="444017858"/>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E38C1B60-404C-4C7C-9CCB-53060B70C4BE}"/>
              </a:ext>
            </a:extLst>
          </p:cNvPr>
          <p:cNvCxnSpPr>
            <a:stCxn xmlns:a="http://schemas.openxmlformats.org/drawingml/2006/main" id="9" idx="2"/>
            <a:endCxn xmlns:a="http://schemas.openxmlformats.org/drawingml/2006/main" id="14" idx="0"/>
          </p:cNvCxnSpPr>
          <p:nvPr/>
        </p:nvCxnSpPr>
        <p:spPr>
          <a:xfrm xmlns:a="http://schemas.openxmlformats.org/drawingml/2006/main">
            <a:off x="3952875" y="4238625"/>
            <a:ext cx="2000250" cy="447675"/>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F0EFB31D-945D-4981-9541-F7A4625368A8}"/>
              </a:ext>
            </a:extLst>
          </p:cNvPr>
          <p:cNvCxnSpPr>
            <a:stCxn xmlns:a="http://schemas.openxmlformats.org/drawingml/2006/main" id="9" idx="2"/>
            <a:endCxn xmlns:a="http://schemas.openxmlformats.org/drawingml/2006/main" id="13" idx="0"/>
          </p:cNvCxnSpPr>
          <p:nvPr/>
        </p:nvCxnSpPr>
        <p:spPr>
          <a:xfrm xmlns:a="http://schemas.openxmlformats.org/drawingml/2006/main" flipH="1">
            <a:off x="2238375" y="4238625"/>
            <a:ext cx="1714500" cy="447675"/>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E12B3505-C382-4554-94ED-138F7CB72111}"/>
              </a:ext>
            </a:extLst>
          </p:cNvPr>
          <p:cNvCxnSpPr>
            <a:stCxn xmlns:a="http://schemas.openxmlformats.org/drawingml/2006/main" id="7" idx="2"/>
            <a:endCxn xmlns:a="http://schemas.openxmlformats.org/drawingml/2006/main" id="10" idx="0"/>
          </p:cNvCxnSpPr>
          <p:nvPr/>
        </p:nvCxnSpPr>
        <p:spPr>
          <a:xfrm xmlns:a="http://schemas.openxmlformats.org/drawingml/2006/main">
            <a:off x="6096000" y="3095625"/>
            <a:ext cx="3762375" cy="419100"/>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762C0A06-775F-4591-9299-AB6B50E64C58}"/>
              </a:ext>
            </a:extLst>
          </p:cNvPr>
          <p:cNvCxnSpPr>
            <a:stCxn xmlns:a="http://schemas.openxmlformats.org/drawingml/2006/main" id="7" idx="2"/>
            <a:endCxn xmlns:a="http://schemas.openxmlformats.org/drawingml/2006/main" id="9" idx="0"/>
          </p:cNvCxnSpPr>
          <p:nvPr/>
        </p:nvCxnSpPr>
        <p:spPr>
          <a:xfrm xmlns:a="http://schemas.openxmlformats.org/drawingml/2006/main" flipH="1">
            <a:off x="3952875" y="3095625"/>
            <a:ext cx="2143125" cy="419100"/>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384C67CA-732E-4DF7-9061-FD81E35F93FC}"/>
              </a:ext>
            </a:extLst>
          </p:cNvPr>
          <p:cNvCxnSpPr>
            <a:stCxn xmlns:a="http://schemas.openxmlformats.org/drawingml/2006/main" id="6" idx="2"/>
            <a:endCxn xmlns:a="http://schemas.openxmlformats.org/drawingml/2006/main" id="7" idx="0"/>
          </p:cNvCxnSpPr>
          <p:nvPr/>
        </p:nvCxnSpPr>
        <p:spPr>
          <a:xfrm xmlns:a="http://schemas.openxmlformats.org/drawingml/2006/main">
            <a:off x="6096000" y="2133600"/>
            <a:ext cx="0" cy="276225"/>
          </a:xfrm>
          <a:prstGeom xmlns:a="http://schemas.openxmlformats.org/drawingml/2006/main" prst="straightConnector1">
            <a:avLst/>
          </a:prstGeom>
          <a:ln xmlns:a="http://schemas.openxmlformats.org/drawingml/2006/main" w="19050">
            <a:solidFill>
              <a:srgbClr val="315F4C"/>
            </a:solidFill>
            <a:prstDash val="solid"/>
            <a:tailEnd type="triangle" w="sm" len="sm"/>
          </a:ln>
        </p:spPr>
      </p:cxnSp>
      <p:sp>
        <p:nvSpPr>
          <p:cNvPr id="20" name="">
            <a:extLst xmlns:a="http://schemas.openxmlformats.org/drawingml/2006/main">
              <a:ext uri="{FF2B5EF4-FFF2-40B4-BE49-F238E27FC236}">
                <a16:creationId xmlns:a16="http://schemas.microsoft.com/office/drawing/2014/main" id="{C23CB5DD-F90C-4FDB-BC45-56969453048D}"/>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82E9E6CE-BEA7-4CF5-92BA-464E805E3CA9}"/>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Detailed system architecture</a:t>
            </a:r>
          </a:p>
        </p:txBody>
      </p:sp>
      <p:sp>
        <p:nvSpPr>
          <p:cNvPr id="3" name="">
            <a:extLst xmlns:a="http://schemas.openxmlformats.org/drawingml/2006/main">
              <a:ext uri="{FF2B5EF4-FFF2-40B4-BE49-F238E27FC236}">
                <a16:creationId xmlns:a16="http://schemas.microsoft.com/office/drawing/2014/main" id="{04761581-402B-444F-A9BE-E22883A5166E}"/>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880F4C40-DA30-4FCD-A351-7159742EA3D3}"/>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BC73A52F-7A5E-4FF2-B862-45F12F947C26}"/>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706FE98B-D8A7-4287-ACE4-1A4FC76E99E2}"/>
              </a:ext>
            </a:extLst>
          </p:cNvPr>
          <p:cNvSpPr>
            <a:spLocks xmlns:a="http://schemas.openxmlformats.org/drawingml/2006/main" noGrp="1"/>
          </p:cNvSpPr>
          <p:nvPr/>
        </p:nvSpPr>
        <p:spPr>
          <a:xfrm xmlns:a="http://schemas.openxmlformats.org/drawingml/2006/main">
            <a:off x="3333750" y="1504950"/>
            <a:ext cx="55245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725">
                <a:solidFill>
                  <a:srgbClr val="263B34"/>
                </a:solidFill>
                <a:latin typeface="Arial"/>
                <a:ea typeface="Arial"/>
                <a:cs typeface="Arial"/>
              </a:defRPr>
            </a:defPPr>
            <a:lvl1pPr algn="ctr">
              <a:defRPr sz="1725">
                <a:solidFill>
                  <a:srgbClr val="263B34"/>
                </a:solidFill>
                <a:latin typeface="Arial"/>
                <a:ea typeface="Arial"/>
                <a:cs typeface="Arial"/>
              </a:defRPr>
            </a:lvl1pPr>
            <a:lvl2pPr algn="ctr">
              <a:defRPr sz="1725">
                <a:solidFill>
                  <a:srgbClr val="263B34"/>
                </a:solidFill>
                <a:latin typeface="Arial"/>
                <a:ea typeface="Arial"/>
                <a:cs typeface="Arial"/>
              </a:defRPr>
            </a:lvl2pPr>
            <a:lvl3pPr algn="ctr">
              <a:defRPr sz="1725">
                <a:solidFill>
                  <a:srgbClr val="263B34"/>
                </a:solidFill>
                <a:latin typeface="Arial"/>
                <a:ea typeface="Arial"/>
                <a:cs typeface="Arial"/>
              </a:defRPr>
            </a:lvl3pPr>
            <a:lvl4pPr algn="ctr">
              <a:defRPr sz="1725">
                <a:solidFill>
                  <a:srgbClr val="263B34"/>
                </a:solidFill>
                <a:latin typeface="Arial"/>
                <a:ea typeface="Arial"/>
                <a:cs typeface="Arial"/>
              </a:defRPr>
            </a:lvl4pPr>
            <a:lvl5pPr algn="ctr">
              <a:defRPr sz="1725">
                <a:solidFill>
                  <a:srgbClr val="263B34"/>
                </a:solidFill>
                <a:latin typeface="Arial"/>
                <a:ea typeface="Arial"/>
                <a:cs typeface="Arial"/>
              </a:defRPr>
            </a:lvl5pPr>
            <a:lvl6pPr algn="ctr">
              <a:defRPr sz="1725">
                <a:solidFill>
                  <a:srgbClr val="263B34"/>
                </a:solidFill>
                <a:latin typeface="Arial"/>
                <a:ea typeface="Arial"/>
                <a:cs typeface="Arial"/>
              </a:defRPr>
            </a:lvl6pPr>
            <a:lvl7pPr algn="ctr">
              <a:defRPr sz="1725">
                <a:solidFill>
                  <a:srgbClr val="263B34"/>
                </a:solidFill>
                <a:latin typeface="Arial"/>
                <a:ea typeface="Arial"/>
                <a:cs typeface="Arial"/>
              </a:defRPr>
            </a:lvl7pPr>
            <a:lvl8pPr algn="ctr">
              <a:defRPr sz="1725">
                <a:solidFill>
                  <a:srgbClr val="263B34"/>
                </a:solidFill>
                <a:latin typeface="Arial"/>
                <a:ea typeface="Arial"/>
                <a:cs typeface="Arial"/>
              </a:defRPr>
            </a:lvl8pPr>
            <a:lvl9pPr algn="ctr">
              <a:defRPr sz="1725">
                <a:solidFill>
                  <a:srgbClr val="263B34"/>
                </a:solidFill>
                <a:latin typeface="Arial"/>
                <a:ea typeface="Arial"/>
                <a:cs typeface="Arial"/>
              </a:defRPr>
            </a:lvl9pPr>
          </a:lstStyle>
          <a:p xmlns:a="http://schemas.openxmlformats.org/drawingml/2006/main">
            <a:pPr algn="ctr">
              <a:defRPr sz="1725">
                <a:solidFill>
                  <a:srgbClr val="263B34"/>
                </a:solidFill>
                <a:latin typeface="Arial"/>
                <a:ea typeface="Arial"/>
                <a:cs typeface="Arial"/>
              </a:defRPr>
            </a:pPr>
            <a:r>
              <a:rPr sz="1725">
                <a:solidFill>
                  <a:srgbClr val="263B34"/>
                </a:solidFill>
                <a:latin typeface="Arial"/>
                <a:ea typeface="Arial"/>
                <a:cs typeface="Arial"/>
              </a:rPr>
              <a:t>Browser interface</a:t>
            </a:r>
          </a:p>
          <a:p xmlns:a="http://schemas.openxmlformats.org/drawingml/2006/main">
            <a:pPr algn="ctr">
              <a:defRPr sz="1725">
                <a:solidFill>
                  <a:srgbClr val="263B34"/>
                </a:solidFill>
                <a:latin typeface="Arial"/>
                <a:ea typeface="Arial"/>
                <a:cs typeface="Arial"/>
              </a:defRPr>
            </a:pPr>
            <a:r>
              <a:rPr sz="1725">
                <a:solidFill>
                  <a:srgbClr val="263B34"/>
                </a:solidFill>
                <a:latin typeface="Arial"/>
                <a:ea typeface="Arial"/>
                <a:cs typeface="Arial"/>
              </a:rPr>
              <a:t>HTML / CSS / JavaScript</a:t>
            </a:r>
          </a:p>
        </p:txBody>
      </p:sp>
      <p:sp>
        <p:nvSpPr>
          <p:cNvPr id="7" name="">
            <a:extLst xmlns:a="http://schemas.openxmlformats.org/drawingml/2006/main">
              <a:ext uri="{FF2B5EF4-FFF2-40B4-BE49-F238E27FC236}">
                <a16:creationId xmlns:a16="http://schemas.microsoft.com/office/drawing/2014/main" id="{A746DE36-FA13-46CB-9985-F878E01FC8D2}"/>
              </a:ext>
            </a:extLst>
          </p:cNvPr>
          <p:cNvSpPr>
            <a:spLocks xmlns:a="http://schemas.openxmlformats.org/drawingml/2006/main" noGrp="1"/>
          </p:cNvSpPr>
          <p:nvPr/>
        </p:nvSpPr>
        <p:spPr>
          <a:xfrm xmlns:a="http://schemas.openxmlformats.org/drawingml/2006/main">
            <a:off x="3333750" y="2409825"/>
            <a:ext cx="5524500" cy="6858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725">
                <a:solidFill>
                  <a:srgbClr val="263B34"/>
                </a:solidFill>
                <a:latin typeface="Arial"/>
                <a:ea typeface="Arial"/>
                <a:cs typeface="Arial"/>
              </a:defRPr>
            </a:defPPr>
            <a:lvl1pPr algn="ctr">
              <a:defRPr sz="1725">
                <a:solidFill>
                  <a:srgbClr val="263B34"/>
                </a:solidFill>
                <a:latin typeface="Arial"/>
                <a:ea typeface="Arial"/>
                <a:cs typeface="Arial"/>
              </a:defRPr>
            </a:lvl1pPr>
            <a:lvl2pPr algn="ctr">
              <a:defRPr sz="1725">
                <a:solidFill>
                  <a:srgbClr val="263B34"/>
                </a:solidFill>
                <a:latin typeface="Arial"/>
                <a:ea typeface="Arial"/>
                <a:cs typeface="Arial"/>
              </a:defRPr>
            </a:lvl2pPr>
            <a:lvl3pPr algn="ctr">
              <a:defRPr sz="1725">
                <a:solidFill>
                  <a:srgbClr val="263B34"/>
                </a:solidFill>
                <a:latin typeface="Arial"/>
                <a:ea typeface="Arial"/>
                <a:cs typeface="Arial"/>
              </a:defRPr>
            </a:lvl3pPr>
            <a:lvl4pPr algn="ctr">
              <a:defRPr sz="1725">
                <a:solidFill>
                  <a:srgbClr val="263B34"/>
                </a:solidFill>
                <a:latin typeface="Arial"/>
                <a:ea typeface="Arial"/>
                <a:cs typeface="Arial"/>
              </a:defRPr>
            </a:lvl4pPr>
            <a:lvl5pPr algn="ctr">
              <a:defRPr sz="1725">
                <a:solidFill>
                  <a:srgbClr val="263B34"/>
                </a:solidFill>
                <a:latin typeface="Arial"/>
                <a:ea typeface="Arial"/>
                <a:cs typeface="Arial"/>
              </a:defRPr>
            </a:lvl5pPr>
            <a:lvl6pPr algn="ctr">
              <a:defRPr sz="1725">
                <a:solidFill>
                  <a:srgbClr val="263B34"/>
                </a:solidFill>
                <a:latin typeface="Arial"/>
                <a:ea typeface="Arial"/>
                <a:cs typeface="Arial"/>
              </a:defRPr>
            </a:lvl6pPr>
            <a:lvl7pPr algn="ctr">
              <a:defRPr sz="1725">
                <a:solidFill>
                  <a:srgbClr val="263B34"/>
                </a:solidFill>
                <a:latin typeface="Arial"/>
                <a:ea typeface="Arial"/>
                <a:cs typeface="Arial"/>
              </a:defRPr>
            </a:lvl7pPr>
            <a:lvl8pPr algn="ctr">
              <a:defRPr sz="1725">
                <a:solidFill>
                  <a:srgbClr val="263B34"/>
                </a:solidFill>
                <a:latin typeface="Arial"/>
                <a:ea typeface="Arial"/>
                <a:cs typeface="Arial"/>
              </a:defRPr>
            </a:lvl8pPr>
            <a:lvl9pPr algn="ctr">
              <a:defRPr sz="1725">
                <a:solidFill>
                  <a:srgbClr val="263B34"/>
                </a:solidFill>
                <a:latin typeface="Arial"/>
                <a:ea typeface="Arial"/>
                <a:cs typeface="Arial"/>
              </a:defRPr>
            </a:lvl9pPr>
          </a:lstStyle>
          <a:p xmlns:a="http://schemas.openxmlformats.org/drawingml/2006/main">
            <a:pPr algn="ctr">
              <a:defRPr sz="1725">
                <a:solidFill>
                  <a:srgbClr val="263B34"/>
                </a:solidFill>
                <a:latin typeface="Arial"/>
                <a:ea typeface="Arial"/>
                <a:cs typeface="Arial"/>
              </a:defRPr>
            </a:pPr>
            <a:r>
              <a:rPr sz="1725">
                <a:solidFill>
                  <a:srgbClr val="263B34"/>
                </a:solidFill>
                <a:latin typeface="Arial"/>
                <a:ea typeface="Arial"/>
                <a:cs typeface="Arial"/>
              </a:rPr>
              <a:t>Python HTTP server  ·  server.py</a:t>
            </a:r>
          </a:p>
          <a:p xmlns:a="http://schemas.openxmlformats.org/drawingml/2006/main">
            <a:pPr algn="ctr">
              <a:defRPr sz="1725">
                <a:solidFill>
                  <a:srgbClr val="263B34"/>
                </a:solidFill>
                <a:latin typeface="Arial"/>
                <a:ea typeface="Arial"/>
                <a:cs typeface="Arial"/>
              </a:defRPr>
            </a:pPr>
            <a:r>
              <a:rPr sz="1725">
                <a:solidFill>
                  <a:srgbClr val="263B34"/>
                </a:solidFill>
                <a:latin typeface="Arial"/>
                <a:ea typeface="Arial"/>
                <a:cs typeface="Arial"/>
              </a:rPr>
              <a:t>JSON requests and responses on localhost</a:t>
            </a:r>
          </a:p>
        </p:txBody>
      </p:sp>
      <p:sp>
        <p:nvSpPr>
          <p:cNvPr id="9" name="">
            <a:extLst xmlns:a="http://schemas.openxmlformats.org/drawingml/2006/main">
              <a:ext uri="{FF2B5EF4-FFF2-40B4-BE49-F238E27FC236}">
                <a16:creationId xmlns:a16="http://schemas.microsoft.com/office/drawing/2014/main" id="{BCC4BBC1-9697-46E8-A2A8-3051C761E77D}"/>
              </a:ext>
            </a:extLst>
          </p:cNvPr>
          <p:cNvSpPr>
            <a:spLocks xmlns:a="http://schemas.openxmlformats.org/drawingml/2006/main" noGrp="1"/>
          </p:cNvSpPr>
          <p:nvPr/>
        </p:nvSpPr>
        <p:spPr>
          <a:xfrm xmlns:a="http://schemas.openxmlformats.org/drawingml/2006/main">
            <a:off x="619125" y="3514725"/>
            <a:ext cx="6667500" cy="7239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725">
                <a:solidFill>
                  <a:srgbClr val="263B34"/>
                </a:solidFill>
                <a:latin typeface="Arial"/>
                <a:ea typeface="Arial"/>
                <a:cs typeface="Arial"/>
              </a:defRPr>
            </a:defPPr>
            <a:lvl1pPr algn="ctr">
              <a:defRPr sz="1725">
                <a:solidFill>
                  <a:srgbClr val="263B34"/>
                </a:solidFill>
                <a:latin typeface="Arial"/>
                <a:ea typeface="Arial"/>
                <a:cs typeface="Arial"/>
              </a:defRPr>
            </a:lvl1pPr>
            <a:lvl2pPr algn="ctr">
              <a:defRPr sz="1725">
                <a:solidFill>
                  <a:srgbClr val="263B34"/>
                </a:solidFill>
                <a:latin typeface="Arial"/>
                <a:ea typeface="Arial"/>
                <a:cs typeface="Arial"/>
              </a:defRPr>
            </a:lvl2pPr>
            <a:lvl3pPr algn="ctr">
              <a:defRPr sz="1725">
                <a:solidFill>
                  <a:srgbClr val="263B34"/>
                </a:solidFill>
                <a:latin typeface="Arial"/>
                <a:ea typeface="Arial"/>
                <a:cs typeface="Arial"/>
              </a:defRPr>
            </a:lvl3pPr>
            <a:lvl4pPr algn="ctr">
              <a:defRPr sz="1725">
                <a:solidFill>
                  <a:srgbClr val="263B34"/>
                </a:solidFill>
                <a:latin typeface="Arial"/>
                <a:ea typeface="Arial"/>
                <a:cs typeface="Arial"/>
              </a:defRPr>
            </a:lvl4pPr>
            <a:lvl5pPr algn="ctr">
              <a:defRPr sz="1725">
                <a:solidFill>
                  <a:srgbClr val="263B34"/>
                </a:solidFill>
                <a:latin typeface="Arial"/>
                <a:ea typeface="Arial"/>
                <a:cs typeface="Arial"/>
              </a:defRPr>
            </a:lvl5pPr>
            <a:lvl6pPr algn="ctr">
              <a:defRPr sz="1725">
                <a:solidFill>
                  <a:srgbClr val="263B34"/>
                </a:solidFill>
                <a:latin typeface="Arial"/>
                <a:ea typeface="Arial"/>
                <a:cs typeface="Arial"/>
              </a:defRPr>
            </a:lvl6pPr>
            <a:lvl7pPr algn="ctr">
              <a:defRPr sz="1725">
                <a:solidFill>
                  <a:srgbClr val="263B34"/>
                </a:solidFill>
                <a:latin typeface="Arial"/>
                <a:ea typeface="Arial"/>
                <a:cs typeface="Arial"/>
              </a:defRPr>
            </a:lvl7pPr>
            <a:lvl8pPr algn="ctr">
              <a:defRPr sz="1725">
                <a:solidFill>
                  <a:srgbClr val="263B34"/>
                </a:solidFill>
                <a:latin typeface="Arial"/>
                <a:ea typeface="Arial"/>
                <a:cs typeface="Arial"/>
              </a:defRPr>
            </a:lvl8pPr>
            <a:lvl9pPr algn="ctr">
              <a:defRPr sz="1725">
                <a:solidFill>
                  <a:srgbClr val="263B34"/>
                </a:solidFill>
                <a:latin typeface="Arial"/>
                <a:ea typeface="Arial"/>
                <a:cs typeface="Arial"/>
              </a:defRPr>
            </a:lvl9pPr>
          </a:lstStyle>
          <a:p xmlns:a="http://schemas.openxmlformats.org/drawingml/2006/main">
            <a:pPr algn="ctr">
              <a:defRPr sz="1725">
                <a:solidFill>
                  <a:srgbClr val="263B34"/>
                </a:solidFill>
                <a:latin typeface="Arial"/>
                <a:ea typeface="Arial"/>
                <a:cs typeface="Arial"/>
              </a:defRPr>
            </a:pPr>
            <a:r>
              <a:rPr sz="1725">
                <a:solidFill>
                  <a:srgbClr val="263B34"/>
                </a:solidFill>
                <a:latin typeface="Arial"/>
                <a:ea typeface="Arial"/>
                <a:cs typeface="Arial"/>
              </a:rPr>
              <a:t>experiments.py</a:t>
            </a:r>
          </a:p>
          <a:p xmlns:a="http://schemas.openxmlformats.org/drawingml/2006/main">
            <a:pPr algn="ctr">
              <a:defRPr sz="1725">
                <a:solidFill>
                  <a:srgbClr val="263B34"/>
                </a:solidFill>
                <a:latin typeface="Arial"/>
                <a:ea typeface="Arial"/>
                <a:cs typeface="Arial"/>
              </a:defRPr>
            </a:pPr>
            <a:r>
              <a:rPr sz="1725">
                <a:solidFill>
                  <a:srgbClr val="263B34"/>
                </a:solidFill>
                <a:latin typeface="Arial"/>
                <a:ea typeface="Arial"/>
                <a:cs typeface="Arial"/>
              </a:rPr>
              <a:t>Goal parsing, comparison, verification and search</a:t>
            </a:r>
          </a:p>
        </p:txBody>
      </p:sp>
      <p:sp>
        <p:nvSpPr>
          <p:cNvPr id="10" name="">
            <a:extLst xmlns:a="http://schemas.openxmlformats.org/drawingml/2006/main">
              <a:ext uri="{FF2B5EF4-FFF2-40B4-BE49-F238E27FC236}">
                <a16:creationId xmlns:a16="http://schemas.microsoft.com/office/drawing/2014/main" id="{1DC257F0-A855-4D98-B83D-8B6048F942F5}"/>
              </a:ext>
            </a:extLst>
          </p:cNvPr>
          <p:cNvSpPr>
            <a:spLocks xmlns:a="http://schemas.openxmlformats.org/drawingml/2006/main" noGrp="1"/>
          </p:cNvSpPr>
          <p:nvPr/>
        </p:nvSpPr>
        <p:spPr>
          <a:xfrm xmlns:a="http://schemas.openxmlformats.org/drawingml/2006/main">
            <a:off x="8143875" y="3514725"/>
            <a:ext cx="3429000" cy="723900"/>
          </a:xfrm>
          <a:prstGeom xmlns:a="http://schemas.openxmlformats.org/drawingml/2006/main" prst="rect">
            <a:avLst/>
          </a:prstGeom>
          <a:solidFill xmlns:a="http://schemas.openxmlformats.org/drawingml/2006/main">
            <a:srgbClr val="EAF0E5"/>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650">
                <a:solidFill>
                  <a:srgbClr val="263B34"/>
                </a:solidFill>
                <a:latin typeface="Arial"/>
                <a:ea typeface="Arial"/>
                <a:cs typeface="Arial"/>
              </a:defRPr>
            </a:defPPr>
            <a:lvl1pPr algn="ctr">
              <a:defRPr sz="1650">
                <a:solidFill>
                  <a:srgbClr val="263B34"/>
                </a:solidFill>
                <a:latin typeface="Arial"/>
                <a:ea typeface="Arial"/>
                <a:cs typeface="Arial"/>
              </a:defRPr>
            </a:lvl1pPr>
            <a:lvl2pPr algn="ctr">
              <a:defRPr sz="1650">
                <a:solidFill>
                  <a:srgbClr val="263B34"/>
                </a:solidFill>
                <a:latin typeface="Arial"/>
                <a:ea typeface="Arial"/>
                <a:cs typeface="Arial"/>
              </a:defRPr>
            </a:lvl2pPr>
            <a:lvl3pPr algn="ctr">
              <a:defRPr sz="1650">
                <a:solidFill>
                  <a:srgbClr val="263B34"/>
                </a:solidFill>
                <a:latin typeface="Arial"/>
                <a:ea typeface="Arial"/>
                <a:cs typeface="Arial"/>
              </a:defRPr>
            </a:lvl3pPr>
            <a:lvl4pPr algn="ctr">
              <a:defRPr sz="1650">
                <a:solidFill>
                  <a:srgbClr val="263B34"/>
                </a:solidFill>
                <a:latin typeface="Arial"/>
                <a:ea typeface="Arial"/>
                <a:cs typeface="Arial"/>
              </a:defRPr>
            </a:lvl4pPr>
            <a:lvl5pPr algn="ctr">
              <a:defRPr sz="1650">
                <a:solidFill>
                  <a:srgbClr val="263B34"/>
                </a:solidFill>
                <a:latin typeface="Arial"/>
                <a:ea typeface="Arial"/>
                <a:cs typeface="Arial"/>
              </a:defRPr>
            </a:lvl5pPr>
            <a:lvl6pPr algn="ctr">
              <a:defRPr sz="1650">
                <a:solidFill>
                  <a:srgbClr val="263B34"/>
                </a:solidFill>
                <a:latin typeface="Arial"/>
                <a:ea typeface="Arial"/>
                <a:cs typeface="Arial"/>
              </a:defRPr>
            </a:lvl6pPr>
            <a:lvl7pPr algn="ctr">
              <a:defRPr sz="1650">
                <a:solidFill>
                  <a:srgbClr val="263B34"/>
                </a:solidFill>
                <a:latin typeface="Arial"/>
                <a:ea typeface="Arial"/>
                <a:cs typeface="Arial"/>
              </a:defRPr>
            </a:lvl7pPr>
            <a:lvl8pPr algn="ctr">
              <a:defRPr sz="1650">
                <a:solidFill>
                  <a:srgbClr val="263B34"/>
                </a:solidFill>
                <a:latin typeface="Arial"/>
                <a:ea typeface="Arial"/>
                <a:cs typeface="Arial"/>
              </a:defRPr>
            </a:lvl8pPr>
            <a:lvl9pPr algn="ctr">
              <a:defRPr sz="1650">
                <a:solidFill>
                  <a:srgbClr val="263B34"/>
                </a:solidFill>
                <a:latin typeface="Arial"/>
                <a:ea typeface="Arial"/>
                <a:cs typeface="Arial"/>
              </a:defRPr>
            </a:lvl9pPr>
          </a:lstStyle>
          <a:p xmlns:a="http://schemas.openxmlformats.org/drawingml/2006/main">
            <a:pPr algn="ctr">
              <a:defRPr sz="1650">
                <a:solidFill>
                  <a:srgbClr val="263B34"/>
                </a:solidFill>
                <a:latin typeface="Arial"/>
                <a:ea typeface="Arial"/>
                <a:cs typeface="Arial"/>
              </a:defRPr>
            </a:pPr>
            <a:r>
              <a:rPr sz="1650">
                <a:solidFill>
                  <a:srgbClr val="263B34"/>
                </a:solidFill>
                <a:latin typeface="Arial"/>
                <a:ea typeface="Arial"/>
                <a:cs typeface="Arial"/>
              </a:rPr>
              <a:t>tutor.py</a:t>
            </a:r>
          </a:p>
          <a:p xmlns:a="http://schemas.openxmlformats.org/drawingml/2006/main">
            <a:pPr algn="ctr">
              <a:defRPr sz="1650">
                <a:solidFill>
                  <a:srgbClr val="263B34"/>
                </a:solidFill>
                <a:latin typeface="Arial"/>
                <a:ea typeface="Arial"/>
                <a:cs typeface="Arial"/>
              </a:defRPr>
            </a:pPr>
            <a:r>
              <a:rPr sz="1650">
                <a:solidFill>
                  <a:srgbClr val="263B34"/>
                </a:solidFill>
                <a:latin typeface="Arial"/>
                <a:ea typeface="Arial"/>
                <a:cs typeface="Arial"/>
              </a:rPr>
              <a:t>Lesson retrieval and worked evidence</a:t>
            </a:r>
          </a:p>
        </p:txBody>
      </p:sp>
      <p:sp>
        <p:nvSpPr>
          <p:cNvPr id="13" name="">
            <a:extLst xmlns:a="http://schemas.openxmlformats.org/drawingml/2006/main">
              <a:ext uri="{FF2B5EF4-FFF2-40B4-BE49-F238E27FC236}">
                <a16:creationId xmlns:a16="http://schemas.microsoft.com/office/drawing/2014/main" id="{AC7525B3-6466-4D9D-B80A-483424DAC133}"/>
              </a:ext>
            </a:extLst>
          </p:cNvPr>
          <p:cNvSpPr>
            <a:spLocks xmlns:a="http://schemas.openxmlformats.org/drawingml/2006/main" noGrp="1"/>
          </p:cNvSpPr>
          <p:nvPr/>
        </p:nvSpPr>
        <p:spPr>
          <a:xfrm xmlns:a="http://schemas.openxmlformats.org/drawingml/2006/main">
            <a:off x="619125" y="4686300"/>
            <a:ext cx="3238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650">
                <a:solidFill>
                  <a:srgbClr val="263B34"/>
                </a:solidFill>
                <a:latin typeface="Arial"/>
                <a:ea typeface="Arial"/>
                <a:cs typeface="Arial"/>
              </a:defRPr>
            </a:defPPr>
            <a:lvl1pPr algn="ctr">
              <a:defRPr sz="1650">
                <a:solidFill>
                  <a:srgbClr val="263B34"/>
                </a:solidFill>
                <a:latin typeface="Arial"/>
                <a:ea typeface="Arial"/>
                <a:cs typeface="Arial"/>
              </a:defRPr>
            </a:lvl1pPr>
            <a:lvl2pPr algn="ctr">
              <a:defRPr sz="1650">
                <a:solidFill>
                  <a:srgbClr val="263B34"/>
                </a:solidFill>
                <a:latin typeface="Arial"/>
                <a:ea typeface="Arial"/>
                <a:cs typeface="Arial"/>
              </a:defRPr>
            </a:lvl2pPr>
            <a:lvl3pPr algn="ctr">
              <a:defRPr sz="1650">
                <a:solidFill>
                  <a:srgbClr val="263B34"/>
                </a:solidFill>
                <a:latin typeface="Arial"/>
                <a:ea typeface="Arial"/>
                <a:cs typeface="Arial"/>
              </a:defRPr>
            </a:lvl3pPr>
            <a:lvl4pPr algn="ctr">
              <a:defRPr sz="1650">
                <a:solidFill>
                  <a:srgbClr val="263B34"/>
                </a:solidFill>
                <a:latin typeface="Arial"/>
                <a:ea typeface="Arial"/>
                <a:cs typeface="Arial"/>
              </a:defRPr>
            </a:lvl4pPr>
            <a:lvl5pPr algn="ctr">
              <a:defRPr sz="1650">
                <a:solidFill>
                  <a:srgbClr val="263B34"/>
                </a:solidFill>
                <a:latin typeface="Arial"/>
                <a:ea typeface="Arial"/>
                <a:cs typeface="Arial"/>
              </a:defRPr>
            </a:lvl5pPr>
            <a:lvl6pPr algn="ctr">
              <a:defRPr sz="1650">
                <a:solidFill>
                  <a:srgbClr val="263B34"/>
                </a:solidFill>
                <a:latin typeface="Arial"/>
                <a:ea typeface="Arial"/>
                <a:cs typeface="Arial"/>
              </a:defRPr>
            </a:lvl6pPr>
            <a:lvl7pPr algn="ctr">
              <a:defRPr sz="1650">
                <a:solidFill>
                  <a:srgbClr val="263B34"/>
                </a:solidFill>
                <a:latin typeface="Arial"/>
                <a:ea typeface="Arial"/>
                <a:cs typeface="Arial"/>
              </a:defRPr>
            </a:lvl7pPr>
            <a:lvl8pPr algn="ctr">
              <a:defRPr sz="1650">
                <a:solidFill>
                  <a:srgbClr val="263B34"/>
                </a:solidFill>
                <a:latin typeface="Arial"/>
                <a:ea typeface="Arial"/>
                <a:cs typeface="Arial"/>
              </a:defRPr>
            </a:lvl8pPr>
            <a:lvl9pPr algn="ctr">
              <a:defRPr sz="1650">
                <a:solidFill>
                  <a:srgbClr val="263B34"/>
                </a:solidFill>
                <a:latin typeface="Arial"/>
                <a:ea typeface="Arial"/>
                <a:cs typeface="Arial"/>
              </a:defRPr>
            </a:lvl9pPr>
          </a:lstStyle>
          <a:p xmlns:a="http://schemas.openxmlformats.org/drawingml/2006/main">
            <a:pPr algn="ctr">
              <a:defRPr sz="1650">
                <a:solidFill>
                  <a:srgbClr val="263B34"/>
                </a:solidFill>
                <a:latin typeface="Arial"/>
                <a:ea typeface="Arial"/>
                <a:cs typeface="Arial"/>
              </a:defRPr>
            </a:pPr>
            <a:r>
              <a:rPr sz="1650">
                <a:solidFill>
                  <a:srgbClr val="263B34"/>
                </a:solidFill>
                <a:latin typeface="Arial"/>
                <a:ea typeface="Arial"/>
                <a:cs typeface="Arial"/>
              </a:rPr>
              <a:t>core.py</a:t>
            </a:r>
          </a:p>
          <a:p xmlns:a="http://schemas.openxmlformats.org/drawingml/2006/main">
            <a:pPr algn="ctr">
              <a:defRPr sz="1650">
                <a:solidFill>
                  <a:srgbClr val="263B34"/>
                </a:solidFill>
                <a:latin typeface="Arial"/>
                <a:ea typeface="Arial"/>
                <a:cs typeface="Arial"/>
              </a:defRPr>
            </a:pPr>
            <a:r>
              <a:rPr sz="1650">
                <a:solidFill>
                  <a:srgbClr val="263B34"/>
                </a:solidFill>
                <a:latin typeface="Arial"/>
                <a:ea typeface="Arial"/>
                <a:cs typeface="Arial"/>
              </a:rPr>
              <a:t>Clock, ready queue, trace and metrics</a:t>
            </a:r>
          </a:p>
        </p:txBody>
      </p:sp>
      <p:sp>
        <p:nvSpPr>
          <p:cNvPr id="14" name="">
            <a:extLst xmlns:a="http://schemas.openxmlformats.org/drawingml/2006/main">
              <a:ext uri="{FF2B5EF4-FFF2-40B4-BE49-F238E27FC236}">
                <a16:creationId xmlns:a16="http://schemas.microsoft.com/office/drawing/2014/main" id="{024C2EBD-33F9-4A96-B288-4CA527664472}"/>
              </a:ext>
            </a:extLst>
          </p:cNvPr>
          <p:cNvSpPr>
            <a:spLocks xmlns:a="http://schemas.openxmlformats.org/drawingml/2006/main" noGrp="1"/>
          </p:cNvSpPr>
          <p:nvPr/>
        </p:nvSpPr>
        <p:spPr>
          <a:xfrm xmlns:a="http://schemas.openxmlformats.org/drawingml/2006/main">
            <a:off x="4333875" y="4686300"/>
            <a:ext cx="32385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315F4C"/>
            </a:solidFill>
          </a:ln>
        </p:spPr>
        <p:txBody>
          <a:bodyPr xmlns:a="http://schemas.openxmlformats.org/drawingml/2006/main" lIns="95250" tIns="95250" rIns="95250" bIns="95250" anchor="ctr"/>
          <a:lstStyle xmlns:a="http://schemas.openxmlformats.org/drawingml/2006/main">
            <a:defPPr algn="ctr">
              <a:defRPr sz="1650">
                <a:solidFill>
                  <a:srgbClr val="263B34"/>
                </a:solidFill>
                <a:latin typeface="Arial"/>
                <a:ea typeface="Arial"/>
                <a:cs typeface="Arial"/>
              </a:defRPr>
            </a:defPPr>
            <a:lvl1pPr algn="ctr">
              <a:defRPr sz="1650">
                <a:solidFill>
                  <a:srgbClr val="263B34"/>
                </a:solidFill>
                <a:latin typeface="Arial"/>
                <a:ea typeface="Arial"/>
                <a:cs typeface="Arial"/>
              </a:defRPr>
            </a:lvl1pPr>
            <a:lvl2pPr algn="ctr">
              <a:defRPr sz="1650">
                <a:solidFill>
                  <a:srgbClr val="263B34"/>
                </a:solidFill>
                <a:latin typeface="Arial"/>
                <a:ea typeface="Arial"/>
                <a:cs typeface="Arial"/>
              </a:defRPr>
            </a:lvl2pPr>
            <a:lvl3pPr algn="ctr">
              <a:defRPr sz="1650">
                <a:solidFill>
                  <a:srgbClr val="263B34"/>
                </a:solidFill>
                <a:latin typeface="Arial"/>
                <a:ea typeface="Arial"/>
                <a:cs typeface="Arial"/>
              </a:defRPr>
            </a:lvl3pPr>
            <a:lvl4pPr algn="ctr">
              <a:defRPr sz="1650">
                <a:solidFill>
                  <a:srgbClr val="263B34"/>
                </a:solidFill>
                <a:latin typeface="Arial"/>
                <a:ea typeface="Arial"/>
                <a:cs typeface="Arial"/>
              </a:defRPr>
            </a:lvl4pPr>
            <a:lvl5pPr algn="ctr">
              <a:defRPr sz="1650">
                <a:solidFill>
                  <a:srgbClr val="263B34"/>
                </a:solidFill>
                <a:latin typeface="Arial"/>
                <a:ea typeface="Arial"/>
                <a:cs typeface="Arial"/>
              </a:defRPr>
            </a:lvl5pPr>
            <a:lvl6pPr algn="ctr">
              <a:defRPr sz="1650">
                <a:solidFill>
                  <a:srgbClr val="263B34"/>
                </a:solidFill>
                <a:latin typeface="Arial"/>
                <a:ea typeface="Arial"/>
                <a:cs typeface="Arial"/>
              </a:defRPr>
            </a:lvl6pPr>
            <a:lvl7pPr algn="ctr">
              <a:defRPr sz="1650">
                <a:solidFill>
                  <a:srgbClr val="263B34"/>
                </a:solidFill>
                <a:latin typeface="Arial"/>
                <a:ea typeface="Arial"/>
                <a:cs typeface="Arial"/>
              </a:defRPr>
            </a:lvl7pPr>
            <a:lvl8pPr algn="ctr">
              <a:defRPr sz="1650">
                <a:solidFill>
                  <a:srgbClr val="263B34"/>
                </a:solidFill>
                <a:latin typeface="Arial"/>
                <a:ea typeface="Arial"/>
                <a:cs typeface="Arial"/>
              </a:defRPr>
            </a:lvl8pPr>
            <a:lvl9pPr algn="ctr">
              <a:defRPr sz="1650">
                <a:solidFill>
                  <a:srgbClr val="263B34"/>
                </a:solidFill>
                <a:latin typeface="Arial"/>
                <a:ea typeface="Arial"/>
                <a:cs typeface="Arial"/>
              </a:defRPr>
            </a:lvl9pPr>
          </a:lstStyle>
          <a:p xmlns:a="http://schemas.openxmlformats.org/drawingml/2006/main">
            <a:pPr algn="ctr">
              <a:defRPr sz="1650">
                <a:solidFill>
                  <a:srgbClr val="263B34"/>
                </a:solidFill>
                <a:latin typeface="Arial"/>
                <a:ea typeface="Arial"/>
                <a:cs typeface="Arial"/>
              </a:defRPr>
            </a:pPr>
            <a:r>
              <a:rPr sz="1650">
                <a:solidFill>
                  <a:srgbClr val="263B34"/>
                </a:solidFill>
                <a:latin typeface="Arial"/>
                <a:ea typeface="Arial"/>
                <a:cs typeface="Arial"/>
              </a:rPr>
              <a:t>advisor.py</a:t>
            </a:r>
          </a:p>
          <a:p xmlns:a="http://schemas.openxmlformats.org/drawingml/2006/main">
            <a:pPr algn="ctr">
              <a:defRPr sz="1650">
                <a:solidFill>
                  <a:srgbClr val="263B34"/>
                </a:solidFill>
                <a:latin typeface="Arial"/>
                <a:ea typeface="Arial"/>
                <a:cs typeface="Arial"/>
              </a:defRPr>
            </a:pPr>
            <a:r>
              <a:rPr sz="1650">
                <a:solidFill>
                  <a:srgbClr val="263B34"/>
                </a:solidFill>
                <a:latin typeface="Arial"/>
                <a:ea typeface="Arial"/>
                <a:cs typeface="Arial"/>
              </a:rPr>
              <a:t>Features and saved decision tree</a:t>
            </a:r>
          </a:p>
        </p:txBody>
      </p:sp>
      <p:sp>
        <p:nvSpPr>
          <p:cNvPr id="17" name="">
            <a:extLst xmlns:a="http://schemas.openxmlformats.org/drawingml/2006/main">
              <a:ext uri="{FF2B5EF4-FFF2-40B4-BE49-F238E27FC236}">
                <a16:creationId xmlns:a16="http://schemas.microsoft.com/office/drawing/2014/main" id="{1E720C06-07A3-432A-89BF-41C11D20A51C}"/>
              </a:ext>
            </a:extLst>
          </p:cNvPr>
          <p:cNvSpPr>
            <a:spLocks xmlns:a="http://schemas.openxmlformats.org/drawingml/2006/main" noGrp="1"/>
          </p:cNvSpPr>
          <p:nvPr/>
        </p:nvSpPr>
        <p:spPr>
          <a:xfrm xmlns:a="http://schemas.openxmlformats.org/drawingml/2006/main">
            <a:off x="8143875" y="480060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65716A"/>
                </a:solidFill>
                <a:latin typeface="Arial"/>
                <a:ea typeface="Arial"/>
                <a:cs typeface="Arial"/>
              </a:defRPr>
            </a:defPPr>
            <a:lvl1pPr algn="l">
              <a:defRPr sz="1650" b="0">
                <a:solidFill>
                  <a:srgbClr val="65716A"/>
                </a:solidFill>
                <a:latin typeface="Arial"/>
                <a:ea typeface="Arial"/>
                <a:cs typeface="Arial"/>
              </a:defRPr>
            </a:lvl1pPr>
            <a:lvl2pPr algn="l">
              <a:defRPr sz="1650" b="0">
                <a:solidFill>
                  <a:srgbClr val="65716A"/>
                </a:solidFill>
                <a:latin typeface="Arial"/>
                <a:ea typeface="Arial"/>
                <a:cs typeface="Arial"/>
              </a:defRPr>
            </a:lvl2pPr>
            <a:lvl3pPr algn="l">
              <a:defRPr sz="1650" b="0">
                <a:solidFill>
                  <a:srgbClr val="65716A"/>
                </a:solidFill>
                <a:latin typeface="Arial"/>
                <a:ea typeface="Arial"/>
                <a:cs typeface="Arial"/>
              </a:defRPr>
            </a:lvl3pPr>
            <a:lvl4pPr algn="l">
              <a:defRPr sz="1650" b="0">
                <a:solidFill>
                  <a:srgbClr val="65716A"/>
                </a:solidFill>
                <a:latin typeface="Arial"/>
                <a:ea typeface="Arial"/>
                <a:cs typeface="Arial"/>
              </a:defRPr>
            </a:lvl4pPr>
            <a:lvl5pPr algn="l">
              <a:defRPr sz="1650" b="0">
                <a:solidFill>
                  <a:srgbClr val="65716A"/>
                </a:solidFill>
                <a:latin typeface="Arial"/>
                <a:ea typeface="Arial"/>
                <a:cs typeface="Arial"/>
              </a:defRPr>
            </a:lvl5pPr>
            <a:lvl6pPr algn="l">
              <a:defRPr sz="1650" b="0">
                <a:solidFill>
                  <a:srgbClr val="65716A"/>
                </a:solidFill>
                <a:latin typeface="Arial"/>
                <a:ea typeface="Arial"/>
                <a:cs typeface="Arial"/>
              </a:defRPr>
            </a:lvl6pPr>
            <a:lvl7pPr algn="l">
              <a:defRPr sz="1650" b="0">
                <a:solidFill>
                  <a:srgbClr val="65716A"/>
                </a:solidFill>
                <a:latin typeface="Arial"/>
                <a:ea typeface="Arial"/>
                <a:cs typeface="Arial"/>
              </a:defRPr>
            </a:lvl7pPr>
            <a:lvl8pPr algn="l">
              <a:defRPr sz="1650" b="0">
                <a:solidFill>
                  <a:srgbClr val="65716A"/>
                </a:solidFill>
                <a:latin typeface="Arial"/>
                <a:ea typeface="Arial"/>
                <a:cs typeface="Arial"/>
              </a:defRPr>
            </a:lvl8pPr>
            <a:lvl9pPr algn="l">
              <a:defRPr sz="1650" b="0">
                <a:solidFill>
                  <a:srgbClr val="65716A"/>
                </a:solidFill>
                <a:latin typeface="Arial"/>
                <a:ea typeface="Arial"/>
                <a:cs typeface="Arial"/>
              </a:defRPr>
            </a:lvl9pPr>
          </a:lstStyle>
          <a:p xmlns:a="http://schemas.openxmlformats.org/drawingml/2006/main">
            <a:pPr algn="l">
              <a:defRPr sz="1650" b="0">
                <a:solidFill>
                  <a:srgbClr val="65716A"/>
                </a:solidFill>
                <a:latin typeface="Arial"/>
                <a:ea typeface="Arial"/>
                <a:cs typeface="Arial"/>
              </a:defRPr>
            </a:pPr>
            <a:r>
              <a:rPr sz="1650" b="0">
                <a:solidFill>
                  <a:srgbClr val="65716A"/>
                </a:solidFill>
                <a:latin typeface="Arial"/>
                <a:ea typeface="Arial"/>
                <a:cs typeface="Arial"/>
              </a:rPr>
              <a:t>Tutor calculations reuse</a:t>
            </a:r>
          </a:p>
          <a:p xmlns:a="http://schemas.openxmlformats.org/drawingml/2006/main">
            <a:pPr algn="l">
              <a:defRPr sz="1650" b="0">
                <a:solidFill>
                  <a:srgbClr val="65716A"/>
                </a:solidFill>
                <a:latin typeface="Arial"/>
                <a:ea typeface="Arial"/>
                <a:cs typeface="Arial"/>
              </a:defRPr>
            </a:pPr>
            <a:r>
              <a:rPr sz="1650" b="0">
                <a:solidFill>
                  <a:srgbClr val="65716A"/>
                </a:solidFill>
                <a:latin typeface="Arial"/>
                <a:ea typeface="Arial"/>
                <a:cs typeface="Arial"/>
              </a:rPr>
              <a:t>core.py and advisor.py</a:t>
            </a:r>
          </a:p>
        </p:txBody>
      </p:sp>
      <p:sp>
        <p:nvSpPr>
          <p:cNvPr id="18" name="">
            <a:extLst xmlns:a="http://schemas.openxmlformats.org/drawingml/2006/main">
              <a:ext uri="{FF2B5EF4-FFF2-40B4-BE49-F238E27FC236}">
                <a16:creationId xmlns:a16="http://schemas.microsoft.com/office/drawing/2014/main" id="{96A88134-6B6B-4DEE-8362-3578A9E967FF}"/>
              </a:ext>
            </a:extLst>
          </p:cNvPr>
          <p:cNvSpPr>
            <a:spLocks xmlns:a="http://schemas.openxmlformats.org/drawingml/2006/main" noGrp="1"/>
          </p:cNvSpPr>
          <p:nvPr/>
        </p:nvSpPr>
        <p:spPr>
          <a:xfrm xmlns:a="http://schemas.openxmlformats.org/drawingml/2006/main">
            <a:off x="619125" y="57531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315F4C"/>
                </a:solidFill>
                <a:latin typeface="Arial"/>
                <a:ea typeface="Arial"/>
                <a:cs typeface="Arial"/>
              </a:defRPr>
            </a:defPPr>
            <a:lvl1pPr algn="l">
              <a:defRPr sz="1725" b="1">
                <a:solidFill>
                  <a:srgbClr val="315F4C"/>
                </a:solidFill>
                <a:latin typeface="Arial"/>
                <a:ea typeface="Arial"/>
                <a:cs typeface="Arial"/>
              </a:defRPr>
            </a:lvl1pPr>
            <a:lvl2pPr algn="l">
              <a:defRPr sz="1725" b="1">
                <a:solidFill>
                  <a:srgbClr val="315F4C"/>
                </a:solidFill>
                <a:latin typeface="Arial"/>
                <a:ea typeface="Arial"/>
                <a:cs typeface="Arial"/>
              </a:defRPr>
            </a:lvl2pPr>
            <a:lvl3pPr algn="l">
              <a:defRPr sz="1725" b="1">
                <a:solidFill>
                  <a:srgbClr val="315F4C"/>
                </a:solidFill>
                <a:latin typeface="Arial"/>
                <a:ea typeface="Arial"/>
                <a:cs typeface="Arial"/>
              </a:defRPr>
            </a:lvl3pPr>
            <a:lvl4pPr algn="l">
              <a:defRPr sz="1725" b="1">
                <a:solidFill>
                  <a:srgbClr val="315F4C"/>
                </a:solidFill>
                <a:latin typeface="Arial"/>
                <a:ea typeface="Arial"/>
                <a:cs typeface="Arial"/>
              </a:defRPr>
            </a:lvl4pPr>
            <a:lvl5pPr algn="l">
              <a:defRPr sz="1725" b="1">
                <a:solidFill>
                  <a:srgbClr val="315F4C"/>
                </a:solidFill>
                <a:latin typeface="Arial"/>
                <a:ea typeface="Arial"/>
                <a:cs typeface="Arial"/>
              </a:defRPr>
            </a:lvl5pPr>
            <a:lvl6pPr algn="l">
              <a:defRPr sz="1725" b="1">
                <a:solidFill>
                  <a:srgbClr val="315F4C"/>
                </a:solidFill>
                <a:latin typeface="Arial"/>
                <a:ea typeface="Arial"/>
                <a:cs typeface="Arial"/>
              </a:defRPr>
            </a:lvl6pPr>
            <a:lvl7pPr algn="l">
              <a:defRPr sz="1725" b="1">
                <a:solidFill>
                  <a:srgbClr val="315F4C"/>
                </a:solidFill>
                <a:latin typeface="Arial"/>
                <a:ea typeface="Arial"/>
                <a:cs typeface="Arial"/>
              </a:defRPr>
            </a:lvl7pPr>
            <a:lvl8pPr algn="l">
              <a:defRPr sz="1725" b="1">
                <a:solidFill>
                  <a:srgbClr val="315F4C"/>
                </a:solidFill>
                <a:latin typeface="Arial"/>
                <a:ea typeface="Arial"/>
                <a:cs typeface="Arial"/>
              </a:defRPr>
            </a:lvl8pPr>
            <a:lvl9pPr algn="l">
              <a:defRPr sz="1725" b="1">
                <a:solidFill>
                  <a:srgbClr val="315F4C"/>
                </a:solidFill>
                <a:latin typeface="Arial"/>
                <a:ea typeface="Arial"/>
                <a:cs typeface="Arial"/>
              </a:defRPr>
            </a:lvl9pPr>
          </a:lstStyle>
          <a:p xmlns:a="http://schemas.openxmlformats.org/drawingml/2006/main">
            <a:pPr algn="l">
              <a:defRPr sz="1725" b="1">
                <a:solidFill>
                  <a:srgbClr val="315F4C"/>
                </a:solidFill>
                <a:latin typeface="Arial"/>
                <a:ea typeface="Arial"/>
                <a:cs typeface="Arial"/>
              </a:defRPr>
            </a:pPr>
            <a:r>
              <a:rPr sz="1725" b="1">
                <a:solidFill>
                  <a:srgbClr val="315F4C"/>
                </a:solidFill>
                <a:latin typeface="Arial"/>
                <a:ea typeface="Arial"/>
                <a:cs typeface="Arial"/>
              </a:rPr>
              <a:t>POST endpoints: /api/compare   /api/break   /api/tutor</a:t>
            </a:r>
          </a:p>
        </p:txBody>
      </p:sp>
      <p:sp>
        <p:nvSpPr>
          <p:cNvPr id="19" name="">
            <a:extLst xmlns:a="http://schemas.openxmlformats.org/drawingml/2006/main">
              <a:ext uri="{FF2B5EF4-FFF2-40B4-BE49-F238E27FC236}">
                <a16:creationId xmlns:a16="http://schemas.microsoft.com/office/drawing/2014/main" id="{238C881A-B122-44C7-B305-080DB8D6FC4F}"/>
              </a:ext>
            </a:extLst>
          </p:cNvPr>
          <p:cNvSpPr>
            <a:spLocks xmlns:a="http://schemas.openxmlformats.org/drawingml/2006/main" noGrp="1"/>
          </p:cNvSpPr>
          <p:nvPr/>
        </p:nvSpPr>
        <p:spPr>
          <a:xfrm xmlns:a="http://schemas.openxmlformats.org/drawingml/2006/main">
            <a:off x="619125" y="61150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5716A"/>
                </a:solidFill>
                <a:latin typeface="Arial"/>
                <a:ea typeface="Arial"/>
                <a:cs typeface="Arial"/>
              </a:defRPr>
            </a:defPPr>
            <a:lvl1pPr algn="l">
              <a:defRPr sz="1500" b="0">
                <a:solidFill>
                  <a:srgbClr val="65716A"/>
                </a:solidFill>
                <a:latin typeface="Arial"/>
                <a:ea typeface="Arial"/>
                <a:cs typeface="Arial"/>
              </a:defRPr>
            </a:lvl1pPr>
            <a:lvl2pPr algn="l">
              <a:defRPr sz="1500" b="0">
                <a:solidFill>
                  <a:srgbClr val="65716A"/>
                </a:solidFill>
                <a:latin typeface="Arial"/>
                <a:ea typeface="Arial"/>
                <a:cs typeface="Arial"/>
              </a:defRPr>
            </a:lvl2pPr>
            <a:lvl3pPr algn="l">
              <a:defRPr sz="1500" b="0">
                <a:solidFill>
                  <a:srgbClr val="65716A"/>
                </a:solidFill>
                <a:latin typeface="Arial"/>
                <a:ea typeface="Arial"/>
                <a:cs typeface="Arial"/>
              </a:defRPr>
            </a:lvl3pPr>
            <a:lvl4pPr algn="l">
              <a:defRPr sz="1500" b="0">
                <a:solidFill>
                  <a:srgbClr val="65716A"/>
                </a:solidFill>
                <a:latin typeface="Arial"/>
                <a:ea typeface="Arial"/>
                <a:cs typeface="Arial"/>
              </a:defRPr>
            </a:lvl4pPr>
            <a:lvl5pPr algn="l">
              <a:defRPr sz="1500" b="0">
                <a:solidFill>
                  <a:srgbClr val="65716A"/>
                </a:solidFill>
                <a:latin typeface="Arial"/>
                <a:ea typeface="Arial"/>
                <a:cs typeface="Arial"/>
              </a:defRPr>
            </a:lvl5pPr>
            <a:lvl6pPr algn="l">
              <a:defRPr sz="1500" b="0">
                <a:solidFill>
                  <a:srgbClr val="65716A"/>
                </a:solidFill>
                <a:latin typeface="Arial"/>
                <a:ea typeface="Arial"/>
                <a:cs typeface="Arial"/>
              </a:defRPr>
            </a:lvl6pPr>
            <a:lvl7pPr algn="l">
              <a:defRPr sz="1500" b="0">
                <a:solidFill>
                  <a:srgbClr val="65716A"/>
                </a:solidFill>
                <a:latin typeface="Arial"/>
                <a:ea typeface="Arial"/>
                <a:cs typeface="Arial"/>
              </a:defRPr>
            </a:lvl7pPr>
            <a:lvl8pPr algn="l">
              <a:defRPr sz="1500" b="0">
                <a:solidFill>
                  <a:srgbClr val="65716A"/>
                </a:solidFill>
                <a:latin typeface="Arial"/>
                <a:ea typeface="Arial"/>
                <a:cs typeface="Arial"/>
              </a:defRPr>
            </a:lvl8pPr>
            <a:lvl9pPr algn="l">
              <a:defRPr sz="1500" b="0">
                <a:solidFill>
                  <a:srgbClr val="65716A"/>
                </a:solidFill>
                <a:latin typeface="Arial"/>
                <a:ea typeface="Arial"/>
                <a:cs typeface="Arial"/>
              </a:defRPr>
            </a:lvl9pPr>
          </a:lstStyle>
          <a:p xmlns:a="http://schemas.openxmlformats.org/drawingml/2006/main">
            <a:pPr algn="l">
              <a:defRPr sz="1500" b="0">
                <a:solidFill>
                  <a:srgbClr val="65716A"/>
                </a:solidFill>
                <a:latin typeface="Arial"/>
                <a:ea typeface="Arial"/>
                <a:cs typeface="Arial"/>
              </a:defRPr>
            </a:pPr>
            <a:r>
              <a:rPr sz="1500" b="0">
                <a:solidFill>
                  <a:srgbClr val="65716A"/>
                </a:solidFill>
                <a:latin typeface="Arial"/>
                <a:ea typeface="Arial"/>
                <a:cs typeface="Arial"/>
              </a:rPr>
              <a:t>Offline training saves advisor_dataset.json and advisor_model.json. Prediction reads the saved model.</a:t>
            </a:r>
          </a:p>
        </p:txBody>
      </p:sp>
    </p:spTree>
    <p:extLst>
      <p:ext uri="{BB962C8B-B14F-4D97-AF65-F5344CB8AC3E}">
        <p14:creationId xmlns:p14="http://schemas.microsoft.com/office/powerpoint/2010/main" val="84361638"/>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31B5E1-CAE0-4920-BC26-93039789FC45}"/>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IMPLEMENTATION</a:t>
            </a:r>
          </a:p>
        </p:txBody>
      </p:sp>
      <p:sp>
        <p:nvSpPr>
          <p:cNvPr id="2" name="">
            <a:extLst xmlns:a="http://schemas.openxmlformats.org/drawingml/2006/main">
              <a:ext uri="{FF2B5EF4-FFF2-40B4-BE49-F238E27FC236}">
                <a16:creationId xmlns:a16="http://schemas.microsoft.com/office/drawing/2014/main" id="{8355E2CC-FD94-480E-8798-D7D59D1699C5}"/>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Simulator, algorithms and calculations</a:t>
            </a:r>
          </a:p>
        </p:txBody>
      </p:sp>
      <p:sp>
        <p:nvSpPr>
          <p:cNvPr id="3" name="">
            <a:extLst xmlns:a="http://schemas.openxmlformats.org/drawingml/2006/main">
              <a:ext uri="{FF2B5EF4-FFF2-40B4-BE49-F238E27FC236}">
                <a16:creationId xmlns:a16="http://schemas.microsoft.com/office/drawing/2014/main" id="{0838C2DB-6A42-4100-B701-FAA40E79D525}"/>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06E1A673-DC3D-46A3-AF27-646635D74CA4}"/>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3CF14C66-5912-4E5F-B78B-CCD6F6FBE370}"/>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127CB4AB-7D7A-4C75-B9EC-E41B9B876A6E}"/>
              </a:ext>
            </a:extLst>
          </p:cNvPr>
          <p:cNvSpPr>
            <a:spLocks xmlns:a="http://schemas.openxmlformats.org/drawingml/2006/main" noGrp="1"/>
          </p:cNvSpPr>
          <p:nvPr/>
        </p:nvSpPr>
        <p:spPr>
          <a:xfrm xmlns:a="http://schemas.openxmlformats.org/drawingml/2006/main">
            <a:off x="619125" y="15811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263B34"/>
                </a:solidFill>
                <a:latin typeface="Arial"/>
                <a:ea typeface="Arial"/>
                <a:cs typeface="Arial"/>
              </a:defRPr>
            </a:defPPr>
            <a:lvl1pPr algn="l">
              <a:defRPr sz="2025" b="0">
                <a:solidFill>
                  <a:srgbClr val="263B34"/>
                </a:solidFill>
                <a:latin typeface="Arial"/>
                <a:ea typeface="Arial"/>
                <a:cs typeface="Arial"/>
              </a:defRPr>
            </a:lvl1pPr>
            <a:lvl2pPr algn="l">
              <a:defRPr sz="2025" b="0">
                <a:solidFill>
                  <a:srgbClr val="263B34"/>
                </a:solidFill>
                <a:latin typeface="Arial"/>
                <a:ea typeface="Arial"/>
                <a:cs typeface="Arial"/>
              </a:defRPr>
            </a:lvl2pPr>
            <a:lvl3pPr algn="l">
              <a:defRPr sz="2025" b="0">
                <a:solidFill>
                  <a:srgbClr val="263B34"/>
                </a:solidFill>
                <a:latin typeface="Arial"/>
                <a:ea typeface="Arial"/>
                <a:cs typeface="Arial"/>
              </a:defRPr>
            </a:lvl3pPr>
            <a:lvl4pPr algn="l">
              <a:defRPr sz="2025" b="0">
                <a:solidFill>
                  <a:srgbClr val="263B34"/>
                </a:solidFill>
                <a:latin typeface="Arial"/>
                <a:ea typeface="Arial"/>
                <a:cs typeface="Arial"/>
              </a:defRPr>
            </a:lvl4pPr>
            <a:lvl5pPr algn="l">
              <a:defRPr sz="2025" b="0">
                <a:solidFill>
                  <a:srgbClr val="263B34"/>
                </a:solidFill>
                <a:latin typeface="Arial"/>
                <a:ea typeface="Arial"/>
                <a:cs typeface="Arial"/>
              </a:defRPr>
            </a:lvl5pPr>
            <a:lvl6pPr algn="l">
              <a:defRPr sz="2025" b="0">
                <a:solidFill>
                  <a:srgbClr val="263B34"/>
                </a:solidFill>
                <a:latin typeface="Arial"/>
                <a:ea typeface="Arial"/>
                <a:cs typeface="Arial"/>
              </a:defRPr>
            </a:lvl6pPr>
            <a:lvl7pPr algn="l">
              <a:defRPr sz="2025" b="0">
                <a:solidFill>
                  <a:srgbClr val="263B34"/>
                </a:solidFill>
                <a:latin typeface="Arial"/>
                <a:ea typeface="Arial"/>
                <a:cs typeface="Arial"/>
              </a:defRPr>
            </a:lvl7pPr>
            <a:lvl8pPr algn="l">
              <a:defRPr sz="2025" b="0">
                <a:solidFill>
                  <a:srgbClr val="263B34"/>
                </a:solidFill>
                <a:latin typeface="Arial"/>
                <a:ea typeface="Arial"/>
                <a:cs typeface="Arial"/>
              </a:defRPr>
            </a:lvl8pPr>
            <a:lvl9pPr algn="l">
              <a:defRPr sz="2025" b="0">
                <a:solidFill>
                  <a:srgbClr val="263B34"/>
                </a:solidFill>
                <a:latin typeface="Arial"/>
                <a:ea typeface="Arial"/>
                <a:cs typeface="Arial"/>
              </a:defRPr>
            </a:lvl9pPr>
          </a:lstStyle>
          <a:p xmlns:a="http://schemas.openxmlformats.org/drawingml/2006/main">
            <a:pPr algn="l">
              <a:defRPr sz="2025" b="0">
                <a:solidFill>
                  <a:srgbClr val="263B34"/>
                </a:solidFill>
                <a:latin typeface="Arial"/>
                <a:ea typeface="Arial"/>
                <a:cs typeface="Arial"/>
              </a:defRPr>
            </a:pPr>
            <a:r>
              <a:rPr sz="2025" b="0">
                <a:solidFill>
                  <a:srgbClr val="263B34"/>
                </a:solidFill>
                <a:latin typeface="Arial"/>
                <a:ea typeface="Arial"/>
                <a:cs typeface="Arial"/>
              </a:rPr>
              <a:t>The engine advances a numeric clock, admits arrivals, executes a selected job and repeats until every process completes.</a:t>
            </a:r>
          </a:p>
        </p:txBody>
      </p:sp>
      <p:graphicFrame>
        <p:nvGraphicFramePr>
          <p:cNvPr id="7" name="">
            <a:extLst xmlns:a="http://schemas.openxmlformats.org/drawingml/2006/main">
              <a:ext uri="{FF2B5EF4-FFF2-40B4-BE49-F238E27FC236}">
                <a16:creationId xmlns:a16="http://schemas.microsoft.com/office/drawing/2014/main" id="{7786C9D8-E721-48EA-A5C4-CBD4B6D934E8}"/>
              </a:ext>
            </a:extLst>
          </p:cNvPr>
          <p:cNvGraphicFramePr/>
          <p:nvPr/>
        </p:nvGraphicFramePr>
        <p:xfrm>
          <a:off xmlns:a="http://schemas.openxmlformats.org/drawingml/2006/main" x="619125" y="2552700"/>
          <a:ext xmlns:a="http://schemas.openxmlformats.org/drawingml/2006/main" cx="5429250" cy="2762250"/>
        </p:xfrm>
        <a:graphic xmlns:a="http://schemas.openxmlformats.org/drawingml/2006/main">
          <a:graphicData uri="http://schemas.openxmlformats.org/drawingml/2006/table">
            <a:tbl>
              <a:tblPr/>
              <a:tblGrid>
                <a:gridCol w="1714500"/>
                <a:gridCol w="3714750"/>
              </a:tblGrid>
              <a:tr h="552450">
                <a:tc>
                  <a:txBody>
                    <a:bodyPr lIns="114300" tIns="85725" rIns="95250" bIns="76200"/>
                    <a:lstStyle/>
                    <a:p>
                      <a:r>
                        <a:rPr sz="1650" b="1">
                          <a:solidFill>
                            <a:srgbClr val="FFFFFF"/>
                          </a:solidFill>
                          <a:latin typeface="Arial"/>
                          <a:ea typeface="Arial"/>
                          <a:cs typeface="Arial"/>
                        </a:rPr>
                        <a:t>Policy</a:t>
                      </a:r>
                    </a:p>
                  </a:txBody>
                  <a:tcPr marL="91440" marR="91440" marT="45720" marB="45720" anchor="ctr">
                    <a:lnL w="9525">
                      <a:solidFill>
                        <a:srgbClr val="D8DED5"/>
                      </a:solidFill>
                      <a:prstDash val="solid"/>
                    </a:lnL>
                    <a:lnR w="9525">
                      <a:solidFill>
                        <a:srgbClr val="D8DED5"/>
                      </a:solidFill>
                      <a:prstDash val="solid"/>
                    </a:lnR>
                    <a:lnT w="9525">
                      <a:solidFill>
                        <a:srgbClr val="D8DED5"/>
                      </a:solidFill>
                      <a:prstDash val="solid"/>
                    </a:lnT>
                    <a:lnB w="9525">
                      <a:solidFill>
                        <a:srgbClr val="D8DED5"/>
                      </a:solidFill>
                      <a:prstDash val="solid"/>
                    </a:lnB>
                    <a:solidFill>
                      <a:srgbClr val="315F4C"/>
                    </a:solidFill>
                  </a:tcPr>
                </a:tc>
                <a:tc>
                  <a:txBody>
                    <a:bodyPr lIns="114300" tIns="85725" rIns="95250" bIns="76200"/>
                    <a:lstStyle/>
                    <a:p>
                      <a:r>
                        <a:rPr sz="1650" b="1">
                          <a:solidFill>
                            <a:srgbClr val="FFFFFF"/>
                          </a:solidFill>
                          <a:latin typeface="Arial"/>
                          <a:ea typeface="Arial"/>
                          <a:cs typeface="Arial"/>
                        </a:rPr>
                        <a:t>How the next ready job is selected</a:t>
                      </a:r>
                    </a:p>
                  </a:txBody>
                  <a:tcPr marL="91440" marR="91440" marT="45720" marB="45720" anchor="ctr">
                    <a:lnR w="9525">
                      <a:solidFill>
                        <a:srgbClr val="D8DED5"/>
                      </a:solidFill>
                      <a:prstDash val="solid"/>
                    </a:lnR>
                    <a:lnT w="9525">
                      <a:solidFill>
                        <a:srgbClr val="D8DED5"/>
                      </a:solidFill>
                      <a:prstDash val="solid"/>
                    </a:lnT>
                    <a:lnB w="9525">
                      <a:solidFill>
                        <a:srgbClr val="D8DED5"/>
                      </a:solidFill>
                      <a:prstDash val="solid"/>
                    </a:lnB>
                    <a:solidFill>
                      <a:srgbClr val="315F4C"/>
                    </a:solidFill>
                  </a:tcPr>
                </a:tc>
              </a:tr>
              <a:tr h="552450">
                <a:tc>
                  <a:txBody>
                    <a:bodyPr lIns="114300" tIns="85725" rIns="95250" bIns="76200"/>
                    <a:lstStyle/>
                    <a:p>
                      <a:r>
                        <a:rPr sz="1725" b="0">
                          <a:solidFill>
                            <a:srgbClr val="263B34"/>
                          </a:solidFill>
                          <a:latin typeface="Arial"/>
                          <a:ea typeface="Arial"/>
                          <a:cs typeface="Arial"/>
                        </a:rPr>
                        <a:t>FCFS</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FFFFF"/>
                    </a:solidFill>
                  </a:tcPr>
                </a:tc>
                <a:tc>
                  <a:txBody>
                    <a:bodyPr lIns="114300" tIns="85725" rIns="95250" bIns="76200"/>
                    <a:lstStyle/>
                    <a:p>
                      <a:r>
                        <a:rPr sz="1725" b="0">
                          <a:solidFill>
                            <a:srgbClr val="263B34"/>
                          </a:solidFill>
                          <a:latin typeface="Arial"/>
                          <a:ea typeface="Arial"/>
                          <a:cs typeface="Arial"/>
                        </a:rPr>
                        <a:t>Arrival order</a:t>
                      </a:r>
                    </a:p>
                  </a:txBody>
                  <a:tcPr marL="91440" marR="91440" marT="45720" marB="45720" anchor="ctr">
                    <a:lnR w="9525">
                      <a:solidFill>
                        <a:srgbClr val="D8DED5"/>
                      </a:solidFill>
                      <a:prstDash val="solid"/>
                    </a:lnR>
                    <a:lnB w="9525">
                      <a:solidFill>
                        <a:srgbClr val="D8DED5"/>
                      </a:solidFill>
                      <a:prstDash val="solid"/>
                    </a:lnB>
                    <a:solidFill>
                      <a:srgbClr val="FFFFFF"/>
                    </a:solidFill>
                  </a:tcPr>
                </a:tc>
              </a:tr>
              <a:tr h="552450">
                <a:tc>
                  <a:txBody>
                    <a:bodyPr lIns="114300" tIns="85725" rIns="95250" bIns="76200"/>
                    <a:lstStyle/>
                    <a:p>
                      <a:r>
                        <a:rPr sz="1725" b="0">
                          <a:solidFill>
                            <a:srgbClr val="263B34"/>
                          </a:solidFill>
                          <a:latin typeface="Arial"/>
                          <a:ea typeface="Arial"/>
                          <a:cs typeface="Arial"/>
                        </a:rPr>
                        <a:t>SJF</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0F3EB"/>
                    </a:solidFill>
                  </a:tcPr>
                </a:tc>
                <a:tc>
                  <a:txBody>
                    <a:bodyPr lIns="114300" tIns="85725" rIns="95250" bIns="76200"/>
                    <a:lstStyle/>
                    <a:p>
                      <a:r>
                        <a:rPr sz="1725" b="0">
                          <a:solidFill>
                            <a:srgbClr val="263B34"/>
                          </a:solidFill>
                          <a:latin typeface="Arial"/>
                          <a:ea typeface="Arial"/>
                          <a:cs typeface="Arial"/>
                        </a:rPr>
                        <a:t>Smallest known CPU burst</a:t>
                      </a:r>
                    </a:p>
                  </a:txBody>
                  <a:tcPr marL="91440" marR="91440" marT="45720" marB="45720" anchor="ctr">
                    <a:lnR w="9525">
                      <a:solidFill>
                        <a:srgbClr val="D8DED5"/>
                      </a:solidFill>
                      <a:prstDash val="solid"/>
                    </a:lnR>
                    <a:lnB w="9525">
                      <a:solidFill>
                        <a:srgbClr val="D8DED5"/>
                      </a:solidFill>
                      <a:prstDash val="solid"/>
                    </a:lnB>
                    <a:solidFill>
                      <a:srgbClr val="F0F3EB"/>
                    </a:solidFill>
                  </a:tcPr>
                </a:tc>
              </a:tr>
              <a:tr h="552450">
                <a:tc>
                  <a:txBody>
                    <a:bodyPr lIns="114300" tIns="85725" rIns="95250" bIns="76200"/>
                    <a:lstStyle/>
                    <a:p>
                      <a:r>
                        <a:rPr sz="1725" b="0">
                          <a:solidFill>
                            <a:srgbClr val="263B34"/>
                          </a:solidFill>
                          <a:latin typeface="Arial"/>
                          <a:ea typeface="Arial"/>
                          <a:cs typeface="Arial"/>
                        </a:rPr>
                        <a:t>Priority</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FFFFF"/>
                    </a:solidFill>
                  </a:tcPr>
                </a:tc>
                <a:tc>
                  <a:txBody>
                    <a:bodyPr lIns="114300" tIns="85725" rIns="95250" bIns="76200"/>
                    <a:lstStyle/>
                    <a:p>
                      <a:r>
                        <a:rPr sz="1725" b="0">
                          <a:solidFill>
                            <a:srgbClr val="263B34"/>
                          </a:solidFill>
                          <a:latin typeface="Arial"/>
                          <a:ea typeface="Arial"/>
                          <a:cs typeface="Arial"/>
                        </a:rPr>
                        <a:t>Smallest priority number</a:t>
                      </a:r>
                    </a:p>
                  </a:txBody>
                  <a:tcPr marL="91440" marR="91440" marT="45720" marB="45720" anchor="ctr">
                    <a:lnR w="9525">
                      <a:solidFill>
                        <a:srgbClr val="D8DED5"/>
                      </a:solidFill>
                      <a:prstDash val="solid"/>
                    </a:lnR>
                    <a:lnB w="9525">
                      <a:solidFill>
                        <a:srgbClr val="D8DED5"/>
                      </a:solidFill>
                      <a:prstDash val="solid"/>
                    </a:lnB>
                    <a:solidFill>
                      <a:srgbClr val="FFFFFF"/>
                    </a:solidFill>
                  </a:tcPr>
                </a:tc>
              </a:tr>
              <a:tr h="552450">
                <a:tc>
                  <a:txBody>
                    <a:bodyPr lIns="114300" tIns="85725" rIns="95250" bIns="76200"/>
                    <a:lstStyle/>
                    <a:p>
                      <a:r>
                        <a:rPr sz="1725" b="0">
                          <a:solidFill>
                            <a:srgbClr val="263B34"/>
                          </a:solidFill>
                          <a:latin typeface="Arial"/>
                          <a:ea typeface="Arial"/>
                          <a:cs typeface="Arial"/>
                        </a:rPr>
                        <a:t>Round Robin</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0F3EB"/>
                    </a:solidFill>
                  </a:tcPr>
                </a:tc>
                <a:tc>
                  <a:txBody>
                    <a:bodyPr lIns="114300" tIns="85725" rIns="95250" bIns="76200"/>
                    <a:lstStyle/>
                    <a:p>
                      <a:r>
                        <a:rPr sz="1725" b="0">
                          <a:solidFill>
                            <a:srgbClr val="263B34"/>
                          </a:solidFill>
                          <a:latin typeface="Arial"/>
                          <a:ea typeface="Arial"/>
                          <a:cs typeface="Arial"/>
                        </a:rPr>
                        <a:t>Front of queue, up to the quantum</a:t>
                      </a:r>
                    </a:p>
                  </a:txBody>
                  <a:tcPr marL="91440" marR="91440" marT="45720" marB="45720" anchor="ctr">
                    <a:lnR w="9525">
                      <a:solidFill>
                        <a:srgbClr val="D8DED5"/>
                      </a:solidFill>
                      <a:prstDash val="solid"/>
                    </a:lnR>
                    <a:lnB w="9525">
                      <a:solidFill>
                        <a:srgbClr val="D8DED5"/>
                      </a:solidFill>
                      <a:prstDash val="solid"/>
                    </a:lnB>
                    <a:solidFill>
                      <a:srgbClr val="F0F3EB"/>
                    </a:solidFill>
                  </a:tcPr>
                </a:tc>
              </a:tr>
            </a:tbl>
          </a:graphicData>
        </a:graphic>
      </p:graphicFrame>
      <p:sp>
        <p:nvSpPr>
          <p:cNvPr id="8" name="">
            <a:extLst xmlns:a="http://schemas.openxmlformats.org/drawingml/2006/main">
              <a:ext uri="{FF2B5EF4-FFF2-40B4-BE49-F238E27FC236}">
                <a16:creationId xmlns:a16="http://schemas.microsoft.com/office/drawing/2014/main" id="{169102AE-08CD-4B9F-A6D4-9FBCFE3B1CE8}"/>
              </a:ext>
            </a:extLst>
          </p:cNvPr>
          <p:cNvSpPr>
            <a:spLocks xmlns:a="http://schemas.openxmlformats.org/drawingml/2006/main" noGrp="1"/>
          </p:cNvSpPr>
          <p:nvPr/>
        </p:nvSpPr>
        <p:spPr>
          <a:xfrm xmlns:a="http://schemas.openxmlformats.org/drawingml/2006/main">
            <a:off x="6715125" y="259080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315F4C"/>
                </a:solidFill>
                <a:latin typeface="Arial"/>
                <a:ea typeface="Arial"/>
                <a:cs typeface="Arial"/>
              </a:defRPr>
            </a:defPPr>
            <a:lvl1pPr algn="l">
              <a:defRPr sz="2100" b="1">
                <a:solidFill>
                  <a:srgbClr val="315F4C"/>
                </a:solidFill>
                <a:latin typeface="Arial"/>
                <a:ea typeface="Arial"/>
                <a:cs typeface="Arial"/>
              </a:defRPr>
            </a:lvl1pPr>
            <a:lvl2pPr algn="l">
              <a:defRPr sz="2100" b="1">
                <a:solidFill>
                  <a:srgbClr val="315F4C"/>
                </a:solidFill>
                <a:latin typeface="Arial"/>
                <a:ea typeface="Arial"/>
                <a:cs typeface="Arial"/>
              </a:defRPr>
            </a:lvl2pPr>
            <a:lvl3pPr algn="l">
              <a:defRPr sz="2100" b="1">
                <a:solidFill>
                  <a:srgbClr val="315F4C"/>
                </a:solidFill>
                <a:latin typeface="Arial"/>
                <a:ea typeface="Arial"/>
                <a:cs typeface="Arial"/>
              </a:defRPr>
            </a:lvl3pPr>
            <a:lvl4pPr algn="l">
              <a:defRPr sz="2100" b="1">
                <a:solidFill>
                  <a:srgbClr val="315F4C"/>
                </a:solidFill>
                <a:latin typeface="Arial"/>
                <a:ea typeface="Arial"/>
                <a:cs typeface="Arial"/>
              </a:defRPr>
            </a:lvl4pPr>
            <a:lvl5pPr algn="l">
              <a:defRPr sz="2100" b="1">
                <a:solidFill>
                  <a:srgbClr val="315F4C"/>
                </a:solidFill>
                <a:latin typeface="Arial"/>
                <a:ea typeface="Arial"/>
                <a:cs typeface="Arial"/>
              </a:defRPr>
            </a:lvl5pPr>
            <a:lvl6pPr algn="l">
              <a:defRPr sz="2100" b="1">
                <a:solidFill>
                  <a:srgbClr val="315F4C"/>
                </a:solidFill>
                <a:latin typeface="Arial"/>
                <a:ea typeface="Arial"/>
                <a:cs typeface="Arial"/>
              </a:defRPr>
            </a:lvl6pPr>
            <a:lvl7pPr algn="l">
              <a:defRPr sz="2100" b="1">
                <a:solidFill>
                  <a:srgbClr val="315F4C"/>
                </a:solidFill>
                <a:latin typeface="Arial"/>
                <a:ea typeface="Arial"/>
                <a:cs typeface="Arial"/>
              </a:defRPr>
            </a:lvl7pPr>
            <a:lvl8pPr algn="l">
              <a:defRPr sz="2100" b="1">
                <a:solidFill>
                  <a:srgbClr val="315F4C"/>
                </a:solidFill>
                <a:latin typeface="Arial"/>
                <a:ea typeface="Arial"/>
                <a:cs typeface="Arial"/>
              </a:defRPr>
            </a:lvl8pPr>
            <a:lvl9pPr algn="l">
              <a:defRPr sz="2100" b="1">
                <a:solidFill>
                  <a:srgbClr val="315F4C"/>
                </a:solidFill>
                <a:latin typeface="Arial"/>
                <a:ea typeface="Arial"/>
                <a:cs typeface="Arial"/>
              </a:defRPr>
            </a:lvl9pPr>
          </a:lstStyle>
          <a:p xmlns:a="http://schemas.openxmlformats.org/drawingml/2006/main">
            <a:pPr algn="l">
              <a:defRPr sz="2100" b="1">
                <a:solidFill>
                  <a:srgbClr val="315F4C"/>
                </a:solidFill>
                <a:latin typeface="Arial"/>
                <a:ea typeface="Arial"/>
                <a:cs typeface="Arial"/>
              </a:defRPr>
            </a:pPr>
            <a:r>
              <a:rPr sz="2100" b="1">
                <a:solidFill>
                  <a:srgbClr val="315F4C"/>
                </a:solidFill>
                <a:latin typeface="Arial"/>
                <a:ea typeface="Arial"/>
                <a:cs typeface="Arial"/>
              </a:rPr>
              <a:t>Worked example: P2</a:t>
            </a:r>
          </a:p>
        </p:txBody>
      </p:sp>
      <p:sp>
        <p:nvSpPr>
          <p:cNvPr id="9" name="">
            <a:extLst xmlns:a="http://schemas.openxmlformats.org/drawingml/2006/main">
              <a:ext uri="{FF2B5EF4-FFF2-40B4-BE49-F238E27FC236}">
                <a16:creationId xmlns:a16="http://schemas.microsoft.com/office/drawing/2014/main" id="{4B51C0B5-994C-4E0F-969B-B1C219FD4718}"/>
              </a:ext>
            </a:extLst>
          </p:cNvPr>
          <p:cNvSpPr>
            <a:spLocks xmlns:a="http://schemas.openxmlformats.org/drawingml/2006/main" noGrp="1"/>
          </p:cNvSpPr>
          <p:nvPr/>
        </p:nvSpPr>
        <p:spPr>
          <a:xfrm xmlns:a="http://schemas.openxmlformats.org/drawingml/2006/main">
            <a:off x="6715125" y="309562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Arrival 1, burst 4</a:t>
            </a:r>
          </a:p>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First start 2, completion 11</a:t>
            </a:r>
          </a:p>
        </p:txBody>
      </p:sp>
      <p:sp>
        <p:nvSpPr>
          <p:cNvPr id="10" name="">
            <a:extLst xmlns:a="http://schemas.openxmlformats.org/drawingml/2006/main">
              <a:ext uri="{FF2B5EF4-FFF2-40B4-BE49-F238E27FC236}">
                <a16:creationId xmlns:a16="http://schemas.microsoft.com/office/drawing/2014/main" id="{767D14C4-4756-4D2A-B7E8-1E5201843F68}"/>
              </a:ext>
            </a:extLst>
          </p:cNvPr>
          <p:cNvSpPr>
            <a:spLocks xmlns:a="http://schemas.openxmlformats.org/drawingml/2006/main" noGrp="1"/>
          </p:cNvSpPr>
          <p:nvPr/>
        </p:nvSpPr>
        <p:spPr>
          <a:xfrm xmlns:a="http://schemas.openxmlformats.org/drawingml/2006/main">
            <a:off x="6715125"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263B34"/>
                </a:solidFill>
                <a:latin typeface="Arial"/>
                <a:ea typeface="Arial"/>
                <a:cs typeface="Arial"/>
              </a:defRPr>
            </a:defPPr>
            <a:lvl1pPr algn="l">
              <a:defRPr sz="2025" b="0">
                <a:solidFill>
                  <a:srgbClr val="263B34"/>
                </a:solidFill>
                <a:latin typeface="Arial"/>
                <a:ea typeface="Arial"/>
                <a:cs typeface="Arial"/>
              </a:defRPr>
            </a:lvl1pPr>
            <a:lvl2pPr algn="l">
              <a:defRPr sz="2025" b="0">
                <a:solidFill>
                  <a:srgbClr val="263B34"/>
                </a:solidFill>
                <a:latin typeface="Arial"/>
                <a:ea typeface="Arial"/>
                <a:cs typeface="Arial"/>
              </a:defRPr>
            </a:lvl2pPr>
            <a:lvl3pPr algn="l">
              <a:defRPr sz="2025" b="0">
                <a:solidFill>
                  <a:srgbClr val="263B34"/>
                </a:solidFill>
                <a:latin typeface="Arial"/>
                <a:ea typeface="Arial"/>
                <a:cs typeface="Arial"/>
              </a:defRPr>
            </a:lvl3pPr>
            <a:lvl4pPr algn="l">
              <a:defRPr sz="2025" b="0">
                <a:solidFill>
                  <a:srgbClr val="263B34"/>
                </a:solidFill>
                <a:latin typeface="Arial"/>
                <a:ea typeface="Arial"/>
                <a:cs typeface="Arial"/>
              </a:defRPr>
            </a:lvl4pPr>
            <a:lvl5pPr algn="l">
              <a:defRPr sz="2025" b="0">
                <a:solidFill>
                  <a:srgbClr val="263B34"/>
                </a:solidFill>
                <a:latin typeface="Arial"/>
                <a:ea typeface="Arial"/>
                <a:cs typeface="Arial"/>
              </a:defRPr>
            </a:lvl5pPr>
            <a:lvl6pPr algn="l">
              <a:defRPr sz="2025" b="0">
                <a:solidFill>
                  <a:srgbClr val="263B34"/>
                </a:solidFill>
                <a:latin typeface="Arial"/>
                <a:ea typeface="Arial"/>
                <a:cs typeface="Arial"/>
              </a:defRPr>
            </a:lvl6pPr>
            <a:lvl7pPr algn="l">
              <a:defRPr sz="2025" b="0">
                <a:solidFill>
                  <a:srgbClr val="263B34"/>
                </a:solidFill>
                <a:latin typeface="Arial"/>
                <a:ea typeface="Arial"/>
                <a:cs typeface="Arial"/>
              </a:defRPr>
            </a:lvl7pPr>
            <a:lvl8pPr algn="l">
              <a:defRPr sz="2025" b="0">
                <a:solidFill>
                  <a:srgbClr val="263B34"/>
                </a:solidFill>
                <a:latin typeface="Arial"/>
                <a:ea typeface="Arial"/>
                <a:cs typeface="Arial"/>
              </a:defRPr>
            </a:lvl8pPr>
            <a:lvl9pPr algn="l">
              <a:defRPr sz="2025" b="0">
                <a:solidFill>
                  <a:srgbClr val="263B34"/>
                </a:solidFill>
                <a:latin typeface="Arial"/>
                <a:ea typeface="Arial"/>
                <a:cs typeface="Arial"/>
              </a:defRPr>
            </a:lvl9pPr>
          </a:lstStyle>
          <a:p xmlns:a="http://schemas.openxmlformats.org/drawingml/2006/main">
            <a:pPr algn="l">
              <a:defRPr sz="2025" b="0">
                <a:solidFill>
                  <a:srgbClr val="263B34"/>
                </a:solidFill>
                <a:latin typeface="Arial"/>
                <a:ea typeface="Arial"/>
                <a:cs typeface="Arial"/>
              </a:defRPr>
            </a:pPr>
            <a:r>
              <a:rPr sz="2025" b="0">
                <a:solidFill>
                  <a:srgbClr val="263B34"/>
                </a:solidFill>
                <a:latin typeface="Arial"/>
                <a:ea typeface="Arial"/>
                <a:cs typeface="Arial"/>
              </a:rPr>
              <a:t>Response = 2 − 1 = 1</a:t>
            </a:r>
          </a:p>
          <a:p xmlns:a="http://schemas.openxmlformats.org/drawingml/2006/main">
            <a:pPr algn="l">
              <a:defRPr sz="2025" b="0">
                <a:solidFill>
                  <a:srgbClr val="263B34"/>
                </a:solidFill>
                <a:latin typeface="Arial"/>
                <a:ea typeface="Arial"/>
                <a:cs typeface="Arial"/>
              </a:defRPr>
            </a:pPr>
            <a:r>
              <a:rPr sz="2025" b="0">
                <a:solidFill>
                  <a:srgbClr val="263B34"/>
                </a:solidFill>
                <a:latin typeface="Arial"/>
                <a:ea typeface="Arial"/>
                <a:cs typeface="Arial"/>
              </a:rPr>
              <a:t>Turnaround = 11 − 1 = 10</a:t>
            </a:r>
          </a:p>
          <a:p xmlns:a="http://schemas.openxmlformats.org/drawingml/2006/main">
            <a:pPr algn="l">
              <a:defRPr sz="2025" b="0">
                <a:solidFill>
                  <a:srgbClr val="263B34"/>
                </a:solidFill>
                <a:latin typeface="Arial"/>
                <a:ea typeface="Arial"/>
                <a:cs typeface="Arial"/>
              </a:defRPr>
            </a:pPr>
            <a:r>
              <a:rPr sz="2025" b="0">
                <a:solidFill>
                  <a:srgbClr val="263B34"/>
                </a:solidFill>
                <a:latin typeface="Arial"/>
                <a:ea typeface="Arial"/>
                <a:cs typeface="Arial"/>
              </a:rPr>
              <a:t>Waiting = 10 − 4 = 6</a:t>
            </a:r>
          </a:p>
        </p:txBody>
      </p:sp>
      <p:sp>
        <p:nvSpPr>
          <p:cNvPr id="11" name="">
            <a:extLst xmlns:a="http://schemas.openxmlformats.org/drawingml/2006/main">
              <a:ext uri="{FF2B5EF4-FFF2-40B4-BE49-F238E27FC236}">
                <a16:creationId xmlns:a16="http://schemas.microsoft.com/office/drawing/2014/main" id="{3FF00865-A5FA-440F-8FAA-2335F6CA8628}"/>
              </a:ext>
            </a:extLst>
          </p:cNvPr>
          <p:cNvSpPr>
            <a:spLocks xmlns:a="http://schemas.openxmlformats.org/drawingml/2006/main" noGrp="1"/>
          </p:cNvSpPr>
          <p:nvPr/>
        </p:nvSpPr>
        <p:spPr>
          <a:xfrm xmlns:a="http://schemas.openxmlformats.org/drawingml/2006/main">
            <a:off x="609600" y="5810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5716A"/>
                </a:solidFill>
                <a:latin typeface="Arial"/>
                <a:ea typeface="Arial"/>
                <a:cs typeface="Arial"/>
              </a:defRPr>
            </a:defPPr>
            <a:lvl1pPr algn="l">
              <a:defRPr sz="1500" b="0">
                <a:solidFill>
                  <a:srgbClr val="65716A"/>
                </a:solidFill>
                <a:latin typeface="Arial"/>
                <a:ea typeface="Arial"/>
                <a:cs typeface="Arial"/>
              </a:defRPr>
            </a:lvl1pPr>
            <a:lvl2pPr algn="l">
              <a:defRPr sz="1500" b="0">
                <a:solidFill>
                  <a:srgbClr val="65716A"/>
                </a:solidFill>
                <a:latin typeface="Arial"/>
                <a:ea typeface="Arial"/>
                <a:cs typeface="Arial"/>
              </a:defRPr>
            </a:lvl2pPr>
            <a:lvl3pPr algn="l">
              <a:defRPr sz="1500" b="0">
                <a:solidFill>
                  <a:srgbClr val="65716A"/>
                </a:solidFill>
                <a:latin typeface="Arial"/>
                <a:ea typeface="Arial"/>
                <a:cs typeface="Arial"/>
              </a:defRPr>
            </a:lvl3pPr>
            <a:lvl4pPr algn="l">
              <a:defRPr sz="1500" b="0">
                <a:solidFill>
                  <a:srgbClr val="65716A"/>
                </a:solidFill>
                <a:latin typeface="Arial"/>
                <a:ea typeface="Arial"/>
                <a:cs typeface="Arial"/>
              </a:defRPr>
            </a:lvl4pPr>
            <a:lvl5pPr algn="l">
              <a:defRPr sz="1500" b="0">
                <a:solidFill>
                  <a:srgbClr val="65716A"/>
                </a:solidFill>
                <a:latin typeface="Arial"/>
                <a:ea typeface="Arial"/>
                <a:cs typeface="Arial"/>
              </a:defRPr>
            </a:lvl5pPr>
            <a:lvl6pPr algn="l">
              <a:defRPr sz="1500" b="0">
                <a:solidFill>
                  <a:srgbClr val="65716A"/>
                </a:solidFill>
                <a:latin typeface="Arial"/>
                <a:ea typeface="Arial"/>
                <a:cs typeface="Arial"/>
              </a:defRPr>
            </a:lvl6pPr>
            <a:lvl7pPr algn="l">
              <a:defRPr sz="1500" b="0">
                <a:solidFill>
                  <a:srgbClr val="65716A"/>
                </a:solidFill>
                <a:latin typeface="Arial"/>
                <a:ea typeface="Arial"/>
                <a:cs typeface="Arial"/>
              </a:defRPr>
            </a:lvl7pPr>
            <a:lvl8pPr algn="l">
              <a:defRPr sz="1500" b="0">
                <a:solidFill>
                  <a:srgbClr val="65716A"/>
                </a:solidFill>
                <a:latin typeface="Arial"/>
                <a:ea typeface="Arial"/>
                <a:cs typeface="Arial"/>
              </a:defRPr>
            </a:lvl8pPr>
            <a:lvl9pPr algn="l">
              <a:defRPr sz="1500" b="0">
                <a:solidFill>
                  <a:srgbClr val="65716A"/>
                </a:solidFill>
                <a:latin typeface="Arial"/>
                <a:ea typeface="Arial"/>
                <a:cs typeface="Arial"/>
              </a:defRPr>
            </a:lvl9pPr>
          </a:lstStyle>
          <a:p xmlns:a="http://schemas.openxmlformats.org/drawingml/2006/main">
            <a:pPr algn="l">
              <a:defRPr sz="1500" b="0">
                <a:solidFill>
                  <a:srgbClr val="65716A"/>
                </a:solidFill>
                <a:latin typeface="Arial"/>
                <a:ea typeface="Arial"/>
                <a:cs typeface="Arial"/>
              </a:defRPr>
            </a:pPr>
            <a:r>
              <a:rPr sz="1500" b="0">
                <a:solidFill>
                  <a:srgbClr val="65716A"/>
                </a:solidFill>
                <a:latin typeface="Arial"/>
                <a:ea typeface="Arial"/>
                <a:cs typeface="Arial"/>
              </a:rPr>
              <a:t>Response measures the delay to the first turn. Waiting includes all intervals spent ready but not running.</a:t>
            </a:r>
          </a:p>
        </p:txBody>
      </p:sp>
    </p:spTree>
    <p:extLst>
      <p:ext uri="{BB962C8B-B14F-4D97-AF65-F5344CB8AC3E}">
        <p14:creationId xmlns:p14="http://schemas.microsoft.com/office/powerpoint/2010/main" val="1531875719"/>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B09591-600A-4A93-849D-37049A6B14EB}"/>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AI IMPLEMENTATION</a:t>
            </a:r>
          </a:p>
        </p:txBody>
      </p:sp>
      <p:sp>
        <p:nvSpPr>
          <p:cNvPr id="2" name="">
            <a:extLst xmlns:a="http://schemas.openxmlformats.org/drawingml/2006/main">
              <a:ext uri="{FF2B5EF4-FFF2-40B4-BE49-F238E27FC236}">
                <a16:creationId xmlns:a16="http://schemas.microsoft.com/office/drawing/2014/main" id="{CAA419D0-6F6F-4FDD-930F-141C6082F2DF}"/>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Trained AI scheduler advisor</a:t>
            </a:r>
          </a:p>
        </p:txBody>
      </p:sp>
      <p:sp>
        <p:nvSpPr>
          <p:cNvPr id="3" name="">
            <a:extLst xmlns:a="http://schemas.openxmlformats.org/drawingml/2006/main">
              <a:ext uri="{FF2B5EF4-FFF2-40B4-BE49-F238E27FC236}">
                <a16:creationId xmlns:a16="http://schemas.microsoft.com/office/drawing/2014/main" id="{C181284B-BEDA-41F5-B64F-4CEFB1157152}"/>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18BF53CC-8EB3-4E69-8D62-C9E5577F0E95}"/>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A78B0BEC-6ADC-411F-A7EB-09B58D7A2115}"/>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A0AECCAD-B673-444F-AADB-27117A0B33CF}"/>
              </a:ext>
            </a:extLst>
          </p:cNvPr>
          <p:cNvGraphicFramePr/>
          <p:nvPr/>
        </p:nvGraphicFramePr>
        <p:xfrm>
          <a:off xmlns:a="http://schemas.openxmlformats.org/drawingml/2006/main" x="619125" y="1581150"/>
          <a:ext xmlns:a="http://schemas.openxmlformats.org/drawingml/2006/main" cx="10953750" cy="3190875"/>
        </p:xfrm>
        <a:graphic xmlns:a="http://schemas.openxmlformats.org/drawingml/2006/main">
          <a:graphicData uri="http://schemas.openxmlformats.org/drawingml/2006/table">
            <a:tbl>
              <a:tblPr/>
              <a:tblGrid>
                <a:gridCol w="2667000"/>
                <a:gridCol w="8286750"/>
              </a:tblGrid>
              <a:tr h="638175">
                <a:tc>
                  <a:txBody>
                    <a:bodyPr lIns="114300" tIns="85725" rIns="95250" bIns="76200"/>
                    <a:lstStyle/>
                    <a:p>
                      <a:r>
                        <a:rPr sz="1650" b="1">
                          <a:solidFill>
                            <a:srgbClr val="FFFFFF"/>
                          </a:solidFill>
                          <a:latin typeface="Arial"/>
                          <a:ea typeface="Arial"/>
                          <a:cs typeface="Arial"/>
                        </a:rPr>
                        <a:t>Training stage</a:t>
                      </a:r>
                    </a:p>
                  </a:txBody>
                  <a:tcPr marL="91440" marR="91440" marT="45720" marB="45720" anchor="ctr">
                    <a:lnL w="9525">
                      <a:solidFill>
                        <a:srgbClr val="D8DED5"/>
                      </a:solidFill>
                      <a:prstDash val="solid"/>
                    </a:lnL>
                    <a:lnR w="9525">
                      <a:solidFill>
                        <a:srgbClr val="D8DED5"/>
                      </a:solidFill>
                      <a:prstDash val="solid"/>
                    </a:lnR>
                    <a:lnT w="9525">
                      <a:solidFill>
                        <a:srgbClr val="D8DED5"/>
                      </a:solidFill>
                      <a:prstDash val="solid"/>
                    </a:lnT>
                    <a:lnB w="9525">
                      <a:solidFill>
                        <a:srgbClr val="D8DED5"/>
                      </a:solidFill>
                      <a:prstDash val="solid"/>
                    </a:lnB>
                    <a:solidFill>
                      <a:srgbClr val="315F4C"/>
                    </a:solidFill>
                  </a:tcPr>
                </a:tc>
                <a:tc>
                  <a:txBody>
                    <a:bodyPr lIns="114300" tIns="85725" rIns="95250" bIns="76200"/>
                    <a:lstStyle/>
                    <a:p>
                      <a:r>
                        <a:rPr sz="1650" b="1">
                          <a:solidFill>
                            <a:srgbClr val="FFFFFF"/>
                          </a:solidFill>
                          <a:latin typeface="Arial"/>
                          <a:ea typeface="Arial"/>
                          <a:cs typeface="Arial"/>
                        </a:rPr>
                        <a:t>What the code does</a:t>
                      </a:r>
                    </a:p>
                  </a:txBody>
                  <a:tcPr marL="91440" marR="91440" marT="45720" marB="45720" anchor="ctr">
                    <a:lnR w="9525">
                      <a:solidFill>
                        <a:srgbClr val="D8DED5"/>
                      </a:solidFill>
                      <a:prstDash val="solid"/>
                    </a:lnR>
                    <a:lnT w="9525">
                      <a:solidFill>
                        <a:srgbClr val="D8DED5"/>
                      </a:solidFill>
                      <a:prstDash val="solid"/>
                    </a:lnT>
                    <a:lnB w="9525">
                      <a:solidFill>
                        <a:srgbClr val="D8DED5"/>
                      </a:solidFill>
                      <a:prstDash val="solid"/>
                    </a:lnB>
                    <a:solidFill>
                      <a:srgbClr val="315F4C"/>
                    </a:solidFill>
                  </a:tcPr>
                </a:tc>
              </a:tr>
              <a:tr h="638175">
                <a:tc>
                  <a:txBody>
                    <a:bodyPr lIns="114300" tIns="85725" rIns="95250" bIns="76200"/>
                    <a:lstStyle/>
                    <a:p>
                      <a:r>
                        <a:rPr sz="1725" b="0">
                          <a:solidFill>
                            <a:srgbClr val="263B34"/>
                          </a:solidFill>
                          <a:latin typeface="Arial"/>
                          <a:ea typeface="Arial"/>
                          <a:cs typeface="Arial"/>
                        </a:rPr>
                        <a:t>Generate and label</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FFFFF"/>
                    </a:solidFill>
                  </a:tcPr>
                </a:tc>
                <a:tc>
                  <a:txBody>
                    <a:bodyPr lIns="114300" tIns="85725" rIns="95250" bIns="76200"/>
                    <a:lstStyle/>
                    <a:p>
                      <a:r>
                        <a:rPr sz="1725" b="0">
                          <a:solidFill>
                            <a:srgbClr val="263B34"/>
                          </a:solidFill>
                          <a:latin typeface="Arial"/>
                          <a:ea typeface="Arial"/>
                          <a:cs typeface="Arial"/>
                        </a:rPr>
                        <a:t>240 synthetic workloads. Best passing scheduler by average waiting, or NONE.</a:t>
                      </a:r>
                    </a:p>
                  </a:txBody>
                  <a:tcPr marL="91440" marR="91440" marT="45720" marB="45720" anchor="ctr">
                    <a:lnR w="9525">
                      <a:solidFill>
                        <a:srgbClr val="D8DED5"/>
                      </a:solidFill>
                      <a:prstDash val="solid"/>
                    </a:lnR>
                    <a:lnB w="9525">
                      <a:solidFill>
                        <a:srgbClr val="D8DED5"/>
                      </a:solidFill>
                      <a:prstDash val="solid"/>
                    </a:lnB>
                    <a:solidFill>
                      <a:srgbClr val="FFFFFF"/>
                    </a:solidFill>
                  </a:tcPr>
                </a:tc>
              </a:tr>
              <a:tr h="638175">
                <a:tc>
                  <a:txBody>
                    <a:bodyPr lIns="114300" tIns="85725" rIns="95250" bIns="76200"/>
                    <a:lstStyle/>
                    <a:p>
                      <a:r>
                        <a:rPr sz="1725" b="0">
                          <a:solidFill>
                            <a:srgbClr val="263B34"/>
                          </a:solidFill>
                          <a:latin typeface="Arial"/>
                          <a:ea typeface="Arial"/>
                          <a:cs typeface="Arial"/>
                        </a:rPr>
                        <a:t>Extract features</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0F3EB"/>
                    </a:solidFill>
                  </a:tcPr>
                </a:tc>
                <a:tc>
                  <a:txBody>
                    <a:bodyPr lIns="114300" tIns="85725" rIns="95250" bIns="76200"/>
                    <a:lstStyle/>
                    <a:p>
                      <a:r>
                        <a:rPr sz="1725" b="0">
                          <a:solidFill>
                            <a:srgbClr val="263B34"/>
                          </a:solidFill>
                          <a:latin typeface="Arial"/>
                          <a:ea typeface="Arial"/>
                          <a:cs typeface="Arial"/>
                        </a:rPr>
                        <a:t>17 numbers: burst and arrival statistics, target fraction, goal, quantum and cost.</a:t>
                      </a:r>
                    </a:p>
                  </a:txBody>
                  <a:tcPr marL="91440" marR="91440" marT="45720" marB="45720" anchor="ctr">
                    <a:lnR w="9525">
                      <a:solidFill>
                        <a:srgbClr val="D8DED5"/>
                      </a:solidFill>
                      <a:prstDash val="solid"/>
                    </a:lnR>
                    <a:lnB w="9525">
                      <a:solidFill>
                        <a:srgbClr val="D8DED5"/>
                      </a:solidFill>
                      <a:prstDash val="solid"/>
                    </a:lnB>
                    <a:solidFill>
                      <a:srgbClr val="F0F3EB"/>
                    </a:solidFill>
                  </a:tcPr>
                </a:tc>
              </a:tr>
              <a:tr h="638175">
                <a:tc>
                  <a:txBody>
                    <a:bodyPr lIns="114300" tIns="85725" rIns="95250" bIns="76200"/>
                    <a:lstStyle/>
                    <a:p>
                      <a:r>
                        <a:rPr sz="1725" b="0">
                          <a:solidFill>
                            <a:srgbClr val="263B34"/>
                          </a:solidFill>
                          <a:latin typeface="Arial"/>
                          <a:ea typeface="Arial"/>
                          <a:cs typeface="Arial"/>
                        </a:rPr>
                        <a:t>Learn and evaluate</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FFFFF"/>
                    </a:solidFill>
                  </a:tcPr>
                </a:tc>
                <a:tc>
                  <a:txBody>
                    <a:bodyPr lIns="114300" tIns="85725" rIns="95250" bIns="76200"/>
                    <a:lstStyle/>
                    <a:p>
                      <a:r>
                        <a:rPr sz="1725" b="0">
                          <a:solidFill>
                            <a:srgbClr val="263B34"/>
                          </a:solidFill>
                          <a:latin typeface="Arial"/>
                          <a:ea typeface="Arial"/>
                          <a:cs typeface="Arial"/>
                        </a:rPr>
                        <a:t>192 train / 48 test. Gini splits, maximum depth 5, minimum 5 samples per leaf.</a:t>
                      </a:r>
                    </a:p>
                  </a:txBody>
                  <a:tcPr marL="91440" marR="91440" marT="45720" marB="45720" anchor="ctr">
                    <a:lnR w="9525">
                      <a:solidFill>
                        <a:srgbClr val="D8DED5"/>
                      </a:solidFill>
                      <a:prstDash val="solid"/>
                    </a:lnR>
                    <a:lnB w="9525">
                      <a:solidFill>
                        <a:srgbClr val="D8DED5"/>
                      </a:solidFill>
                      <a:prstDash val="solid"/>
                    </a:lnB>
                    <a:solidFill>
                      <a:srgbClr val="FFFFFF"/>
                    </a:solidFill>
                  </a:tcPr>
                </a:tc>
              </a:tr>
              <a:tr h="638175">
                <a:tc>
                  <a:txBody>
                    <a:bodyPr lIns="114300" tIns="85725" rIns="95250" bIns="76200"/>
                    <a:lstStyle/>
                    <a:p>
                      <a:r>
                        <a:rPr sz="1725" b="0">
                          <a:solidFill>
                            <a:srgbClr val="263B34"/>
                          </a:solidFill>
                          <a:latin typeface="Arial"/>
                          <a:ea typeface="Arial"/>
                          <a:cs typeface="Arial"/>
                        </a:rPr>
                        <a:t>Save and predict</a:t>
                      </a:r>
                    </a:p>
                  </a:txBody>
                  <a:tcPr marL="91440" marR="91440" marT="45720" marB="45720" anchor="ctr">
                    <a:lnL w="9525">
                      <a:solidFill>
                        <a:srgbClr val="D8DED5"/>
                      </a:solidFill>
                      <a:prstDash val="solid"/>
                    </a:lnL>
                    <a:lnR w="9525">
                      <a:solidFill>
                        <a:srgbClr val="D8DED5"/>
                      </a:solidFill>
                      <a:prstDash val="solid"/>
                    </a:lnR>
                    <a:lnB w="9525">
                      <a:solidFill>
                        <a:srgbClr val="D8DED5"/>
                      </a:solidFill>
                      <a:prstDash val="solid"/>
                    </a:lnB>
                    <a:solidFill>
                      <a:srgbClr val="F0F3EB"/>
                    </a:solidFill>
                  </a:tcPr>
                </a:tc>
                <a:tc>
                  <a:txBody>
                    <a:bodyPr lIns="114300" tIns="85725" rIns="95250" bIns="76200"/>
                    <a:lstStyle/>
                    <a:p>
                      <a:r>
                        <a:rPr sz="1725" b="0">
                          <a:solidFill>
                            <a:srgbClr val="263B34"/>
                          </a:solidFill>
                          <a:latin typeface="Arial"/>
                          <a:ea typeface="Arial"/>
                          <a:cs typeface="Arial"/>
                        </a:rPr>
                        <a:t>Save the tree as JSON. Follow learned branches for each new workload.</a:t>
                      </a:r>
                    </a:p>
                  </a:txBody>
                  <a:tcPr marL="91440" marR="91440" marT="45720" marB="45720" anchor="ctr">
                    <a:lnR w="9525">
                      <a:solidFill>
                        <a:srgbClr val="D8DED5"/>
                      </a:solidFill>
                      <a:prstDash val="solid"/>
                    </a:lnR>
                    <a:lnB w="9525">
                      <a:solidFill>
                        <a:srgbClr val="D8DED5"/>
                      </a:solidFill>
                      <a:prstDash val="solid"/>
                    </a:lnB>
                    <a:solidFill>
                      <a:srgbClr val="F0F3EB"/>
                    </a:solidFill>
                  </a:tcPr>
                </a:tc>
              </a:tr>
            </a:tbl>
          </a:graphicData>
        </a:graphic>
      </p:graphicFrame>
      <p:sp>
        <p:nvSpPr>
          <p:cNvPr id="7" name="">
            <a:extLst xmlns:a="http://schemas.openxmlformats.org/drawingml/2006/main">
              <a:ext uri="{FF2B5EF4-FFF2-40B4-BE49-F238E27FC236}">
                <a16:creationId xmlns:a16="http://schemas.microsoft.com/office/drawing/2014/main" id="{C19A8E01-8CFE-4163-891F-8ADA7F2A86E1}"/>
              </a:ext>
            </a:extLst>
          </p:cNvPr>
          <p:cNvSpPr>
            <a:spLocks xmlns:a="http://schemas.openxmlformats.org/drawingml/2006/main" noGrp="1"/>
          </p:cNvSpPr>
          <p:nvPr/>
        </p:nvSpPr>
        <p:spPr>
          <a:xfrm xmlns:a="http://schemas.openxmlformats.org/drawingml/2006/main">
            <a:off x="619125" y="509587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75" b="1">
                <a:solidFill>
                  <a:srgbClr val="315F4C"/>
                </a:solidFill>
                <a:latin typeface="Arial"/>
                <a:ea typeface="Arial"/>
                <a:cs typeface="Arial"/>
              </a:defRPr>
            </a:defPPr>
            <a:lvl1pPr algn="l">
              <a:defRPr sz="2475" b="1">
                <a:solidFill>
                  <a:srgbClr val="315F4C"/>
                </a:solidFill>
                <a:latin typeface="Arial"/>
                <a:ea typeface="Arial"/>
                <a:cs typeface="Arial"/>
              </a:defRPr>
            </a:lvl1pPr>
            <a:lvl2pPr algn="l">
              <a:defRPr sz="2475" b="1">
                <a:solidFill>
                  <a:srgbClr val="315F4C"/>
                </a:solidFill>
                <a:latin typeface="Arial"/>
                <a:ea typeface="Arial"/>
                <a:cs typeface="Arial"/>
              </a:defRPr>
            </a:lvl2pPr>
            <a:lvl3pPr algn="l">
              <a:defRPr sz="2475" b="1">
                <a:solidFill>
                  <a:srgbClr val="315F4C"/>
                </a:solidFill>
                <a:latin typeface="Arial"/>
                <a:ea typeface="Arial"/>
                <a:cs typeface="Arial"/>
              </a:defRPr>
            </a:lvl3pPr>
            <a:lvl4pPr algn="l">
              <a:defRPr sz="2475" b="1">
                <a:solidFill>
                  <a:srgbClr val="315F4C"/>
                </a:solidFill>
                <a:latin typeface="Arial"/>
                <a:ea typeface="Arial"/>
                <a:cs typeface="Arial"/>
              </a:defRPr>
            </a:lvl4pPr>
            <a:lvl5pPr algn="l">
              <a:defRPr sz="2475" b="1">
                <a:solidFill>
                  <a:srgbClr val="315F4C"/>
                </a:solidFill>
                <a:latin typeface="Arial"/>
                <a:ea typeface="Arial"/>
                <a:cs typeface="Arial"/>
              </a:defRPr>
            </a:lvl5pPr>
            <a:lvl6pPr algn="l">
              <a:defRPr sz="2475" b="1">
                <a:solidFill>
                  <a:srgbClr val="315F4C"/>
                </a:solidFill>
                <a:latin typeface="Arial"/>
                <a:ea typeface="Arial"/>
                <a:cs typeface="Arial"/>
              </a:defRPr>
            </a:lvl6pPr>
            <a:lvl7pPr algn="l">
              <a:defRPr sz="2475" b="1">
                <a:solidFill>
                  <a:srgbClr val="315F4C"/>
                </a:solidFill>
                <a:latin typeface="Arial"/>
                <a:ea typeface="Arial"/>
                <a:cs typeface="Arial"/>
              </a:defRPr>
            </a:lvl7pPr>
            <a:lvl8pPr algn="l">
              <a:defRPr sz="2475" b="1">
                <a:solidFill>
                  <a:srgbClr val="315F4C"/>
                </a:solidFill>
                <a:latin typeface="Arial"/>
                <a:ea typeface="Arial"/>
                <a:cs typeface="Arial"/>
              </a:defRPr>
            </a:lvl8pPr>
            <a:lvl9pPr algn="l">
              <a:defRPr sz="2475" b="1">
                <a:solidFill>
                  <a:srgbClr val="315F4C"/>
                </a:solidFill>
                <a:latin typeface="Arial"/>
                <a:ea typeface="Arial"/>
                <a:cs typeface="Arial"/>
              </a:defRPr>
            </a:lvl9pPr>
          </a:lstStyle>
          <a:p xmlns:a="http://schemas.openxmlformats.org/drawingml/2006/main">
            <a:pPr algn="l">
              <a:defRPr sz="2475" b="1">
                <a:solidFill>
                  <a:srgbClr val="315F4C"/>
                </a:solidFill>
                <a:latin typeface="Arial"/>
                <a:ea typeface="Arial"/>
                <a:cs typeface="Arial"/>
              </a:defRPr>
            </a:pPr>
            <a:r>
              <a:rPr sz="2475" b="1">
                <a:solidFill>
                  <a:srgbClr val="315F4C"/>
                </a:solidFill>
                <a:latin typeface="Arial"/>
                <a:ea typeface="Arial"/>
                <a:cs typeface="Arial"/>
              </a:rPr>
              <a:t>32 / 48 correct = 66.7%</a:t>
            </a:r>
          </a:p>
        </p:txBody>
      </p:sp>
      <p:sp>
        <p:nvSpPr>
          <p:cNvPr id="8" name="">
            <a:extLst xmlns:a="http://schemas.openxmlformats.org/drawingml/2006/main">
              <a:ext uri="{FF2B5EF4-FFF2-40B4-BE49-F238E27FC236}">
                <a16:creationId xmlns:a16="http://schemas.microsoft.com/office/drawing/2014/main" id="{A5768F96-5933-4C07-80A7-2BE5FFCD6BA6}"/>
              </a:ext>
            </a:extLst>
          </p:cNvPr>
          <p:cNvSpPr>
            <a:spLocks xmlns:a="http://schemas.openxmlformats.org/drawingml/2006/main" noGrp="1"/>
          </p:cNvSpPr>
          <p:nvPr/>
        </p:nvSpPr>
        <p:spPr>
          <a:xfrm xmlns:a="http://schemas.openxmlformats.org/drawingml/2006/main">
            <a:off x="619125" y="5638800"/>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63B34"/>
                </a:solidFill>
                <a:latin typeface="Arial"/>
                <a:ea typeface="Arial"/>
                <a:cs typeface="Arial"/>
              </a:defRPr>
            </a:defPPr>
            <a:lvl1pPr algn="l">
              <a:defRPr sz="1800" b="0">
                <a:solidFill>
                  <a:srgbClr val="263B34"/>
                </a:solidFill>
                <a:latin typeface="Arial"/>
                <a:ea typeface="Arial"/>
                <a:cs typeface="Arial"/>
              </a:defRPr>
            </a:lvl1pPr>
            <a:lvl2pPr algn="l">
              <a:defRPr sz="1800" b="0">
                <a:solidFill>
                  <a:srgbClr val="263B34"/>
                </a:solidFill>
                <a:latin typeface="Arial"/>
                <a:ea typeface="Arial"/>
                <a:cs typeface="Arial"/>
              </a:defRPr>
            </a:lvl2pPr>
            <a:lvl3pPr algn="l">
              <a:defRPr sz="1800" b="0">
                <a:solidFill>
                  <a:srgbClr val="263B34"/>
                </a:solidFill>
                <a:latin typeface="Arial"/>
                <a:ea typeface="Arial"/>
                <a:cs typeface="Arial"/>
              </a:defRPr>
            </a:lvl3pPr>
            <a:lvl4pPr algn="l">
              <a:defRPr sz="1800" b="0">
                <a:solidFill>
                  <a:srgbClr val="263B34"/>
                </a:solidFill>
                <a:latin typeface="Arial"/>
                <a:ea typeface="Arial"/>
                <a:cs typeface="Arial"/>
              </a:defRPr>
            </a:lvl4pPr>
            <a:lvl5pPr algn="l">
              <a:defRPr sz="1800" b="0">
                <a:solidFill>
                  <a:srgbClr val="263B34"/>
                </a:solidFill>
                <a:latin typeface="Arial"/>
                <a:ea typeface="Arial"/>
                <a:cs typeface="Arial"/>
              </a:defRPr>
            </a:lvl5pPr>
            <a:lvl6pPr algn="l">
              <a:defRPr sz="1800" b="0">
                <a:solidFill>
                  <a:srgbClr val="263B34"/>
                </a:solidFill>
                <a:latin typeface="Arial"/>
                <a:ea typeface="Arial"/>
                <a:cs typeface="Arial"/>
              </a:defRPr>
            </a:lvl6pPr>
            <a:lvl7pPr algn="l">
              <a:defRPr sz="1800" b="0">
                <a:solidFill>
                  <a:srgbClr val="263B34"/>
                </a:solidFill>
                <a:latin typeface="Arial"/>
                <a:ea typeface="Arial"/>
                <a:cs typeface="Arial"/>
              </a:defRPr>
            </a:lvl7pPr>
            <a:lvl8pPr algn="l">
              <a:defRPr sz="1800" b="0">
                <a:solidFill>
                  <a:srgbClr val="263B34"/>
                </a:solidFill>
                <a:latin typeface="Arial"/>
                <a:ea typeface="Arial"/>
                <a:cs typeface="Arial"/>
              </a:defRPr>
            </a:lvl8pPr>
            <a:lvl9pPr algn="l">
              <a:defRPr sz="1800" b="0">
                <a:solidFill>
                  <a:srgbClr val="263B34"/>
                </a:solidFill>
                <a:latin typeface="Arial"/>
                <a:ea typeface="Arial"/>
                <a:cs typeface="Arial"/>
              </a:defRPr>
            </a:lvl9pPr>
          </a:lstStyle>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Majority baseline: 27 / 48 = 56.3%</a:t>
            </a:r>
          </a:p>
        </p:txBody>
      </p:sp>
      <p:sp>
        <p:nvSpPr>
          <p:cNvPr id="9" name="">
            <a:extLst xmlns:a="http://schemas.openxmlformats.org/drawingml/2006/main">
              <a:ext uri="{FF2B5EF4-FFF2-40B4-BE49-F238E27FC236}">
                <a16:creationId xmlns:a16="http://schemas.microsoft.com/office/drawing/2014/main" id="{88A347B0-ADBB-4B5C-B491-FC0286BE43D0}"/>
              </a:ext>
            </a:extLst>
          </p:cNvPr>
          <p:cNvSpPr>
            <a:spLocks xmlns:a="http://schemas.openxmlformats.org/drawingml/2006/main" noGrp="1"/>
          </p:cNvSpPr>
          <p:nvPr/>
        </p:nvSpPr>
        <p:spPr>
          <a:xfrm xmlns:a="http://schemas.openxmlformats.org/drawingml/2006/main">
            <a:off x="7191375" y="5086350"/>
            <a:ext cx="438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65716A"/>
                </a:solidFill>
                <a:latin typeface="Arial"/>
                <a:ea typeface="Arial"/>
                <a:cs typeface="Arial"/>
              </a:defRPr>
            </a:defPPr>
            <a:lvl1pPr algn="l">
              <a:defRPr sz="1725" b="0">
                <a:solidFill>
                  <a:srgbClr val="65716A"/>
                </a:solidFill>
                <a:latin typeface="Arial"/>
                <a:ea typeface="Arial"/>
                <a:cs typeface="Arial"/>
              </a:defRPr>
            </a:lvl1pPr>
            <a:lvl2pPr algn="l">
              <a:defRPr sz="1725" b="0">
                <a:solidFill>
                  <a:srgbClr val="65716A"/>
                </a:solidFill>
                <a:latin typeface="Arial"/>
                <a:ea typeface="Arial"/>
                <a:cs typeface="Arial"/>
              </a:defRPr>
            </a:lvl2pPr>
            <a:lvl3pPr algn="l">
              <a:defRPr sz="1725" b="0">
                <a:solidFill>
                  <a:srgbClr val="65716A"/>
                </a:solidFill>
                <a:latin typeface="Arial"/>
                <a:ea typeface="Arial"/>
                <a:cs typeface="Arial"/>
              </a:defRPr>
            </a:lvl3pPr>
            <a:lvl4pPr algn="l">
              <a:defRPr sz="1725" b="0">
                <a:solidFill>
                  <a:srgbClr val="65716A"/>
                </a:solidFill>
                <a:latin typeface="Arial"/>
                <a:ea typeface="Arial"/>
                <a:cs typeface="Arial"/>
              </a:defRPr>
            </a:lvl4pPr>
            <a:lvl5pPr algn="l">
              <a:defRPr sz="1725" b="0">
                <a:solidFill>
                  <a:srgbClr val="65716A"/>
                </a:solidFill>
                <a:latin typeface="Arial"/>
                <a:ea typeface="Arial"/>
                <a:cs typeface="Arial"/>
              </a:defRPr>
            </a:lvl5pPr>
            <a:lvl6pPr algn="l">
              <a:defRPr sz="1725" b="0">
                <a:solidFill>
                  <a:srgbClr val="65716A"/>
                </a:solidFill>
                <a:latin typeface="Arial"/>
                <a:ea typeface="Arial"/>
                <a:cs typeface="Arial"/>
              </a:defRPr>
            </a:lvl6pPr>
            <a:lvl7pPr algn="l">
              <a:defRPr sz="1725" b="0">
                <a:solidFill>
                  <a:srgbClr val="65716A"/>
                </a:solidFill>
                <a:latin typeface="Arial"/>
                <a:ea typeface="Arial"/>
                <a:cs typeface="Arial"/>
              </a:defRPr>
            </a:lvl7pPr>
            <a:lvl8pPr algn="l">
              <a:defRPr sz="1725" b="0">
                <a:solidFill>
                  <a:srgbClr val="65716A"/>
                </a:solidFill>
                <a:latin typeface="Arial"/>
                <a:ea typeface="Arial"/>
                <a:cs typeface="Arial"/>
              </a:defRPr>
            </a:lvl8pPr>
            <a:lvl9pPr algn="l">
              <a:defRPr sz="1725" b="0">
                <a:solidFill>
                  <a:srgbClr val="65716A"/>
                </a:solidFill>
                <a:latin typeface="Arial"/>
                <a:ea typeface="Arial"/>
                <a:cs typeface="Arial"/>
              </a:defRPr>
            </a:lvl9pPr>
          </a:lstStyle>
          <a:p xmlns:a="http://schemas.openxmlformats.org/drawingml/2006/main">
            <a:pPr algn="l">
              <a:defRPr sz="1725" b="0">
                <a:solidFill>
                  <a:srgbClr val="65716A"/>
                </a:solidFill>
                <a:latin typeface="Arial"/>
                <a:ea typeface="Arial"/>
                <a:cs typeface="Arial"/>
              </a:defRPr>
            </a:pPr>
            <a:r>
              <a:rPr sz="1725" b="0">
                <a:solidFill>
                  <a:srgbClr val="65716A"/>
                </a:solidFill>
                <a:latin typeface="Arial"/>
                <a:ea typeface="Arial"/>
                <a:cs typeface="Arial"/>
              </a:rPr>
              <a:t>Simulation checks each prediction.</a:t>
            </a:r>
          </a:p>
          <a:p xmlns:a="http://schemas.openxmlformats.org/drawingml/2006/main">
            <a:pPr algn="l">
              <a:defRPr sz="1725" b="0">
                <a:solidFill>
                  <a:srgbClr val="65716A"/>
                </a:solidFill>
                <a:latin typeface="Arial"/>
                <a:ea typeface="Arial"/>
                <a:cs typeface="Arial"/>
              </a:defRPr>
            </a:pPr>
            <a:r>
              <a:rPr sz="1725" b="0">
                <a:solidFill>
                  <a:srgbClr val="65716A"/>
                </a:solidFill>
                <a:latin typeface="Arial"/>
                <a:ea typeface="Arial"/>
                <a:cs typeface="Arial"/>
              </a:rPr>
              <a:t>No training label selects Priority,</a:t>
            </a:r>
          </a:p>
          <a:p xmlns:a="http://schemas.openxmlformats.org/drawingml/2006/main">
            <a:pPr algn="l">
              <a:defRPr sz="1725" b="0">
                <a:solidFill>
                  <a:srgbClr val="65716A"/>
                </a:solidFill>
                <a:latin typeface="Arial"/>
                <a:ea typeface="Arial"/>
                <a:cs typeface="Arial"/>
              </a:defRPr>
            </a:pPr>
            <a:r>
              <a:rPr sz="1725" b="0">
                <a:solidFill>
                  <a:srgbClr val="65716A"/>
                </a:solidFill>
                <a:latin typeface="Arial"/>
                <a:ea typeface="Arial"/>
                <a:cs typeface="Arial"/>
              </a:rPr>
              <a:t>so the model cannot recommend it.</a:t>
            </a:r>
          </a:p>
        </p:txBody>
      </p:sp>
    </p:spTree>
    <p:extLst>
      <p:ext uri="{BB962C8B-B14F-4D97-AF65-F5344CB8AC3E}">
        <p14:creationId xmlns:p14="http://schemas.microsoft.com/office/powerpoint/2010/main" val="1024627398"/>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C71383-5174-441E-A46C-532E08A9345C}"/>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AI IMPLEMENTATION</a:t>
            </a:r>
          </a:p>
        </p:txBody>
      </p:sp>
      <p:sp>
        <p:nvSpPr>
          <p:cNvPr id="2" name="">
            <a:extLst xmlns:a="http://schemas.openxmlformats.org/drawingml/2006/main">
              <a:ext uri="{FF2B5EF4-FFF2-40B4-BE49-F238E27FC236}">
                <a16:creationId xmlns:a16="http://schemas.microsoft.com/office/drawing/2014/main" id="{CAB4A213-893E-4F76-94C0-CE179ED989F1}"/>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Interactive AI study tutor</a:t>
            </a:r>
          </a:p>
        </p:txBody>
      </p:sp>
      <p:sp>
        <p:nvSpPr>
          <p:cNvPr id="3" name="">
            <a:extLst xmlns:a="http://schemas.openxmlformats.org/drawingml/2006/main">
              <a:ext uri="{FF2B5EF4-FFF2-40B4-BE49-F238E27FC236}">
                <a16:creationId xmlns:a16="http://schemas.microsoft.com/office/drawing/2014/main" id="{1357612B-7C33-4A25-8C51-7CE9BE5D02EF}"/>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3C3AFB58-4F2A-4127-A3D7-BA8B76C8C151}"/>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1EFB3B42-12D6-4538-A210-3A68F4739459}"/>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86B0340E-7AA3-4CC6-ABD2-ED7B87881BBD}"/>
              </a:ext>
            </a:extLst>
          </p:cNvPr>
          <p:cNvSpPr>
            <a:spLocks xmlns:a="http://schemas.openxmlformats.org/drawingml/2006/main" noGrp="1"/>
          </p:cNvSpPr>
          <p:nvPr/>
        </p:nvSpPr>
        <p:spPr>
          <a:xfrm xmlns:a="http://schemas.openxmlformats.org/drawingml/2006/main">
            <a:off x="619125" y="15716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Question matching</a:t>
            </a:r>
          </a:p>
        </p:txBody>
      </p:sp>
      <p:sp>
        <p:nvSpPr>
          <p:cNvPr id="7" name="">
            <a:extLst xmlns:a="http://schemas.openxmlformats.org/drawingml/2006/main">
              <a:ext uri="{FF2B5EF4-FFF2-40B4-BE49-F238E27FC236}">
                <a16:creationId xmlns:a16="http://schemas.microsoft.com/office/drawing/2014/main" id="{AC7A4EEA-A91E-47B2-979E-2749954D1B26}"/>
              </a:ext>
            </a:extLst>
          </p:cNvPr>
          <p:cNvSpPr>
            <a:spLocks xmlns:a="http://schemas.openxmlformats.org/drawingml/2006/main" noGrp="1"/>
          </p:cNvSpPr>
          <p:nvPr/>
        </p:nvSpPr>
        <p:spPr>
          <a:xfrm xmlns:a="http://schemas.openxmlformats.org/drawingml/2006/main">
            <a:off x="619125" y="19526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TF-IDF vectors and cosine similarity match questions to 21 local lesson topics using 113 example questions. Low-match questions receive a scoped fallback.</a:t>
            </a:r>
          </a:p>
        </p:txBody>
      </p:sp>
      <p:sp>
        <p:nvSpPr>
          <p:cNvPr id="8" name="">
            <a:extLst xmlns:a="http://schemas.openxmlformats.org/drawingml/2006/main">
              <a:ext uri="{FF2B5EF4-FFF2-40B4-BE49-F238E27FC236}">
                <a16:creationId xmlns:a16="http://schemas.microsoft.com/office/drawing/2014/main" id="{8795EC4C-4455-4337-80F6-45C0BD66DC13}"/>
              </a:ext>
            </a:extLst>
          </p:cNvPr>
          <p:cNvSpPr>
            <a:spLocks xmlns:a="http://schemas.openxmlformats.org/drawingml/2006/main" noGrp="1"/>
          </p:cNvSpPr>
          <p:nvPr/>
        </p:nvSpPr>
        <p:spPr>
          <a:xfrm xmlns:a="http://schemas.openxmlformats.org/drawingml/2006/main">
            <a:off x="619125" y="30003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Answers grounded in the experiment</a:t>
            </a:r>
          </a:p>
        </p:txBody>
      </p:sp>
      <p:sp>
        <p:nvSpPr>
          <p:cNvPr id="9" name="">
            <a:extLst xmlns:a="http://schemas.openxmlformats.org/drawingml/2006/main">
              <a:ext uri="{FF2B5EF4-FFF2-40B4-BE49-F238E27FC236}">
                <a16:creationId xmlns:a16="http://schemas.microsoft.com/office/drawing/2014/main" id="{177B55B3-F3E5-4399-8EE9-388F5EA2E808}"/>
              </a:ext>
            </a:extLst>
          </p:cNvPr>
          <p:cNvSpPr>
            <a:spLocks xmlns:a="http://schemas.openxmlformats.org/drawingml/2006/main" noGrp="1"/>
          </p:cNvSpPr>
          <p:nvPr/>
        </p:nvSpPr>
        <p:spPr>
          <a:xfrm xmlns:a="http://schemas.openxmlformats.org/drawingml/2006/main">
            <a:off x="619125" y="33813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The tutor reads a snapshot of jobs and settings, retrieves a lesson and calculates fresh numerical evidence. It shows timelines, process calculations and quantum comparisons.</a:t>
            </a:r>
          </a:p>
        </p:txBody>
      </p:sp>
      <p:sp>
        <p:nvSpPr>
          <p:cNvPr id="10" name="">
            <a:extLst xmlns:a="http://schemas.openxmlformats.org/drawingml/2006/main">
              <a:ext uri="{FF2B5EF4-FFF2-40B4-BE49-F238E27FC236}">
                <a16:creationId xmlns:a16="http://schemas.microsoft.com/office/drawing/2014/main" id="{6E26B20B-9F08-4525-9198-0949FE26905E}"/>
              </a:ext>
            </a:extLst>
          </p:cNvPr>
          <p:cNvSpPr>
            <a:spLocks xmlns:a="http://schemas.openxmlformats.org/drawingml/2006/main" noGrp="1"/>
          </p:cNvSpPr>
          <p:nvPr/>
        </p:nvSpPr>
        <p:spPr>
          <a:xfrm xmlns:a="http://schemas.openxmlformats.org/drawingml/2006/main">
            <a:off x="619125" y="4524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Example question: “Calculate P2 waiting time”</a:t>
            </a:r>
          </a:p>
        </p:txBody>
      </p:sp>
      <p:sp>
        <p:nvSpPr>
          <p:cNvPr id="11" name="">
            <a:extLst xmlns:a="http://schemas.openxmlformats.org/drawingml/2006/main">
              <a:ext uri="{FF2B5EF4-FFF2-40B4-BE49-F238E27FC236}">
                <a16:creationId xmlns:a16="http://schemas.microsoft.com/office/drawing/2014/main" id="{C5A2D45B-7C21-4A45-B56D-49E074E73BEF}"/>
              </a:ext>
            </a:extLst>
          </p:cNvPr>
          <p:cNvSpPr>
            <a:spLocks xmlns:a="http://schemas.openxmlformats.org/drawingml/2006/main" noGrp="1"/>
          </p:cNvSpPr>
          <p:nvPr/>
        </p:nvSpPr>
        <p:spPr>
          <a:xfrm xmlns:a="http://schemas.openxmlformats.org/drawingml/2006/main">
            <a:off x="619125" y="50292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263B34"/>
                </a:solidFill>
                <a:latin typeface="Arial"/>
                <a:ea typeface="Arial"/>
                <a:cs typeface="Arial"/>
              </a:defRPr>
            </a:defPPr>
            <a:lvl1pPr algn="l">
              <a:defRPr sz="1950" b="0">
                <a:solidFill>
                  <a:srgbClr val="263B34"/>
                </a:solidFill>
                <a:latin typeface="Arial"/>
                <a:ea typeface="Arial"/>
                <a:cs typeface="Arial"/>
              </a:defRPr>
            </a:lvl1pPr>
            <a:lvl2pPr algn="l">
              <a:defRPr sz="1950" b="0">
                <a:solidFill>
                  <a:srgbClr val="263B34"/>
                </a:solidFill>
                <a:latin typeface="Arial"/>
                <a:ea typeface="Arial"/>
                <a:cs typeface="Arial"/>
              </a:defRPr>
            </a:lvl2pPr>
            <a:lvl3pPr algn="l">
              <a:defRPr sz="1950" b="0">
                <a:solidFill>
                  <a:srgbClr val="263B34"/>
                </a:solidFill>
                <a:latin typeface="Arial"/>
                <a:ea typeface="Arial"/>
                <a:cs typeface="Arial"/>
              </a:defRPr>
            </a:lvl3pPr>
            <a:lvl4pPr algn="l">
              <a:defRPr sz="1950" b="0">
                <a:solidFill>
                  <a:srgbClr val="263B34"/>
                </a:solidFill>
                <a:latin typeface="Arial"/>
                <a:ea typeface="Arial"/>
                <a:cs typeface="Arial"/>
              </a:defRPr>
            </a:lvl4pPr>
            <a:lvl5pPr algn="l">
              <a:defRPr sz="1950" b="0">
                <a:solidFill>
                  <a:srgbClr val="263B34"/>
                </a:solidFill>
                <a:latin typeface="Arial"/>
                <a:ea typeface="Arial"/>
                <a:cs typeface="Arial"/>
              </a:defRPr>
            </a:lvl5pPr>
            <a:lvl6pPr algn="l">
              <a:defRPr sz="1950" b="0">
                <a:solidFill>
                  <a:srgbClr val="263B34"/>
                </a:solidFill>
                <a:latin typeface="Arial"/>
                <a:ea typeface="Arial"/>
                <a:cs typeface="Arial"/>
              </a:defRPr>
            </a:lvl6pPr>
            <a:lvl7pPr algn="l">
              <a:defRPr sz="1950" b="0">
                <a:solidFill>
                  <a:srgbClr val="263B34"/>
                </a:solidFill>
                <a:latin typeface="Arial"/>
                <a:ea typeface="Arial"/>
                <a:cs typeface="Arial"/>
              </a:defRPr>
            </a:lvl7pPr>
            <a:lvl8pPr algn="l">
              <a:defRPr sz="1950" b="0">
                <a:solidFill>
                  <a:srgbClr val="263B34"/>
                </a:solidFill>
                <a:latin typeface="Arial"/>
                <a:ea typeface="Arial"/>
                <a:cs typeface="Arial"/>
              </a:defRPr>
            </a:lvl8pPr>
            <a:lvl9pPr algn="l">
              <a:defRPr sz="1950" b="0">
                <a:solidFill>
                  <a:srgbClr val="263B34"/>
                </a:solidFill>
                <a:latin typeface="Arial"/>
                <a:ea typeface="Arial"/>
                <a:cs typeface="Arial"/>
              </a:defRPr>
            </a:lvl9pPr>
          </a:lstStyle>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With the review workload at quantum 2: turnaround = 11 − 1 = 10,</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then waiting = 10 − 4 = 6 units.</a:t>
            </a:r>
          </a:p>
        </p:txBody>
      </p:sp>
      <p:sp>
        <p:nvSpPr>
          <p:cNvPr id="12" name="">
            <a:extLst xmlns:a="http://schemas.openxmlformats.org/drawingml/2006/main">
              <a:ext uri="{FF2B5EF4-FFF2-40B4-BE49-F238E27FC236}">
                <a16:creationId xmlns:a16="http://schemas.microsoft.com/office/drawing/2014/main" id="{61EF5E15-7A6A-4A08-8E5C-B04149288511}"/>
              </a:ext>
            </a:extLst>
          </p:cNvPr>
          <p:cNvSpPr>
            <a:spLocks xmlns:a="http://schemas.openxmlformats.org/drawingml/2006/main" noGrp="1"/>
          </p:cNvSpPr>
          <p:nvPr/>
        </p:nvSpPr>
        <p:spPr>
          <a:xfrm xmlns:a="http://schemas.openxmlformats.org/drawingml/2006/main">
            <a:off x="609600" y="5810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5716A"/>
                </a:solidFill>
                <a:latin typeface="Arial"/>
                <a:ea typeface="Arial"/>
                <a:cs typeface="Arial"/>
              </a:defRPr>
            </a:defPPr>
            <a:lvl1pPr algn="l">
              <a:defRPr sz="1500" b="0">
                <a:solidFill>
                  <a:srgbClr val="65716A"/>
                </a:solidFill>
                <a:latin typeface="Arial"/>
                <a:ea typeface="Arial"/>
                <a:cs typeface="Arial"/>
              </a:defRPr>
            </a:lvl1pPr>
            <a:lvl2pPr algn="l">
              <a:defRPr sz="1500" b="0">
                <a:solidFill>
                  <a:srgbClr val="65716A"/>
                </a:solidFill>
                <a:latin typeface="Arial"/>
                <a:ea typeface="Arial"/>
                <a:cs typeface="Arial"/>
              </a:defRPr>
            </a:lvl2pPr>
            <a:lvl3pPr algn="l">
              <a:defRPr sz="1500" b="0">
                <a:solidFill>
                  <a:srgbClr val="65716A"/>
                </a:solidFill>
                <a:latin typeface="Arial"/>
                <a:ea typeface="Arial"/>
                <a:cs typeface="Arial"/>
              </a:defRPr>
            </a:lvl3pPr>
            <a:lvl4pPr algn="l">
              <a:defRPr sz="1500" b="0">
                <a:solidFill>
                  <a:srgbClr val="65716A"/>
                </a:solidFill>
                <a:latin typeface="Arial"/>
                <a:ea typeface="Arial"/>
                <a:cs typeface="Arial"/>
              </a:defRPr>
            </a:lvl4pPr>
            <a:lvl5pPr algn="l">
              <a:defRPr sz="1500" b="0">
                <a:solidFill>
                  <a:srgbClr val="65716A"/>
                </a:solidFill>
                <a:latin typeface="Arial"/>
                <a:ea typeface="Arial"/>
                <a:cs typeface="Arial"/>
              </a:defRPr>
            </a:lvl5pPr>
            <a:lvl6pPr algn="l">
              <a:defRPr sz="1500" b="0">
                <a:solidFill>
                  <a:srgbClr val="65716A"/>
                </a:solidFill>
                <a:latin typeface="Arial"/>
                <a:ea typeface="Arial"/>
                <a:cs typeface="Arial"/>
              </a:defRPr>
            </a:lvl6pPr>
            <a:lvl7pPr algn="l">
              <a:defRPr sz="1500" b="0">
                <a:solidFill>
                  <a:srgbClr val="65716A"/>
                </a:solidFill>
                <a:latin typeface="Arial"/>
                <a:ea typeface="Arial"/>
                <a:cs typeface="Arial"/>
              </a:defRPr>
            </a:lvl7pPr>
            <a:lvl8pPr algn="l">
              <a:defRPr sz="1500" b="0">
                <a:solidFill>
                  <a:srgbClr val="65716A"/>
                </a:solidFill>
                <a:latin typeface="Arial"/>
                <a:ea typeface="Arial"/>
                <a:cs typeface="Arial"/>
              </a:defRPr>
            </a:lvl8pPr>
            <a:lvl9pPr algn="l">
              <a:defRPr sz="1500" b="0">
                <a:solidFill>
                  <a:srgbClr val="65716A"/>
                </a:solidFill>
                <a:latin typeface="Arial"/>
                <a:ea typeface="Arial"/>
                <a:cs typeface="Arial"/>
              </a:defRPr>
            </a:lvl9pPr>
          </a:lstStyle>
          <a:p xmlns:a="http://schemas.openxmlformats.org/drawingml/2006/main">
            <a:pPr algn="l">
              <a:defRPr sz="1500" b="0">
                <a:solidFill>
                  <a:srgbClr val="65716A"/>
                </a:solidFill>
                <a:latin typeface="Arial"/>
                <a:ea typeface="Arial"/>
                <a:cs typeface="Arial"/>
              </a:defRPr>
            </a:pPr>
            <a:r>
              <a:rPr sz="1500" b="0">
                <a:solidFill>
                  <a:srgbClr val="65716A"/>
                </a:solidFill>
                <a:latin typeface="Arial"/>
                <a:ea typeface="Arial"/>
                <a:cs typeface="Arial"/>
              </a:rPr>
              <a:t>Local retrieval and deterministic evidence. No external AI API, internet search or unrestricted chatbot.</a:t>
            </a:r>
          </a:p>
        </p:txBody>
      </p:sp>
    </p:spTree>
    <p:extLst>
      <p:ext uri="{BB962C8B-B14F-4D97-AF65-F5344CB8AC3E}">
        <p14:creationId xmlns:p14="http://schemas.microsoft.com/office/powerpoint/2010/main" val="1221306204"/>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C90BDC-2557-41C8-9313-E0EB2543E377}"/>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R&amp;D</a:t>
            </a:r>
          </a:p>
        </p:txBody>
      </p:sp>
      <p:sp>
        <p:nvSpPr>
          <p:cNvPr id="2" name="">
            <a:extLst xmlns:a="http://schemas.openxmlformats.org/drawingml/2006/main">
              <a:ext uri="{FF2B5EF4-FFF2-40B4-BE49-F238E27FC236}">
                <a16:creationId xmlns:a16="http://schemas.microsoft.com/office/drawing/2014/main" id="{B6E1AF5D-BD49-4896-A74C-5D03512FC170}"/>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R&amp;D: experiments, results and testing</a:t>
            </a:r>
          </a:p>
        </p:txBody>
      </p:sp>
      <p:sp>
        <p:nvSpPr>
          <p:cNvPr id="3" name="">
            <a:extLst xmlns:a="http://schemas.openxmlformats.org/drawingml/2006/main">
              <a:ext uri="{FF2B5EF4-FFF2-40B4-BE49-F238E27FC236}">
                <a16:creationId xmlns:a16="http://schemas.microsoft.com/office/drawing/2014/main" id="{0CDE3C3D-0F6D-47C3-893B-E53D097FC02A}"/>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BDDBA547-3C10-48C6-B429-4214194E0382}"/>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D70C3EA7-A9CF-494C-B52D-129956AD8040}"/>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09</a:t>
            </a:r>
          </a:p>
        </p:txBody>
      </p:sp>
      <p:graphicFrame>
        <p:nvGraphicFramePr>
          <p:cNvPr id="6" name="Chart">
            <a:extLst xmlns:a="http://schemas.openxmlformats.org/drawingml/2006/main">
              <a:ext uri="{FF2B5EF4-FFF2-40B4-BE49-F238E27FC236}">
                <a16:creationId xmlns:a16="http://schemas.microsoft.com/office/drawing/2014/main" id="{DB30D758-58D8-4F6C-BE2F-CF16898C15D3}"/>
              </a:ext>
            </a:extLst>
          </p:cNvPr>
          <p:cNvGraphicFramePr/>
          <p:nvPr/>
        </p:nvGraphicFramePr>
        <p:xfrm>
          <a:off xmlns:a="http://schemas.openxmlformats.org/drawingml/2006/main" x="619125" y="1647825"/>
          <a:ext xmlns:a="http://schemas.openxmlformats.org/drawingml/2006/main" cx="6191250" cy="3714750"/>
        </p:xfrm>
        <a:graphic xmlns:a="http://schemas.openxmlformats.org/drawingml/2006/main">
          <a:graphicData uri="http://schemas.openxmlformats.org/drawingml/2006/chart">
            <c:chart xmlns:r="http://schemas.openxmlformats.org/officeDocument/2006/relationships" xmlns:c="http://schemas.openxmlformats.org/drawingml/2006/chart" r:id="Rc3b766f6a91f471a"/>
          </a:graphicData>
        </a:graphic>
      </p:graphicFrame>
      <p:sp>
        <p:nvSpPr>
          <p:cNvPr id="7" name="">
            <a:extLst xmlns:a="http://schemas.openxmlformats.org/drawingml/2006/main">
              <a:ext uri="{FF2B5EF4-FFF2-40B4-BE49-F238E27FC236}">
                <a16:creationId xmlns:a16="http://schemas.microsoft.com/office/drawing/2014/main" id="{F82628AD-C474-4583-AFD3-1762980639A2}"/>
              </a:ext>
            </a:extLst>
          </p:cNvPr>
          <p:cNvSpPr>
            <a:spLocks xmlns:a="http://schemas.openxmlformats.org/drawingml/2006/main" noGrp="1"/>
          </p:cNvSpPr>
          <p:nvPr/>
        </p:nvSpPr>
        <p:spPr>
          <a:xfrm xmlns:a="http://schemas.openxmlformats.org/drawingml/2006/main">
            <a:off x="7477125" y="16573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315F4C"/>
                </a:solidFill>
                <a:latin typeface="Arial"/>
                <a:ea typeface="Arial"/>
                <a:cs typeface="Arial"/>
              </a:defRPr>
            </a:defPPr>
            <a:lvl1pPr algn="l">
              <a:defRPr sz="2100" b="1">
                <a:solidFill>
                  <a:srgbClr val="315F4C"/>
                </a:solidFill>
                <a:latin typeface="Arial"/>
                <a:ea typeface="Arial"/>
                <a:cs typeface="Arial"/>
              </a:defRPr>
            </a:lvl1pPr>
            <a:lvl2pPr algn="l">
              <a:defRPr sz="2100" b="1">
                <a:solidFill>
                  <a:srgbClr val="315F4C"/>
                </a:solidFill>
                <a:latin typeface="Arial"/>
                <a:ea typeface="Arial"/>
                <a:cs typeface="Arial"/>
              </a:defRPr>
            </a:lvl2pPr>
            <a:lvl3pPr algn="l">
              <a:defRPr sz="2100" b="1">
                <a:solidFill>
                  <a:srgbClr val="315F4C"/>
                </a:solidFill>
                <a:latin typeface="Arial"/>
                <a:ea typeface="Arial"/>
                <a:cs typeface="Arial"/>
              </a:defRPr>
            </a:lvl3pPr>
            <a:lvl4pPr algn="l">
              <a:defRPr sz="2100" b="1">
                <a:solidFill>
                  <a:srgbClr val="315F4C"/>
                </a:solidFill>
                <a:latin typeface="Arial"/>
                <a:ea typeface="Arial"/>
                <a:cs typeface="Arial"/>
              </a:defRPr>
            </a:lvl4pPr>
            <a:lvl5pPr algn="l">
              <a:defRPr sz="2100" b="1">
                <a:solidFill>
                  <a:srgbClr val="315F4C"/>
                </a:solidFill>
                <a:latin typeface="Arial"/>
                <a:ea typeface="Arial"/>
                <a:cs typeface="Arial"/>
              </a:defRPr>
            </a:lvl5pPr>
            <a:lvl6pPr algn="l">
              <a:defRPr sz="2100" b="1">
                <a:solidFill>
                  <a:srgbClr val="315F4C"/>
                </a:solidFill>
                <a:latin typeface="Arial"/>
                <a:ea typeface="Arial"/>
                <a:cs typeface="Arial"/>
              </a:defRPr>
            </a:lvl6pPr>
            <a:lvl7pPr algn="l">
              <a:defRPr sz="2100" b="1">
                <a:solidFill>
                  <a:srgbClr val="315F4C"/>
                </a:solidFill>
                <a:latin typeface="Arial"/>
                <a:ea typeface="Arial"/>
                <a:cs typeface="Arial"/>
              </a:defRPr>
            </a:lvl7pPr>
            <a:lvl8pPr algn="l">
              <a:defRPr sz="2100" b="1">
                <a:solidFill>
                  <a:srgbClr val="315F4C"/>
                </a:solidFill>
                <a:latin typeface="Arial"/>
                <a:ea typeface="Arial"/>
                <a:cs typeface="Arial"/>
              </a:defRPr>
            </a:lvl8pPr>
            <a:lvl9pPr algn="l">
              <a:defRPr sz="2100" b="1">
                <a:solidFill>
                  <a:srgbClr val="315F4C"/>
                </a:solidFill>
                <a:latin typeface="Arial"/>
                <a:ea typeface="Arial"/>
                <a:cs typeface="Arial"/>
              </a:defRPr>
            </a:lvl9pPr>
          </a:lstStyle>
          <a:p xmlns:a="http://schemas.openxmlformats.org/drawingml/2006/main">
            <a:pPr algn="l">
              <a:defRPr sz="2100" b="1">
                <a:solidFill>
                  <a:srgbClr val="315F4C"/>
                </a:solidFill>
                <a:latin typeface="Arial"/>
                <a:ea typeface="Arial"/>
                <a:cs typeface="Arial"/>
              </a:defRPr>
            </a:pPr>
            <a:r>
              <a:rPr sz="2100" b="1">
                <a:solidFill>
                  <a:srgbClr val="315F4C"/>
                </a:solidFill>
                <a:latin typeface="Arial"/>
                <a:ea typeface="Arial"/>
                <a:cs typeface="Arial"/>
              </a:rPr>
              <a:t>Review example</a:t>
            </a:r>
          </a:p>
        </p:txBody>
      </p:sp>
      <p:sp>
        <p:nvSpPr>
          <p:cNvPr id="8" name="">
            <a:extLst xmlns:a="http://schemas.openxmlformats.org/drawingml/2006/main">
              <a:ext uri="{FF2B5EF4-FFF2-40B4-BE49-F238E27FC236}">
                <a16:creationId xmlns:a16="http://schemas.microsoft.com/office/drawing/2014/main" id="{B2656C5B-AC31-4879-8716-7FD87BEC8F2A}"/>
              </a:ext>
            </a:extLst>
          </p:cNvPr>
          <p:cNvSpPr>
            <a:spLocks xmlns:a="http://schemas.openxmlformats.org/drawingml/2006/main" noGrp="1"/>
          </p:cNvSpPr>
          <p:nvPr/>
        </p:nvSpPr>
        <p:spPr>
          <a:xfrm xmlns:a="http://schemas.openxmlformats.org/drawingml/2006/main">
            <a:off x="7477125" y="2171700"/>
            <a:ext cx="4095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63B34"/>
                </a:solidFill>
                <a:latin typeface="Arial"/>
                <a:ea typeface="Arial"/>
                <a:cs typeface="Arial"/>
              </a:defRPr>
            </a:defPPr>
            <a:lvl1pPr algn="l">
              <a:defRPr sz="1800" b="0">
                <a:solidFill>
                  <a:srgbClr val="263B34"/>
                </a:solidFill>
                <a:latin typeface="Arial"/>
                <a:ea typeface="Arial"/>
                <a:cs typeface="Arial"/>
              </a:defRPr>
            </a:lvl1pPr>
            <a:lvl2pPr algn="l">
              <a:defRPr sz="1800" b="0">
                <a:solidFill>
                  <a:srgbClr val="263B34"/>
                </a:solidFill>
                <a:latin typeface="Arial"/>
                <a:ea typeface="Arial"/>
                <a:cs typeface="Arial"/>
              </a:defRPr>
            </a:lvl2pPr>
            <a:lvl3pPr algn="l">
              <a:defRPr sz="1800" b="0">
                <a:solidFill>
                  <a:srgbClr val="263B34"/>
                </a:solidFill>
                <a:latin typeface="Arial"/>
                <a:ea typeface="Arial"/>
                <a:cs typeface="Arial"/>
              </a:defRPr>
            </a:lvl3pPr>
            <a:lvl4pPr algn="l">
              <a:defRPr sz="1800" b="0">
                <a:solidFill>
                  <a:srgbClr val="263B34"/>
                </a:solidFill>
                <a:latin typeface="Arial"/>
                <a:ea typeface="Arial"/>
                <a:cs typeface="Arial"/>
              </a:defRPr>
            </a:lvl4pPr>
            <a:lvl5pPr algn="l">
              <a:defRPr sz="1800" b="0">
                <a:solidFill>
                  <a:srgbClr val="263B34"/>
                </a:solidFill>
                <a:latin typeface="Arial"/>
                <a:ea typeface="Arial"/>
                <a:cs typeface="Arial"/>
              </a:defRPr>
            </a:lvl5pPr>
            <a:lvl6pPr algn="l">
              <a:defRPr sz="1800" b="0">
                <a:solidFill>
                  <a:srgbClr val="263B34"/>
                </a:solidFill>
                <a:latin typeface="Arial"/>
                <a:ea typeface="Arial"/>
                <a:cs typeface="Arial"/>
              </a:defRPr>
            </a:lvl6pPr>
            <a:lvl7pPr algn="l">
              <a:defRPr sz="1800" b="0">
                <a:solidFill>
                  <a:srgbClr val="263B34"/>
                </a:solidFill>
                <a:latin typeface="Arial"/>
                <a:ea typeface="Arial"/>
                <a:cs typeface="Arial"/>
              </a:defRPr>
            </a:lvl7pPr>
            <a:lvl8pPr algn="l">
              <a:defRPr sz="1800" b="0">
                <a:solidFill>
                  <a:srgbClr val="263B34"/>
                </a:solidFill>
                <a:latin typeface="Arial"/>
                <a:ea typeface="Arial"/>
                <a:cs typeface="Arial"/>
              </a:defRPr>
            </a:lvl8pPr>
            <a:lvl9pPr algn="l">
              <a:defRPr sz="1800" b="0">
                <a:solidFill>
                  <a:srgbClr val="263B34"/>
                </a:solidFill>
                <a:latin typeface="Arial"/>
                <a:ea typeface="Arial"/>
                <a:cs typeface="Arial"/>
              </a:defRPr>
            </a:lvl9pPr>
          </a:lstStyle>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Goal: interactive response ≤ 2</a:t>
            </a:r>
          </a:p>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Quantum 2 fails; quantum 1 passes.</a:t>
            </a:r>
          </a:p>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Switches increase from 6 to 11.</a:t>
            </a:r>
          </a:p>
        </p:txBody>
      </p:sp>
      <p:sp>
        <p:nvSpPr>
          <p:cNvPr id="9" name="">
            <a:extLst xmlns:a="http://schemas.openxmlformats.org/drawingml/2006/main">
              <a:ext uri="{FF2B5EF4-FFF2-40B4-BE49-F238E27FC236}">
                <a16:creationId xmlns:a16="http://schemas.microsoft.com/office/drawing/2014/main" id="{BCC832A0-1239-4411-AEDF-0285FA095AD1}"/>
              </a:ext>
            </a:extLst>
          </p:cNvPr>
          <p:cNvSpPr>
            <a:spLocks xmlns:a="http://schemas.openxmlformats.org/drawingml/2006/main" noGrp="1"/>
          </p:cNvSpPr>
          <p:nvPr/>
        </p:nvSpPr>
        <p:spPr>
          <a:xfrm xmlns:a="http://schemas.openxmlformats.org/drawingml/2006/main">
            <a:off x="7477125" y="36671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Counterexample experiment</a:t>
            </a:r>
          </a:p>
        </p:txBody>
      </p:sp>
      <p:sp>
        <p:nvSpPr>
          <p:cNvPr id="10" name="">
            <a:extLst xmlns:a="http://schemas.openxmlformats.org/drawingml/2006/main">
              <a:ext uri="{FF2B5EF4-FFF2-40B4-BE49-F238E27FC236}">
                <a16:creationId xmlns:a16="http://schemas.microsoft.com/office/drawing/2014/main" id="{9370D100-1F4F-475C-BB4B-AF5BD3881DBA}"/>
              </a:ext>
            </a:extLst>
          </p:cNvPr>
          <p:cNvSpPr>
            <a:spLocks xmlns:a="http://schemas.openxmlformats.org/drawingml/2006/main" noGrp="1"/>
          </p:cNvSpPr>
          <p:nvPr/>
        </p:nvSpPr>
        <p:spPr>
          <a:xfrm xmlns:a="http://schemas.openxmlformats.org/drawingml/2006/main">
            <a:off x="7477125" y="4171950"/>
            <a:ext cx="4095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263B34"/>
                </a:solidFill>
                <a:latin typeface="Arial"/>
                <a:ea typeface="Arial"/>
                <a:cs typeface="Arial"/>
              </a:defRPr>
            </a:defPPr>
            <a:lvl1pPr algn="l">
              <a:defRPr sz="1800" b="0">
                <a:solidFill>
                  <a:srgbClr val="263B34"/>
                </a:solidFill>
                <a:latin typeface="Arial"/>
                <a:ea typeface="Arial"/>
                <a:cs typeface="Arial"/>
              </a:defRPr>
            </a:lvl1pPr>
            <a:lvl2pPr algn="l">
              <a:defRPr sz="1800" b="0">
                <a:solidFill>
                  <a:srgbClr val="263B34"/>
                </a:solidFill>
                <a:latin typeface="Arial"/>
                <a:ea typeface="Arial"/>
                <a:cs typeface="Arial"/>
              </a:defRPr>
            </a:lvl2pPr>
            <a:lvl3pPr algn="l">
              <a:defRPr sz="1800" b="0">
                <a:solidFill>
                  <a:srgbClr val="263B34"/>
                </a:solidFill>
                <a:latin typeface="Arial"/>
                <a:ea typeface="Arial"/>
                <a:cs typeface="Arial"/>
              </a:defRPr>
            </a:lvl3pPr>
            <a:lvl4pPr algn="l">
              <a:defRPr sz="1800" b="0">
                <a:solidFill>
                  <a:srgbClr val="263B34"/>
                </a:solidFill>
                <a:latin typeface="Arial"/>
                <a:ea typeface="Arial"/>
                <a:cs typeface="Arial"/>
              </a:defRPr>
            </a:lvl4pPr>
            <a:lvl5pPr algn="l">
              <a:defRPr sz="1800" b="0">
                <a:solidFill>
                  <a:srgbClr val="263B34"/>
                </a:solidFill>
                <a:latin typeface="Arial"/>
                <a:ea typeface="Arial"/>
                <a:cs typeface="Arial"/>
              </a:defRPr>
            </a:lvl5pPr>
            <a:lvl6pPr algn="l">
              <a:defRPr sz="1800" b="0">
                <a:solidFill>
                  <a:srgbClr val="263B34"/>
                </a:solidFill>
                <a:latin typeface="Arial"/>
                <a:ea typeface="Arial"/>
                <a:cs typeface="Arial"/>
              </a:defRPr>
            </a:lvl6pPr>
            <a:lvl7pPr algn="l">
              <a:defRPr sz="1800" b="0">
                <a:solidFill>
                  <a:srgbClr val="263B34"/>
                </a:solidFill>
                <a:latin typeface="Arial"/>
                <a:ea typeface="Arial"/>
                <a:cs typeface="Arial"/>
              </a:defRPr>
            </a:lvl7pPr>
            <a:lvl8pPr algn="l">
              <a:defRPr sz="1800" b="0">
                <a:solidFill>
                  <a:srgbClr val="263B34"/>
                </a:solidFill>
                <a:latin typeface="Arial"/>
                <a:ea typeface="Arial"/>
                <a:cs typeface="Arial"/>
              </a:defRPr>
            </a:lvl8pPr>
            <a:lvl9pPr algn="l">
              <a:defRPr sz="1800" b="0">
                <a:solidFill>
                  <a:srgbClr val="263B34"/>
                </a:solidFill>
                <a:latin typeface="Arial"/>
                <a:ea typeface="Arial"/>
                <a:cs typeface="Arial"/>
              </a:defRPr>
            </a:lvl9pPr>
          </a:lstStyle>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Seed 42 finds a quantum 1 failure</a:t>
            </a:r>
          </a:p>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on test 3. Reduction keeps 4 jobs</a:t>
            </a:r>
          </a:p>
          <a:p xmlns:a="http://schemas.openxmlformats.org/drawingml/2006/main">
            <a:pPr algn="l">
              <a:defRPr sz="1800" b="0">
                <a:solidFill>
                  <a:srgbClr val="263B34"/>
                </a:solidFill>
                <a:latin typeface="Arial"/>
                <a:ea typeface="Arial"/>
                <a:cs typeface="Arial"/>
              </a:defRPr>
            </a:pPr>
            <a:r>
              <a:rPr sz="1800" b="0">
                <a:solidFill>
                  <a:srgbClr val="263B34"/>
                </a:solidFill>
                <a:latin typeface="Arial"/>
                <a:ea typeface="Arial"/>
                <a:cs typeface="Arial"/>
              </a:rPr>
              <a:t>from an original workload of 7.</a:t>
            </a:r>
          </a:p>
        </p:txBody>
      </p:sp>
      <p:sp>
        <p:nvSpPr>
          <p:cNvPr id="11" name="">
            <a:extLst xmlns:a="http://schemas.openxmlformats.org/drawingml/2006/main">
              <a:ext uri="{FF2B5EF4-FFF2-40B4-BE49-F238E27FC236}">
                <a16:creationId xmlns:a16="http://schemas.microsoft.com/office/drawing/2014/main" id="{C19D20D2-0176-47B2-850A-284F77EF6054}"/>
              </a:ext>
            </a:extLst>
          </p:cNvPr>
          <p:cNvSpPr>
            <a:spLocks xmlns:a="http://schemas.openxmlformats.org/drawingml/2006/main" noGrp="1"/>
          </p:cNvSpPr>
          <p:nvPr/>
        </p:nvSpPr>
        <p:spPr>
          <a:xfrm xmlns:a="http://schemas.openxmlformats.org/drawingml/2006/main">
            <a:off x="609600" y="5810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5716A"/>
                </a:solidFill>
                <a:latin typeface="Arial"/>
                <a:ea typeface="Arial"/>
                <a:cs typeface="Arial"/>
              </a:defRPr>
            </a:defPPr>
            <a:lvl1pPr algn="l">
              <a:defRPr sz="1500" b="0">
                <a:solidFill>
                  <a:srgbClr val="65716A"/>
                </a:solidFill>
                <a:latin typeface="Arial"/>
                <a:ea typeface="Arial"/>
                <a:cs typeface="Arial"/>
              </a:defRPr>
            </a:lvl1pPr>
            <a:lvl2pPr algn="l">
              <a:defRPr sz="1500" b="0">
                <a:solidFill>
                  <a:srgbClr val="65716A"/>
                </a:solidFill>
                <a:latin typeface="Arial"/>
                <a:ea typeface="Arial"/>
                <a:cs typeface="Arial"/>
              </a:defRPr>
            </a:lvl2pPr>
            <a:lvl3pPr algn="l">
              <a:defRPr sz="1500" b="0">
                <a:solidFill>
                  <a:srgbClr val="65716A"/>
                </a:solidFill>
                <a:latin typeface="Arial"/>
                <a:ea typeface="Arial"/>
                <a:cs typeface="Arial"/>
              </a:defRPr>
            </a:lvl3pPr>
            <a:lvl4pPr algn="l">
              <a:defRPr sz="1500" b="0">
                <a:solidFill>
                  <a:srgbClr val="65716A"/>
                </a:solidFill>
                <a:latin typeface="Arial"/>
                <a:ea typeface="Arial"/>
                <a:cs typeface="Arial"/>
              </a:defRPr>
            </a:lvl4pPr>
            <a:lvl5pPr algn="l">
              <a:defRPr sz="1500" b="0">
                <a:solidFill>
                  <a:srgbClr val="65716A"/>
                </a:solidFill>
                <a:latin typeface="Arial"/>
                <a:ea typeface="Arial"/>
                <a:cs typeface="Arial"/>
              </a:defRPr>
            </a:lvl5pPr>
            <a:lvl6pPr algn="l">
              <a:defRPr sz="1500" b="0">
                <a:solidFill>
                  <a:srgbClr val="65716A"/>
                </a:solidFill>
                <a:latin typeface="Arial"/>
                <a:ea typeface="Arial"/>
                <a:cs typeface="Arial"/>
              </a:defRPr>
            </a:lvl6pPr>
            <a:lvl7pPr algn="l">
              <a:defRPr sz="1500" b="0">
                <a:solidFill>
                  <a:srgbClr val="65716A"/>
                </a:solidFill>
                <a:latin typeface="Arial"/>
                <a:ea typeface="Arial"/>
                <a:cs typeface="Arial"/>
              </a:defRPr>
            </a:lvl7pPr>
            <a:lvl8pPr algn="l">
              <a:defRPr sz="1500" b="0">
                <a:solidFill>
                  <a:srgbClr val="65716A"/>
                </a:solidFill>
                <a:latin typeface="Arial"/>
                <a:ea typeface="Arial"/>
                <a:cs typeface="Arial"/>
              </a:defRPr>
            </a:lvl8pPr>
            <a:lvl9pPr algn="l">
              <a:defRPr sz="1500" b="0">
                <a:solidFill>
                  <a:srgbClr val="65716A"/>
                </a:solidFill>
                <a:latin typeface="Arial"/>
                <a:ea typeface="Arial"/>
                <a:cs typeface="Arial"/>
              </a:defRPr>
            </a:lvl9pPr>
          </a:lstStyle>
          <a:p xmlns:a="http://schemas.openxmlformats.org/drawingml/2006/main">
            <a:pPr algn="l">
              <a:defRPr sz="1500" b="0">
                <a:solidFill>
                  <a:srgbClr val="65716A"/>
                </a:solidFill>
                <a:latin typeface="Arial"/>
                <a:ea typeface="Arial"/>
                <a:cs typeface="Arial"/>
              </a:defRPr>
            </a:pPr>
            <a:r>
              <a:rPr sz="1500" b="0">
                <a:solidFill>
                  <a:srgbClr val="65716A"/>
                </a:solidFill>
                <a:latin typeface="Arial"/>
                <a:ea typeface="Arial"/>
                <a:cs typeface="Arial"/>
              </a:rPr>
              <a:t>27 automated tests pass: scheduler metrics, goal checks, search reduction, model evaluation and tutor evidence.</a:t>
            </a:r>
          </a:p>
        </p:txBody>
      </p:sp>
    </p:spTree>
    <p:extLst>
      <p:ext uri="{BB962C8B-B14F-4D97-AF65-F5344CB8AC3E}">
        <p14:creationId xmlns:p14="http://schemas.microsoft.com/office/powerpoint/2010/main" val="1666127916"/>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DC678C-81EA-4069-A328-062BE8EAC97A}"/>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153C64F0-7724-41AF-94B9-111FEDC358C6}"/>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Limitations and future scope</a:t>
            </a:r>
          </a:p>
        </p:txBody>
      </p:sp>
      <p:sp>
        <p:nvSpPr>
          <p:cNvPr id="3" name="">
            <a:extLst xmlns:a="http://schemas.openxmlformats.org/drawingml/2006/main">
              <a:ext uri="{FF2B5EF4-FFF2-40B4-BE49-F238E27FC236}">
                <a16:creationId xmlns:a16="http://schemas.microsoft.com/office/drawing/2014/main" id="{2C896515-75D1-4716-9CE2-AB9DFDF8A239}"/>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59AAB280-EE02-43A1-9350-00119F79B901}"/>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552300CD-0919-4D5E-A942-59B0ACD7D6C9}"/>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A2E00520-63B2-44CB-A47B-65050BC58E37}"/>
              </a:ext>
            </a:extLst>
          </p:cNvPr>
          <p:cNvSpPr>
            <a:spLocks xmlns:a="http://schemas.openxmlformats.org/drawingml/2006/main" noGrp="1"/>
          </p:cNvSpPr>
          <p:nvPr/>
        </p:nvSpPr>
        <p:spPr>
          <a:xfrm xmlns:a="http://schemas.openxmlformats.org/drawingml/2006/main">
            <a:off x="619125" y="1628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315F4C"/>
                </a:solidFill>
                <a:latin typeface="Arial"/>
                <a:ea typeface="Arial"/>
                <a:cs typeface="Arial"/>
              </a:defRPr>
            </a:defPPr>
            <a:lvl1pPr algn="l">
              <a:defRPr sz="2250" b="1">
                <a:solidFill>
                  <a:srgbClr val="315F4C"/>
                </a:solidFill>
                <a:latin typeface="Arial"/>
                <a:ea typeface="Arial"/>
                <a:cs typeface="Arial"/>
              </a:defRPr>
            </a:lvl1pPr>
            <a:lvl2pPr algn="l">
              <a:defRPr sz="2250" b="1">
                <a:solidFill>
                  <a:srgbClr val="315F4C"/>
                </a:solidFill>
                <a:latin typeface="Arial"/>
                <a:ea typeface="Arial"/>
                <a:cs typeface="Arial"/>
              </a:defRPr>
            </a:lvl2pPr>
            <a:lvl3pPr algn="l">
              <a:defRPr sz="2250" b="1">
                <a:solidFill>
                  <a:srgbClr val="315F4C"/>
                </a:solidFill>
                <a:latin typeface="Arial"/>
                <a:ea typeface="Arial"/>
                <a:cs typeface="Arial"/>
              </a:defRPr>
            </a:lvl3pPr>
            <a:lvl4pPr algn="l">
              <a:defRPr sz="2250" b="1">
                <a:solidFill>
                  <a:srgbClr val="315F4C"/>
                </a:solidFill>
                <a:latin typeface="Arial"/>
                <a:ea typeface="Arial"/>
                <a:cs typeface="Arial"/>
              </a:defRPr>
            </a:lvl4pPr>
            <a:lvl5pPr algn="l">
              <a:defRPr sz="2250" b="1">
                <a:solidFill>
                  <a:srgbClr val="315F4C"/>
                </a:solidFill>
                <a:latin typeface="Arial"/>
                <a:ea typeface="Arial"/>
                <a:cs typeface="Arial"/>
              </a:defRPr>
            </a:lvl5pPr>
            <a:lvl6pPr algn="l">
              <a:defRPr sz="2250" b="1">
                <a:solidFill>
                  <a:srgbClr val="315F4C"/>
                </a:solidFill>
                <a:latin typeface="Arial"/>
                <a:ea typeface="Arial"/>
                <a:cs typeface="Arial"/>
              </a:defRPr>
            </a:lvl6pPr>
            <a:lvl7pPr algn="l">
              <a:defRPr sz="2250" b="1">
                <a:solidFill>
                  <a:srgbClr val="315F4C"/>
                </a:solidFill>
                <a:latin typeface="Arial"/>
                <a:ea typeface="Arial"/>
                <a:cs typeface="Arial"/>
              </a:defRPr>
            </a:lvl7pPr>
            <a:lvl8pPr algn="l">
              <a:defRPr sz="2250" b="1">
                <a:solidFill>
                  <a:srgbClr val="315F4C"/>
                </a:solidFill>
                <a:latin typeface="Arial"/>
                <a:ea typeface="Arial"/>
                <a:cs typeface="Arial"/>
              </a:defRPr>
            </a:lvl8pPr>
            <a:lvl9pPr algn="l">
              <a:defRPr sz="2250" b="1">
                <a:solidFill>
                  <a:srgbClr val="315F4C"/>
                </a:solidFill>
                <a:latin typeface="Arial"/>
                <a:ea typeface="Arial"/>
                <a:cs typeface="Arial"/>
              </a:defRPr>
            </a:lvl9pPr>
          </a:lstStyle>
          <a:p xmlns:a="http://schemas.openxmlformats.org/drawingml/2006/main">
            <a:pPr algn="l">
              <a:defRPr sz="2250" b="1">
                <a:solidFill>
                  <a:srgbClr val="315F4C"/>
                </a:solidFill>
                <a:latin typeface="Arial"/>
                <a:ea typeface="Arial"/>
                <a:cs typeface="Arial"/>
              </a:defRPr>
            </a:pPr>
            <a:r>
              <a:rPr sz="2250" b="1">
                <a:solidFill>
                  <a:srgbClr val="315F4C"/>
                </a:solidFill>
                <a:latin typeface="Arial"/>
                <a:ea typeface="Arial"/>
                <a:cs typeface="Arial"/>
              </a:rPr>
              <a:t>Current limitations</a:t>
            </a:r>
          </a:p>
        </p:txBody>
      </p:sp>
      <p:sp>
        <p:nvSpPr>
          <p:cNvPr id="7" name="">
            <a:extLst xmlns:a="http://schemas.openxmlformats.org/drawingml/2006/main">
              <a:ext uri="{FF2B5EF4-FFF2-40B4-BE49-F238E27FC236}">
                <a16:creationId xmlns:a16="http://schemas.microsoft.com/office/drawing/2014/main" id="{1B46EB2D-023C-448D-B614-DD5FCEE0B80D}"/>
              </a:ext>
            </a:extLst>
          </p:cNvPr>
          <p:cNvSpPr>
            <a:spLocks xmlns:a="http://schemas.openxmlformats.org/drawingml/2006/main" noGrp="1"/>
          </p:cNvSpPr>
          <p:nvPr/>
        </p:nvSpPr>
        <p:spPr>
          <a:xfrm xmlns:a="http://schemas.openxmlformats.org/drawingml/2006/main">
            <a:off x="619125" y="2333625"/>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263B34"/>
                </a:solidFill>
                <a:latin typeface="Arial"/>
                <a:ea typeface="Arial"/>
                <a:cs typeface="Arial"/>
              </a:defRPr>
            </a:defPPr>
            <a:lvl1pPr algn="l">
              <a:defRPr sz="1950" b="0">
                <a:solidFill>
                  <a:srgbClr val="263B34"/>
                </a:solidFill>
                <a:latin typeface="Arial"/>
                <a:ea typeface="Arial"/>
                <a:cs typeface="Arial"/>
              </a:defRPr>
            </a:lvl1pPr>
            <a:lvl2pPr algn="l">
              <a:defRPr sz="1950" b="0">
                <a:solidFill>
                  <a:srgbClr val="263B34"/>
                </a:solidFill>
                <a:latin typeface="Arial"/>
                <a:ea typeface="Arial"/>
                <a:cs typeface="Arial"/>
              </a:defRPr>
            </a:lvl2pPr>
            <a:lvl3pPr algn="l">
              <a:defRPr sz="1950" b="0">
                <a:solidFill>
                  <a:srgbClr val="263B34"/>
                </a:solidFill>
                <a:latin typeface="Arial"/>
                <a:ea typeface="Arial"/>
                <a:cs typeface="Arial"/>
              </a:defRPr>
            </a:lvl3pPr>
            <a:lvl4pPr algn="l">
              <a:defRPr sz="1950" b="0">
                <a:solidFill>
                  <a:srgbClr val="263B34"/>
                </a:solidFill>
                <a:latin typeface="Arial"/>
                <a:ea typeface="Arial"/>
                <a:cs typeface="Arial"/>
              </a:defRPr>
            </a:lvl4pPr>
            <a:lvl5pPr algn="l">
              <a:defRPr sz="1950" b="0">
                <a:solidFill>
                  <a:srgbClr val="263B34"/>
                </a:solidFill>
                <a:latin typeface="Arial"/>
                <a:ea typeface="Arial"/>
                <a:cs typeface="Arial"/>
              </a:defRPr>
            </a:lvl5pPr>
            <a:lvl6pPr algn="l">
              <a:defRPr sz="1950" b="0">
                <a:solidFill>
                  <a:srgbClr val="263B34"/>
                </a:solidFill>
                <a:latin typeface="Arial"/>
                <a:ea typeface="Arial"/>
                <a:cs typeface="Arial"/>
              </a:defRPr>
            </a:lvl6pPr>
            <a:lvl7pPr algn="l">
              <a:defRPr sz="1950" b="0">
                <a:solidFill>
                  <a:srgbClr val="263B34"/>
                </a:solidFill>
                <a:latin typeface="Arial"/>
                <a:ea typeface="Arial"/>
                <a:cs typeface="Arial"/>
              </a:defRPr>
            </a:lvl7pPr>
            <a:lvl8pPr algn="l">
              <a:defRPr sz="1950" b="0">
                <a:solidFill>
                  <a:srgbClr val="263B34"/>
                </a:solidFill>
                <a:latin typeface="Arial"/>
                <a:ea typeface="Arial"/>
                <a:cs typeface="Arial"/>
              </a:defRPr>
            </a:lvl8pPr>
            <a:lvl9pPr algn="l">
              <a:defRPr sz="1950" b="0">
                <a:solidFill>
                  <a:srgbClr val="263B34"/>
                </a:solidFill>
                <a:latin typeface="Arial"/>
                <a:ea typeface="Arial"/>
                <a:cs typeface="Arial"/>
              </a:defRPr>
            </a:lvl9pPr>
          </a:lstStyle>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Single CPU and known bursts</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Finite jobs with no I/O blocking</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Restricted requirement grammar</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Small, imbalanced synthetic ML data</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Tutor limited to project topics</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No claimed AI speed advantage</a:t>
            </a:r>
          </a:p>
        </p:txBody>
      </p:sp>
      <p:sp>
        <p:nvSpPr>
          <p:cNvPr id="8" name="">
            <a:extLst xmlns:a="http://schemas.openxmlformats.org/drawingml/2006/main">
              <a:ext uri="{FF2B5EF4-FFF2-40B4-BE49-F238E27FC236}">
                <a16:creationId xmlns:a16="http://schemas.microsoft.com/office/drawing/2014/main" id="{A31C40F6-B96F-4D39-8908-04F91240861C}"/>
              </a:ext>
            </a:extLst>
          </p:cNvPr>
          <p:cNvSpPr>
            <a:spLocks xmlns:a="http://schemas.openxmlformats.org/drawingml/2006/main" noGrp="1"/>
          </p:cNvSpPr>
          <p:nvPr/>
        </p:nvSpPr>
        <p:spPr>
          <a:xfrm xmlns:a="http://schemas.openxmlformats.org/drawingml/2006/main">
            <a:off x="6667500" y="16287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315F4C"/>
                </a:solidFill>
                <a:latin typeface="Arial"/>
                <a:ea typeface="Arial"/>
                <a:cs typeface="Arial"/>
              </a:defRPr>
            </a:defPPr>
            <a:lvl1pPr algn="l">
              <a:defRPr sz="2250" b="1">
                <a:solidFill>
                  <a:srgbClr val="315F4C"/>
                </a:solidFill>
                <a:latin typeface="Arial"/>
                <a:ea typeface="Arial"/>
                <a:cs typeface="Arial"/>
              </a:defRPr>
            </a:lvl1pPr>
            <a:lvl2pPr algn="l">
              <a:defRPr sz="2250" b="1">
                <a:solidFill>
                  <a:srgbClr val="315F4C"/>
                </a:solidFill>
                <a:latin typeface="Arial"/>
                <a:ea typeface="Arial"/>
                <a:cs typeface="Arial"/>
              </a:defRPr>
            </a:lvl2pPr>
            <a:lvl3pPr algn="l">
              <a:defRPr sz="2250" b="1">
                <a:solidFill>
                  <a:srgbClr val="315F4C"/>
                </a:solidFill>
                <a:latin typeface="Arial"/>
                <a:ea typeface="Arial"/>
                <a:cs typeface="Arial"/>
              </a:defRPr>
            </a:lvl3pPr>
            <a:lvl4pPr algn="l">
              <a:defRPr sz="2250" b="1">
                <a:solidFill>
                  <a:srgbClr val="315F4C"/>
                </a:solidFill>
                <a:latin typeface="Arial"/>
                <a:ea typeface="Arial"/>
                <a:cs typeface="Arial"/>
              </a:defRPr>
            </a:lvl4pPr>
            <a:lvl5pPr algn="l">
              <a:defRPr sz="2250" b="1">
                <a:solidFill>
                  <a:srgbClr val="315F4C"/>
                </a:solidFill>
                <a:latin typeface="Arial"/>
                <a:ea typeface="Arial"/>
                <a:cs typeface="Arial"/>
              </a:defRPr>
            </a:lvl5pPr>
            <a:lvl6pPr algn="l">
              <a:defRPr sz="2250" b="1">
                <a:solidFill>
                  <a:srgbClr val="315F4C"/>
                </a:solidFill>
                <a:latin typeface="Arial"/>
                <a:ea typeface="Arial"/>
                <a:cs typeface="Arial"/>
              </a:defRPr>
            </a:lvl6pPr>
            <a:lvl7pPr algn="l">
              <a:defRPr sz="2250" b="1">
                <a:solidFill>
                  <a:srgbClr val="315F4C"/>
                </a:solidFill>
                <a:latin typeface="Arial"/>
                <a:ea typeface="Arial"/>
                <a:cs typeface="Arial"/>
              </a:defRPr>
            </a:lvl7pPr>
            <a:lvl8pPr algn="l">
              <a:defRPr sz="2250" b="1">
                <a:solidFill>
                  <a:srgbClr val="315F4C"/>
                </a:solidFill>
                <a:latin typeface="Arial"/>
                <a:ea typeface="Arial"/>
                <a:cs typeface="Arial"/>
              </a:defRPr>
            </a:lvl8pPr>
            <a:lvl9pPr algn="l">
              <a:defRPr sz="2250" b="1">
                <a:solidFill>
                  <a:srgbClr val="315F4C"/>
                </a:solidFill>
                <a:latin typeface="Arial"/>
                <a:ea typeface="Arial"/>
                <a:cs typeface="Arial"/>
              </a:defRPr>
            </a:lvl9pPr>
          </a:lstStyle>
          <a:p xmlns:a="http://schemas.openxmlformats.org/drawingml/2006/main">
            <a:pPr algn="l">
              <a:defRPr sz="2250" b="1">
                <a:solidFill>
                  <a:srgbClr val="315F4C"/>
                </a:solidFill>
                <a:latin typeface="Arial"/>
                <a:ea typeface="Arial"/>
                <a:cs typeface="Arial"/>
              </a:defRPr>
            </a:pPr>
            <a:r>
              <a:rPr sz="2250" b="1">
                <a:solidFill>
                  <a:srgbClr val="315F4C"/>
                </a:solidFill>
                <a:latin typeface="Arial"/>
                <a:ea typeface="Arial"/>
                <a:cs typeface="Arial"/>
              </a:rPr>
              <a:t>Feasible next steps</a:t>
            </a:r>
          </a:p>
        </p:txBody>
      </p:sp>
      <p:sp>
        <p:nvSpPr>
          <p:cNvPr id="9" name="">
            <a:extLst xmlns:a="http://schemas.openxmlformats.org/drawingml/2006/main">
              <a:ext uri="{FF2B5EF4-FFF2-40B4-BE49-F238E27FC236}">
                <a16:creationId xmlns:a16="http://schemas.microsoft.com/office/drawing/2014/main" id="{B4CC0037-743D-4EDA-B5EE-041568CB2A43}"/>
              </a:ext>
            </a:extLst>
          </p:cNvPr>
          <p:cNvSpPr>
            <a:spLocks xmlns:a="http://schemas.openxmlformats.org/drawingml/2006/main" noGrp="1"/>
          </p:cNvSpPr>
          <p:nvPr/>
        </p:nvSpPr>
        <p:spPr>
          <a:xfrm xmlns:a="http://schemas.openxmlformats.org/drawingml/2006/main">
            <a:off x="6667500" y="2333625"/>
            <a:ext cx="4953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263B34"/>
                </a:solidFill>
                <a:latin typeface="Arial"/>
                <a:ea typeface="Arial"/>
                <a:cs typeface="Arial"/>
              </a:defRPr>
            </a:defPPr>
            <a:lvl1pPr algn="l">
              <a:defRPr sz="1950" b="0">
                <a:solidFill>
                  <a:srgbClr val="263B34"/>
                </a:solidFill>
                <a:latin typeface="Arial"/>
                <a:ea typeface="Arial"/>
                <a:cs typeface="Arial"/>
              </a:defRPr>
            </a:lvl1pPr>
            <a:lvl2pPr algn="l">
              <a:defRPr sz="1950" b="0">
                <a:solidFill>
                  <a:srgbClr val="263B34"/>
                </a:solidFill>
                <a:latin typeface="Arial"/>
                <a:ea typeface="Arial"/>
                <a:cs typeface="Arial"/>
              </a:defRPr>
            </a:lvl2pPr>
            <a:lvl3pPr algn="l">
              <a:defRPr sz="1950" b="0">
                <a:solidFill>
                  <a:srgbClr val="263B34"/>
                </a:solidFill>
                <a:latin typeface="Arial"/>
                <a:ea typeface="Arial"/>
                <a:cs typeface="Arial"/>
              </a:defRPr>
            </a:lvl3pPr>
            <a:lvl4pPr algn="l">
              <a:defRPr sz="1950" b="0">
                <a:solidFill>
                  <a:srgbClr val="263B34"/>
                </a:solidFill>
                <a:latin typeface="Arial"/>
                <a:ea typeface="Arial"/>
                <a:cs typeface="Arial"/>
              </a:defRPr>
            </a:lvl4pPr>
            <a:lvl5pPr algn="l">
              <a:defRPr sz="1950" b="0">
                <a:solidFill>
                  <a:srgbClr val="263B34"/>
                </a:solidFill>
                <a:latin typeface="Arial"/>
                <a:ea typeface="Arial"/>
                <a:cs typeface="Arial"/>
              </a:defRPr>
            </a:lvl5pPr>
            <a:lvl6pPr algn="l">
              <a:defRPr sz="1950" b="0">
                <a:solidFill>
                  <a:srgbClr val="263B34"/>
                </a:solidFill>
                <a:latin typeface="Arial"/>
                <a:ea typeface="Arial"/>
                <a:cs typeface="Arial"/>
              </a:defRPr>
            </a:lvl6pPr>
            <a:lvl7pPr algn="l">
              <a:defRPr sz="1950" b="0">
                <a:solidFill>
                  <a:srgbClr val="263B34"/>
                </a:solidFill>
                <a:latin typeface="Arial"/>
                <a:ea typeface="Arial"/>
                <a:cs typeface="Arial"/>
              </a:defRPr>
            </a:lvl7pPr>
            <a:lvl8pPr algn="l">
              <a:defRPr sz="1950" b="0">
                <a:solidFill>
                  <a:srgbClr val="263B34"/>
                </a:solidFill>
                <a:latin typeface="Arial"/>
                <a:ea typeface="Arial"/>
                <a:cs typeface="Arial"/>
              </a:defRPr>
            </a:lvl8pPr>
            <a:lvl9pPr algn="l">
              <a:defRPr sz="1950" b="0">
                <a:solidFill>
                  <a:srgbClr val="263B34"/>
                </a:solidFill>
                <a:latin typeface="Arial"/>
                <a:ea typeface="Arial"/>
                <a:cs typeface="Arial"/>
              </a:defRPr>
            </a:lvl9pPr>
          </a:lstStyle>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Broader and balanced training data</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Repeated splits / cross-validation</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Realistic CPU and I/O workloads</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Additional scheduling algorithms</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More lessons and tutor evaluation</a:t>
            </a:r>
          </a:p>
          <a:p xmlns:a="http://schemas.openxmlformats.org/drawingml/2006/main">
            <a:pPr algn="l">
              <a:defRPr sz="1950" b="0">
                <a:solidFill>
                  <a:srgbClr val="263B34"/>
                </a:solidFill>
                <a:latin typeface="Arial"/>
                <a:ea typeface="Arial"/>
                <a:cs typeface="Arial"/>
              </a:defRPr>
            </a:pPr>
            <a:r>
              <a:rPr sz="1950" b="0">
                <a:solidFill>
                  <a:srgbClr val="263B34"/>
                </a:solidFill>
                <a:latin typeface="Arial"/>
                <a:ea typeface="Arial"/>
                <a:cs typeface="Arial"/>
              </a:rPr>
              <a:t>User studies on learning outcomes</a:t>
            </a:r>
          </a:p>
        </p:txBody>
      </p:sp>
      <p:sp>
        <p:nvSpPr>
          <p:cNvPr id="10" name="">
            <a:extLst xmlns:a="http://schemas.openxmlformats.org/drawingml/2006/main">
              <a:ext uri="{FF2B5EF4-FFF2-40B4-BE49-F238E27FC236}">
                <a16:creationId xmlns:a16="http://schemas.microsoft.com/office/drawing/2014/main" id="{F18C4FDE-2749-42A4-9F64-C0ECC093D7BF}"/>
              </a:ext>
            </a:extLst>
          </p:cNvPr>
          <p:cNvSpPr>
            <a:spLocks xmlns:a="http://schemas.openxmlformats.org/drawingml/2006/main" noGrp="1"/>
          </p:cNvSpPr>
          <p:nvPr/>
        </p:nvSpPr>
        <p:spPr>
          <a:xfrm xmlns:a="http://schemas.openxmlformats.org/drawingml/2006/main">
            <a:off x="609600" y="58102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65716A"/>
                </a:solidFill>
                <a:latin typeface="Arial"/>
                <a:ea typeface="Arial"/>
                <a:cs typeface="Arial"/>
              </a:defRPr>
            </a:defPPr>
            <a:lvl1pPr algn="l">
              <a:defRPr sz="1500" b="0">
                <a:solidFill>
                  <a:srgbClr val="65716A"/>
                </a:solidFill>
                <a:latin typeface="Arial"/>
                <a:ea typeface="Arial"/>
                <a:cs typeface="Arial"/>
              </a:defRPr>
            </a:lvl1pPr>
            <a:lvl2pPr algn="l">
              <a:defRPr sz="1500" b="0">
                <a:solidFill>
                  <a:srgbClr val="65716A"/>
                </a:solidFill>
                <a:latin typeface="Arial"/>
                <a:ea typeface="Arial"/>
                <a:cs typeface="Arial"/>
              </a:defRPr>
            </a:lvl2pPr>
            <a:lvl3pPr algn="l">
              <a:defRPr sz="1500" b="0">
                <a:solidFill>
                  <a:srgbClr val="65716A"/>
                </a:solidFill>
                <a:latin typeface="Arial"/>
                <a:ea typeface="Arial"/>
                <a:cs typeface="Arial"/>
              </a:defRPr>
            </a:lvl3pPr>
            <a:lvl4pPr algn="l">
              <a:defRPr sz="1500" b="0">
                <a:solidFill>
                  <a:srgbClr val="65716A"/>
                </a:solidFill>
                <a:latin typeface="Arial"/>
                <a:ea typeface="Arial"/>
                <a:cs typeface="Arial"/>
              </a:defRPr>
            </a:lvl4pPr>
            <a:lvl5pPr algn="l">
              <a:defRPr sz="1500" b="0">
                <a:solidFill>
                  <a:srgbClr val="65716A"/>
                </a:solidFill>
                <a:latin typeface="Arial"/>
                <a:ea typeface="Arial"/>
                <a:cs typeface="Arial"/>
              </a:defRPr>
            </a:lvl5pPr>
            <a:lvl6pPr algn="l">
              <a:defRPr sz="1500" b="0">
                <a:solidFill>
                  <a:srgbClr val="65716A"/>
                </a:solidFill>
                <a:latin typeface="Arial"/>
                <a:ea typeface="Arial"/>
                <a:cs typeface="Arial"/>
              </a:defRPr>
            </a:lvl6pPr>
            <a:lvl7pPr algn="l">
              <a:defRPr sz="1500" b="0">
                <a:solidFill>
                  <a:srgbClr val="65716A"/>
                </a:solidFill>
                <a:latin typeface="Arial"/>
                <a:ea typeface="Arial"/>
                <a:cs typeface="Arial"/>
              </a:defRPr>
            </a:lvl7pPr>
            <a:lvl8pPr algn="l">
              <a:defRPr sz="1500" b="0">
                <a:solidFill>
                  <a:srgbClr val="65716A"/>
                </a:solidFill>
                <a:latin typeface="Arial"/>
                <a:ea typeface="Arial"/>
                <a:cs typeface="Arial"/>
              </a:defRPr>
            </a:lvl8pPr>
            <a:lvl9pPr algn="l">
              <a:defRPr sz="1500" b="0">
                <a:solidFill>
                  <a:srgbClr val="65716A"/>
                </a:solidFill>
                <a:latin typeface="Arial"/>
                <a:ea typeface="Arial"/>
                <a:cs typeface="Arial"/>
              </a:defRPr>
            </a:lvl9pPr>
          </a:lstStyle>
          <a:p xmlns:a="http://schemas.openxmlformats.org/drawingml/2006/main">
            <a:pPr algn="l">
              <a:defRPr sz="1500" b="0">
                <a:solidFill>
                  <a:srgbClr val="65716A"/>
                </a:solidFill>
                <a:latin typeface="Arial"/>
                <a:ea typeface="Arial"/>
                <a:cs typeface="Arial"/>
              </a:defRPr>
            </a:pPr>
            <a:r>
              <a:rPr sz="1500" b="0">
                <a:solidFill>
                  <a:srgbClr val="65716A"/>
                </a:solidFill>
                <a:latin typeface="Arial"/>
                <a:ea typeface="Arial"/>
                <a:cs typeface="Arial"/>
              </a:rPr>
              <a:t>The simulator supplies exact results within its assumptions. AI advice and retrieval remain fallible.</a:t>
            </a:r>
          </a:p>
        </p:txBody>
      </p:sp>
    </p:spTree>
    <p:extLst>
      <p:ext uri="{BB962C8B-B14F-4D97-AF65-F5344CB8AC3E}">
        <p14:creationId xmlns:p14="http://schemas.microsoft.com/office/powerpoint/2010/main" val="301646708"/>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A405A5E-BF32-416C-BD05-03B72DC2C94A}"/>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8792960C-77FB-4B56-B20F-34C7AAA9044D}"/>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E99F6179-B2A4-410E-8AF7-4C493BB9D65A}"/>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1E094924-76AF-46AB-94BC-AA141B7FD5DF}"/>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5D23DB18-12E2-4E71-82D1-F5E0C26ED6D8}"/>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62987822-FAF1-4242-8AFA-F103F772BF1C}"/>
              </a:ext>
            </a:extLst>
          </p:cNvPr>
          <p:cNvSpPr>
            <a:spLocks xmlns:a="http://schemas.openxmlformats.org/drawingml/2006/main" noGrp="1"/>
          </p:cNvSpPr>
          <p:nvPr/>
        </p:nvSpPr>
        <p:spPr>
          <a:xfrm xmlns:a="http://schemas.openxmlformats.org/drawingml/2006/main">
            <a:off x="619125" y="15716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A complete educational workflow</a:t>
            </a:r>
          </a:p>
        </p:txBody>
      </p:sp>
      <p:sp>
        <p:nvSpPr>
          <p:cNvPr id="7" name="">
            <a:extLst xmlns:a="http://schemas.openxmlformats.org/drawingml/2006/main">
              <a:ext uri="{FF2B5EF4-FFF2-40B4-BE49-F238E27FC236}">
                <a16:creationId xmlns:a16="http://schemas.microsoft.com/office/drawing/2014/main" id="{4D645E78-0415-4A82-B0D2-D28A7129B4DE}"/>
              </a:ext>
            </a:extLst>
          </p:cNvPr>
          <p:cNvSpPr>
            <a:spLocks xmlns:a="http://schemas.openxmlformats.org/drawingml/2006/main" noGrp="1"/>
          </p:cNvSpPr>
          <p:nvPr/>
        </p:nvSpPr>
        <p:spPr>
          <a:xfrm xmlns:a="http://schemas.openxmlformats.org/drawingml/2006/main">
            <a:off x="619125" y="19526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Users define workloads, compare four scheduling policies, inspect execution and verify explicit goals. Counterexample search produces repeatable evidence of failures.</a:t>
            </a:r>
          </a:p>
        </p:txBody>
      </p:sp>
      <p:sp>
        <p:nvSpPr>
          <p:cNvPr id="8" name="">
            <a:extLst xmlns:a="http://schemas.openxmlformats.org/drawingml/2006/main">
              <a:ext uri="{FF2B5EF4-FFF2-40B4-BE49-F238E27FC236}">
                <a16:creationId xmlns:a16="http://schemas.microsoft.com/office/drawing/2014/main" id="{CAD7E9D2-50D8-41F4-82FE-C5CDD675B299}"/>
              </a:ext>
            </a:extLst>
          </p:cNvPr>
          <p:cNvSpPr>
            <a:spLocks xmlns:a="http://schemas.openxmlformats.org/drawingml/2006/main" noGrp="1"/>
          </p:cNvSpPr>
          <p:nvPr/>
        </p:nvSpPr>
        <p:spPr>
          <a:xfrm xmlns:a="http://schemas.openxmlformats.org/drawingml/2006/main">
            <a:off x="619125" y="30003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Two explainable AI components</a:t>
            </a:r>
          </a:p>
        </p:txBody>
      </p:sp>
      <p:sp>
        <p:nvSpPr>
          <p:cNvPr id="9" name="">
            <a:extLst xmlns:a="http://schemas.openxmlformats.org/drawingml/2006/main">
              <a:ext uri="{FF2B5EF4-FFF2-40B4-BE49-F238E27FC236}">
                <a16:creationId xmlns:a16="http://schemas.microsoft.com/office/drawing/2014/main" id="{97F6E657-F427-4D4B-8AC6-81C7A900CBF2}"/>
              </a:ext>
            </a:extLst>
          </p:cNvPr>
          <p:cNvSpPr>
            <a:spLocks xmlns:a="http://schemas.openxmlformats.org/drawingml/2006/main" noGrp="1"/>
          </p:cNvSpPr>
          <p:nvPr/>
        </p:nvSpPr>
        <p:spPr>
          <a:xfrm xmlns:a="http://schemas.openxmlformats.org/drawingml/2006/main">
            <a:off x="619125" y="33813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A trained decision tree predicts scheduler labels. A TF-IDF tutor retrieves lessons and explains the current experiment through worked calculations.</a:t>
            </a:r>
          </a:p>
        </p:txBody>
      </p:sp>
      <p:sp>
        <p:nvSpPr>
          <p:cNvPr id="10" name="">
            <a:extLst xmlns:a="http://schemas.openxmlformats.org/drawingml/2006/main">
              <a:ext uri="{FF2B5EF4-FFF2-40B4-BE49-F238E27FC236}">
                <a16:creationId xmlns:a16="http://schemas.microsoft.com/office/drawing/2014/main" id="{4BB3C41D-8F6E-4E75-AE99-023D72D10A49}"/>
              </a:ext>
            </a:extLst>
          </p:cNvPr>
          <p:cNvSpPr>
            <a:spLocks xmlns:a="http://schemas.openxmlformats.org/drawingml/2006/main" noGrp="1"/>
          </p:cNvSpPr>
          <p:nvPr/>
        </p:nvSpPr>
        <p:spPr>
          <a:xfrm xmlns:a="http://schemas.openxmlformats.org/drawingml/2006/main">
            <a:off x="619125" y="44291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315F4C"/>
                </a:solidFill>
                <a:latin typeface="Arial"/>
                <a:ea typeface="Arial"/>
                <a:cs typeface="Arial"/>
              </a:defRPr>
            </a:defPPr>
            <a:lvl1pPr algn="l">
              <a:defRPr sz="2025" b="1">
                <a:solidFill>
                  <a:srgbClr val="315F4C"/>
                </a:solidFill>
                <a:latin typeface="Arial"/>
                <a:ea typeface="Arial"/>
                <a:cs typeface="Arial"/>
              </a:defRPr>
            </a:lvl1pPr>
            <a:lvl2pPr algn="l">
              <a:defRPr sz="2025" b="1">
                <a:solidFill>
                  <a:srgbClr val="315F4C"/>
                </a:solidFill>
                <a:latin typeface="Arial"/>
                <a:ea typeface="Arial"/>
                <a:cs typeface="Arial"/>
              </a:defRPr>
            </a:lvl2pPr>
            <a:lvl3pPr algn="l">
              <a:defRPr sz="2025" b="1">
                <a:solidFill>
                  <a:srgbClr val="315F4C"/>
                </a:solidFill>
                <a:latin typeface="Arial"/>
                <a:ea typeface="Arial"/>
                <a:cs typeface="Arial"/>
              </a:defRPr>
            </a:lvl3pPr>
            <a:lvl4pPr algn="l">
              <a:defRPr sz="2025" b="1">
                <a:solidFill>
                  <a:srgbClr val="315F4C"/>
                </a:solidFill>
                <a:latin typeface="Arial"/>
                <a:ea typeface="Arial"/>
                <a:cs typeface="Arial"/>
              </a:defRPr>
            </a:lvl4pPr>
            <a:lvl5pPr algn="l">
              <a:defRPr sz="2025" b="1">
                <a:solidFill>
                  <a:srgbClr val="315F4C"/>
                </a:solidFill>
                <a:latin typeface="Arial"/>
                <a:ea typeface="Arial"/>
                <a:cs typeface="Arial"/>
              </a:defRPr>
            </a:lvl5pPr>
            <a:lvl6pPr algn="l">
              <a:defRPr sz="2025" b="1">
                <a:solidFill>
                  <a:srgbClr val="315F4C"/>
                </a:solidFill>
                <a:latin typeface="Arial"/>
                <a:ea typeface="Arial"/>
                <a:cs typeface="Arial"/>
              </a:defRPr>
            </a:lvl6pPr>
            <a:lvl7pPr algn="l">
              <a:defRPr sz="2025" b="1">
                <a:solidFill>
                  <a:srgbClr val="315F4C"/>
                </a:solidFill>
                <a:latin typeface="Arial"/>
                <a:ea typeface="Arial"/>
                <a:cs typeface="Arial"/>
              </a:defRPr>
            </a:lvl7pPr>
            <a:lvl8pPr algn="l">
              <a:defRPr sz="2025" b="1">
                <a:solidFill>
                  <a:srgbClr val="315F4C"/>
                </a:solidFill>
                <a:latin typeface="Arial"/>
                <a:ea typeface="Arial"/>
                <a:cs typeface="Arial"/>
              </a:defRPr>
            </a:lvl8pPr>
            <a:lvl9pPr algn="l">
              <a:defRPr sz="2025" b="1">
                <a:solidFill>
                  <a:srgbClr val="315F4C"/>
                </a:solidFill>
                <a:latin typeface="Arial"/>
                <a:ea typeface="Arial"/>
                <a:cs typeface="Arial"/>
              </a:defRPr>
            </a:lvl9pPr>
          </a:lstStyle>
          <a:p xmlns:a="http://schemas.openxmlformats.org/drawingml/2006/main">
            <a:pPr algn="l">
              <a:defRPr sz="2025" b="1">
                <a:solidFill>
                  <a:srgbClr val="315F4C"/>
                </a:solidFill>
                <a:latin typeface="Arial"/>
                <a:ea typeface="Arial"/>
                <a:cs typeface="Arial"/>
              </a:defRPr>
            </a:pPr>
            <a:r>
              <a:rPr sz="2025" b="1">
                <a:solidFill>
                  <a:srgbClr val="315F4C"/>
                </a:solidFill>
                <a:latin typeface="Arial"/>
                <a:ea typeface="Arial"/>
                <a:cs typeface="Arial"/>
              </a:rPr>
              <a:t>Contribution and final outcome</a:t>
            </a:r>
          </a:p>
        </p:txBody>
      </p:sp>
      <p:sp>
        <p:nvSpPr>
          <p:cNvPr id="11" name="">
            <a:extLst xmlns:a="http://schemas.openxmlformats.org/drawingml/2006/main">
              <a:ext uri="{FF2B5EF4-FFF2-40B4-BE49-F238E27FC236}">
                <a16:creationId xmlns:a16="http://schemas.microsoft.com/office/drawing/2014/main" id="{E279664B-D8C9-4F69-A60A-C314BDEDC3F6}"/>
              </a:ext>
            </a:extLst>
          </p:cNvPr>
          <p:cNvSpPr>
            <a:spLocks xmlns:a="http://schemas.openxmlformats.org/drawingml/2006/main" noGrp="1"/>
          </p:cNvSpPr>
          <p:nvPr/>
        </p:nvSpPr>
        <p:spPr>
          <a:xfrm xmlns:a="http://schemas.openxmlformats.org/drawingml/2006/main">
            <a:off x="619125" y="48101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263B34"/>
                </a:solidFill>
                <a:latin typeface="Arial"/>
                <a:ea typeface="Arial"/>
                <a:cs typeface="Arial"/>
              </a:defRPr>
            </a:defPPr>
            <a:lvl1pPr algn="l">
              <a:defRPr sz="1875" b="0">
                <a:solidFill>
                  <a:srgbClr val="263B34"/>
                </a:solidFill>
                <a:latin typeface="Arial"/>
                <a:ea typeface="Arial"/>
                <a:cs typeface="Arial"/>
              </a:defRPr>
            </a:lvl1pPr>
            <a:lvl2pPr algn="l">
              <a:defRPr sz="1875" b="0">
                <a:solidFill>
                  <a:srgbClr val="263B34"/>
                </a:solidFill>
                <a:latin typeface="Arial"/>
                <a:ea typeface="Arial"/>
                <a:cs typeface="Arial"/>
              </a:defRPr>
            </a:lvl2pPr>
            <a:lvl3pPr algn="l">
              <a:defRPr sz="1875" b="0">
                <a:solidFill>
                  <a:srgbClr val="263B34"/>
                </a:solidFill>
                <a:latin typeface="Arial"/>
                <a:ea typeface="Arial"/>
                <a:cs typeface="Arial"/>
              </a:defRPr>
            </a:lvl3pPr>
            <a:lvl4pPr algn="l">
              <a:defRPr sz="1875" b="0">
                <a:solidFill>
                  <a:srgbClr val="263B34"/>
                </a:solidFill>
                <a:latin typeface="Arial"/>
                <a:ea typeface="Arial"/>
                <a:cs typeface="Arial"/>
              </a:defRPr>
            </a:lvl4pPr>
            <a:lvl5pPr algn="l">
              <a:defRPr sz="1875" b="0">
                <a:solidFill>
                  <a:srgbClr val="263B34"/>
                </a:solidFill>
                <a:latin typeface="Arial"/>
                <a:ea typeface="Arial"/>
                <a:cs typeface="Arial"/>
              </a:defRPr>
            </a:lvl5pPr>
            <a:lvl6pPr algn="l">
              <a:defRPr sz="1875" b="0">
                <a:solidFill>
                  <a:srgbClr val="263B34"/>
                </a:solidFill>
                <a:latin typeface="Arial"/>
                <a:ea typeface="Arial"/>
                <a:cs typeface="Arial"/>
              </a:defRPr>
            </a:lvl6pPr>
            <a:lvl7pPr algn="l">
              <a:defRPr sz="1875" b="0">
                <a:solidFill>
                  <a:srgbClr val="263B34"/>
                </a:solidFill>
                <a:latin typeface="Arial"/>
                <a:ea typeface="Arial"/>
                <a:cs typeface="Arial"/>
              </a:defRPr>
            </a:lvl7pPr>
            <a:lvl8pPr algn="l">
              <a:defRPr sz="1875" b="0">
                <a:solidFill>
                  <a:srgbClr val="263B34"/>
                </a:solidFill>
                <a:latin typeface="Arial"/>
                <a:ea typeface="Arial"/>
                <a:cs typeface="Arial"/>
              </a:defRPr>
            </a:lvl8pPr>
            <a:lvl9pPr algn="l">
              <a:defRPr sz="1875" b="0">
                <a:solidFill>
                  <a:srgbClr val="263B34"/>
                </a:solidFill>
                <a:latin typeface="Arial"/>
                <a:ea typeface="Arial"/>
                <a:cs typeface="Arial"/>
              </a:defRPr>
            </a:lvl9pPr>
          </a:lstStyle>
          <a:p xmlns:a="http://schemas.openxmlformats.org/drawingml/2006/main">
            <a:pPr algn="l">
              <a:defRPr sz="1875" b="0">
                <a:solidFill>
                  <a:srgbClr val="263B34"/>
                </a:solidFill>
                <a:latin typeface="Arial"/>
                <a:ea typeface="Arial"/>
                <a:cs typeface="Arial"/>
              </a:defRPr>
            </a:pPr>
            <a:r>
              <a:rPr sz="1875" b="0">
                <a:solidFill>
                  <a:srgbClr val="263B34"/>
                </a:solidFill>
                <a:latin typeface="Arial"/>
                <a:ea typeface="Arial"/>
                <a:cs typeface="Arial"/>
              </a:rPr>
              <a:t>The project connects scheduling theory with measurable experiments and guided explanations. It demonstrates workload-dependent trade-offs within a manageable student implementation.</a:t>
            </a:r>
          </a:p>
        </p:txBody>
      </p:sp>
    </p:spTree>
    <p:extLst>
      <p:ext uri="{BB962C8B-B14F-4D97-AF65-F5344CB8AC3E}">
        <p14:creationId xmlns:p14="http://schemas.microsoft.com/office/powerpoint/2010/main" val="1719706919"/>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7ECAF5-B441-4F09-B64A-ED495611EA6D}"/>
              </a:ext>
            </a:extLst>
          </p:cNvPr>
          <p:cNvSpPr>
            <a:spLocks xmlns:a="http://schemas.openxmlformats.org/drawingml/2006/main" noGrp="1"/>
          </p:cNvSpPr>
          <p:nvPr/>
        </p:nvSpPr>
        <p:spPr>
          <a:xfrm xmlns:a="http://schemas.openxmlformats.org/drawingml/2006/main">
            <a:off x="571500" y="2667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125" b="1">
                <a:solidFill>
                  <a:srgbClr val="315F4C"/>
                </a:solidFill>
                <a:latin typeface="Arial"/>
                <a:ea typeface="Arial"/>
                <a:cs typeface="Arial"/>
              </a:defRPr>
            </a:defPPr>
            <a:lvl1pPr algn="l">
              <a:defRPr sz="1125" b="1">
                <a:solidFill>
                  <a:srgbClr val="315F4C"/>
                </a:solidFill>
                <a:latin typeface="Arial"/>
                <a:ea typeface="Arial"/>
                <a:cs typeface="Arial"/>
              </a:defRPr>
            </a:lvl1pPr>
            <a:lvl2pPr algn="l">
              <a:defRPr sz="1125" b="1">
                <a:solidFill>
                  <a:srgbClr val="315F4C"/>
                </a:solidFill>
                <a:latin typeface="Arial"/>
                <a:ea typeface="Arial"/>
                <a:cs typeface="Arial"/>
              </a:defRPr>
            </a:lvl2pPr>
            <a:lvl3pPr algn="l">
              <a:defRPr sz="1125" b="1">
                <a:solidFill>
                  <a:srgbClr val="315F4C"/>
                </a:solidFill>
                <a:latin typeface="Arial"/>
                <a:ea typeface="Arial"/>
                <a:cs typeface="Arial"/>
              </a:defRPr>
            </a:lvl3pPr>
            <a:lvl4pPr algn="l">
              <a:defRPr sz="1125" b="1">
                <a:solidFill>
                  <a:srgbClr val="315F4C"/>
                </a:solidFill>
                <a:latin typeface="Arial"/>
                <a:ea typeface="Arial"/>
                <a:cs typeface="Arial"/>
              </a:defRPr>
            </a:lvl4pPr>
            <a:lvl5pPr algn="l">
              <a:defRPr sz="1125" b="1">
                <a:solidFill>
                  <a:srgbClr val="315F4C"/>
                </a:solidFill>
                <a:latin typeface="Arial"/>
                <a:ea typeface="Arial"/>
                <a:cs typeface="Arial"/>
              </a:defRPr>
            </a:lvl5pPr>
            <a:lvl6pPr algn="l">
              <a:defRPr sz="1125" b="1">
                <a:solidFill>
                  <a:srgbClr val="315F4C"/>
                </a:solidFill>
                <a:latin typeface="Arial"/>
                <a:ea typeface="Arial"/>
                <a:cs typeface="Arial"/>
              </a:defRPr>
            </a:lvl6pPr>
            <a:lvl7pPr algn="l">
              <a:defRPr sz="1125" b="1">
                <a:solidFill>
                  <a:srgbClr val="315F4C"/>
                </a:solidFill>
                <a:latin typeface="Arial"/>
                <a:ea typeface="Arial"/>
                <a:cs typeface="Arial"/>
              </a:defRPr>
            </a:lvl7pPr>
            <a:lvl8pPr algn="l">
              <a:defRPr sz="1125" b="1">
                <a:solidFill>
                  <a:srgbClr val="315F4C"/>
                </a:solidFill>
                <a:latin typeface="Arial"/>
                <a:ea typeface="Arial"/>
                <a:cs typeface="Arial"/>
              </a:defRPr>
            </a:lvl8pPr>
            <a:lvl9pPr algn="l">
              <a:defRPr sz="1125" b="1">
                <a:solidFill>
                  <a:srgbClr val="315F4C"/>
                </a:solidFill>
                <a:latin typeface="Arial"/>
                <a:ea typeface="Arial"/>
                <a:cs typeface="Arial"/>
              </a:defRPr>
            </a:lvl9pPr>
          </a:lstStyle>
          <a:p xmlns:a="http://schemas.openxmlformats.org/drawingml/2006/main">
            <a:pPr algn="l">
              <a:defRPr sz="1125" b="1">
                <a:solidFill>
                  <a:srgbClr val="315F4C"/>
                </a:solidFill>
                <a:latin typeface="Arial"/>
                <a:ea typeface="Arial"/>
                <a:cs typeface="Arial"/>
              </a:defRPr>
            </a:pPr>
            <a:r>
              <a:rPr sz="1125" b="1">
                <a:solidFill>
                  <a:srgbClr val="315F4C"/>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AB30D5C4-B590-46C4-86DA-5A123442ABD3}"/>
              </a:ext>
            </a:extLst>
          </p:cNvPr>
          <p:cNvSpPr>
            <a:spLocks xmlns:a="http://schemas.openxmlformats.org/drawingml/2006/main" noGrp="1"/>
          </p:cNvSpPr>
          <p:nvPr/>
        </p:nvSpPr>
        <p:spPr>
          <a:xfrm xmlns:a="http://schemas.openxmlformats.org/drawingml/2006/main">
            <a:off x="571500" y="6191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000" b="1">
                <a:solidFill>
                  <a:srgbClr val="263B34"/>
                </a:solidFill>
                <a:latin typeface="Arial"/>
                <a:ea typeface="Arial"/>
                <a:cs typeface="Arial"/>
              </a:defRPr>
            </a:defPPr>
            <a:lvl1pPr algn="l">
              <a:defRPr sz="3000" b="1">
                <a:solidFill>
                  <a:srgbClr val="263B34"/>
                </a:solidFill>
                <a:latin typeface="Arial"/>
                <a:ea typeface="Arial"/>
                <a:cs typeface="Arial"/>
              </a:defRPr>
            </a:lvl1pPr>
            <a:lvl2pPr algn="l">
              <a:defRPr sz="3000" b="1">
                <a:solidFill>
                  <a:srgbClr val="263B34"/>
                </a:solidFill>
                <a:latin typeface="Arial"/>
                <a:ea typeface="Arial"/>
                <a:cs typeface="Arial"/>
              </a:defRPr>
            </a:lvl2pPr>
            <a:lvl3pPr algn="l">
              <a:defRPr sz="3000" b="1">
                <a:solidFill>
                  <a:srgbClr val="263B34"/>
                </a:solidFill>
                <a:latin typeface="Arial"/>
                <a:ea typeface="Arial"/>
                <a:cs typeface="Arial"/>
              </a:defRPr>
            </a:lvl3pPr>
            <a:lvl4pPr algn="l">
              <a:defRPr sz="3000" b="1">
                <a:solidFill>
                  <a:srgbClr val="263B34"/>
                </a:solidFill>
                <a:latin typeface="Arial"/>
                <a:ea typeface="Arial"/>
                <a:cs typeface="Arial"/>
              </a:defRPr>
            </a:lvl4pPr>
            <a:lvl5pPr algn="l">
              <a:defRPr sz="3000" b="1">
                <a:solidFill>
                  <a:srgbClr val="263B34"/>
                </a:solidFill>
                <a:latin typeface="Arial"/>
                <a:ea typeface="Arial"/>
                <a:cs typeface="Arial"/>
              </a:defRPr>
            </a:lvl5pPr>
            <a:lvl6pPr algn="l">
              <a:defRPr sz="3000" b="1">
                <a:solidFill>
                  <a:srgbClr val="263B34"/>
                </a:solidFill>
                <a:latin typeface="Arial"/>
                <a:ea typeface="Arial"/>
                <a:cs typeface="Arial"/>
              </a:defRPr>
            </a:lvl6pPr>
            <a:lvl7pPr algn="l">
              <a:defRPr sz="3000" b="1">
                <a:solidFill>
                  <a:srgbClr val="263B34"/>
                </a:solidFill>
                <a:latin typeface="Arial"/>
                <a:ea typeface="Arial"/>
                <a:cs typeface="Arial"/>
              </a:defRPr>
            </a:lvl7pPr>
            <a:lvl8pPr algn="l">
              <a:defRPr sz="3000" b="1">
                <a:solidFill>
                  <a:srgbClr val="263B34"/>
                </a:solidFill>
                <a:latin typeface="Arial"/>
                <a:ea typeface="Arial"/>
                <a:cs typeface="Arial"/>
              </a:defRPr>
            </a:lvl8pPr>
            <a:lvl9pPr algn="l">
              <a:defRPr sz="3000" b="1">
                <a:solidFill>
                  <a:srgbClr val="263B34"/>
                </a:solidFill>
                <a:latin typeface="Arial"/>
                <a:ea typeface="Arial"/>
                <a:cs typeface="Arial"/>
              </a:defRPr>
            </a:lvl9pPr>
          </a:lstStyle>
          <a:p xmlns:a="http://schemas.openxmlformats.org/drawingml/2006/main">
            <a:pPr algn="l">
              <a:defRPr sz="3000" b="1">
                <a:solidFill>
                  <a:srgbClr val="263B34"/>
                </a:solidFill>
                <a:latin typeface="Arial"/>
                <a:ea typeface="Arial"/>
                <a:cs typeface="Arial"/>
              </a:defRPr>
            </a:pPr>
            <a:r>
              <a:rPr sz="3000" b="1">
                <a:solidFill>
                  <a:srgbClr val="263B34"/>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B196A82A-3D86-47C6-A9F2-3265FEB0C4EE}"/>
              </a:ext>
            </a:extLst>
          </p:cNvPr>
          <p:cNvSpPr>
            <a:spLocks xmlns:a="http://schemas.openxmlformats.org/drawingml/2006/main" noGrp="1"/>
          </p:cNvSpPr>
          <p:nvPr/>
        </p:nvSpPr>
        <p:spPr>
          <a:xfrm xmlns:a="http://schemas.openxmlformats.org/drawingml/2006/main">
            <a:off x="571500" y="1257300"/>
            <a:ext cx="11049000" cy="0"/>
          </a:xfrm>
          <a:prstGeom xmlns:a="http://schemas.openxmlformats.org/drawingml/2006/main" prst="line">
            <a:avLst/>
          </a:prstGeom>
          <a:ln xmlns:a="http://schemas.openxmlformats.org/drawingml/2006/main" w="9525">
            <a:solidFill>
              <a:srgbClr val="D8DED5"/>
            </a:solidFill>
          </a:ln>
        </p:spPr>
      </p:sp>
      <p:sp>
        <p:nvSpPr>
          <p:cNvPr id="4" name="">
            <a:extLst xmlns:a="http://schemas.openxmlformats.org/drawingml/2006/main">
              <a:ext uri="{FF2B5EF4-FFF2-40B4-BE49-F238E27FC236}">
                <a16:creationId xmlns:a16="http://schemas.microsoft.com/office/drawing/2014/main" id="{2009764B-327D-48CE-AE18-4488674DF8C9}"/>
              </a:ext>
            </a:extLst>
          </p:cNvPr>
          <p:cNvSpPr>
            <a:spLocks xmlns:a="http://schemas.openxmlformats.org/drawingml/2006/main" noGrp="1"/>
          </p:cNvSpPr>
          <p:nvPr/>
        </p:nvSpPr>
        <p:spPr>
          <a:xfrm xmlns:a="http://schemas.openxmlformats.org/drawingml/2006/main">
            <a:off x="571500" y="64389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975" b="0">
                <a:solidFill>
                  <a:srgbClr val="65716A"/>
                </a:solidFill>
                <a:latin typeface="Arial"/>
                <a:ea typeface="Arial"/>
                <a:cs typeface="Arial"/>
              </a:defRPr>
            </a:defPPr>
            <a:lvl1pPr algn="l">
              <a:defRPr sz="975" b="0">
                <a:solidFill>
                  <a:srgbClr val="65716A"/>
                </a:solidFill>
                <a:latin typeface="Arial"/>
                <a:ea typeface="Arial"/>
                <a:cs typeface="Arial"/>
              </a:defRPr>
            </a:lvl1pPr>
            <a:lvl2pPr algn="l">
              <a:defRPr sz="975" b="0">
                <a:solidFill>
                  <a:srgbClr val="65716A"/>
                </a:solidFill>
                <a:latin typeface="Arial"/>
                <a:ea typeface="Arial"/>
                <a:cs typeface="Arial"/>
              </a:defRPr>
            </a:lvl2pPr>
            <a:lvl3pPr algn="l">
              <a:defRPr sz="975" b="0">
                <a:solidFill>
                  <a:srgbClr val="65716A"/>
                </a:solidFill>
                <a:latin typeface="Arial"/>
                <a:ea typeface="Arial"/>
                <a:cs typeface="Arial"/>
              </a:defRPr>
            </a:lvl3pPr>
            <a:lvl4pPr algn="l">
              <a:defRPr sz="975" b="0">
                <a:solidFill>
                  <a:srgbClr val="65716A"/>
                </a:solidFill>
                <a:latin typeface="Arial"/>
                <a:ea typeface="Arial"/>
                <a:cs typeface="Arial"/>
              </a:defRPr>
            </a:lvl4pPr>
            <a:lvl5pPr algn="l">
              <a:defRPr sz="975" b="0">
                <a:solidFill>
                  <a:srgbClr val="65716A"/>
                </a:solidFill>
                <a:latin typeface="Arial"/>
                <a:ea typeface="Arial"/>
                <a:cs typeface="Arial"/>
              </a:defRPr>
            </a:lvl5pPr>
            <a:lvl6pPr algn="l">
              <a:defRPr sz="975" b="0">
                <a:solidFill>
                  <a:srgbClr val="65716A"/>
                </a:solidFill>
                <a:latin typeface="Arial"/>
                <a:ea typeface="Arial"/>
                <a:cs typeface="Arial"/>
              </a:defRPr>
            </a:lvl6pPr>
            <a:lvl7pPr algn="l">
              <a:defRPr sz="975" b="0">
                <a:solidFill>
                  <a:srgbClr val="65716A"/>
                </a:solidFill>
                <a:latin typeface="Arial"/>
                <a:ea typeface="Arial"/>
                <a:cs typeface="Arial"/>
              </a:defRPr>
            </a:lvl7pPr>
            <a:lvl8pPr algn="l">
              <a:defRPr sz="975" b="0">
                <a:solidFill>
                  <a:srgbClr val="65716A"/>
                </a:solidFill>
                <a:latin typeface="Arial"/>
                <a:ea typeface="Arial"/>
                <a:cs typeface="Arial"/>
              </a:defRPr>
            </a:lvl8pPr>
            <a:lvl9pPr algn="l">
              <a:defRPr sz="975" b="0">
                <a:solidFill>
                  <a:srgbClr val="65716A"/>
                </a:solidFill>
                <a:latin typeface="Arial"/>
                <a:ea typeface="Arial"/>
                <a:cs typeface="Arial"/>
              </a:defRPr>
            </a:lvl9pPr>
          </a:lstStyle>
          <a:p xmlns:a="http://schemas.openxmlformats.org/drawingml/2006/main">
            <a:pPr algn="l">
              <a:defRPr sz="975" b="0">
                <a:solidFill>
                  <a:srgbClr val="65716A"/>
                </a:solidFill>
                <a:latin typeface="Arial"/>
                <a:ea typeface="Arial"/>
                <a:cs typeface="Arial"/>
              </a:defRPr>
            </a:pPr>
            <a:r>
              <a:rPr sz="975" b="0">
                <a:solidFill>
                  <a:srgbClr val="65716A"/>
                </a:solidFill>
                <a:latin typeface="Arial"/>
                <a:ea typeface="Arial"/>
                <a:cs typeface="Arial"/>
              </a:rPr>
              <a:t>PolicyForge AI / Operating Systems Project</a:t>
            </a:r>
          </a:p>
        </p:txBody>
      </p:sp>
      <p:sp>
        <p:nvSpPr>
          <p:cNvPr id="5" name="">
            <a:extLst xmlns:a="http://schemas.openxmlformats.org/drawingml/2006/main">
              <a:ext uri="{FF2B5EF4-FFF2-40B4-BE49-F238E27FC236}">
                <a16:creationId xmlns:a16="http://schemas.microsoft.com/office/drawing/2014/main" id="{1620FDD2-6051-4C28-8719-815450B09AAE}"/>
              </a:ext>
            </a:extLst>
          </p:cNvPr>
          <p:cNvSpPr>
            <a:spLocks xmlns:a="http://schemas.openxmlformats.org/drawingml/2006/main" noGrp="1"/>
          </p:cNvSpPr>
          <p:nvPr/>
        </p:nvSpPr>
        <p:spPr>
          <a:xfrm xmlns:a="http://schemas.openxmlformats.org/drawingml/2006/main">
            <a:off x="10953750" y="641985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050" b="1">
                <a:solidFill>
                  <a:srgbClr val="315F4C"/>
                </a:solidFill>
                <a:latin typeface="Arial"/>
                <a:ea typeface="Arial"/>
                <a:cs typeface="Arial"/>
              </a:defRPr>
            </a:defPPr>
            <a:lvl1pPr algn="r">
              <a:defRPr sz="1050" b="1">
                <a:solidFill>
                  <a:srgbClr val="315F4C"/>
                </a:solidFill>
                <a:latin typeface="Arial"/>
                <a:ea typeface="Arial"/>
                <a:cs typeface="Arial"/>
              </a:defRPr>
            </a:lvl1pPr>
            <a:lvl2pPr algn="r">
              <a:defRPr sz="1050" b="1">
                <a:solidFill>
                  <a:srgbClr val="315F4C"/>
                </a:solidFill>
                <a:latin typeface="Arial"/>
                <a:ea typeface="Arial"/>
                <a:cs typeface="Arial"/>
              </a:defRPr>
            </a:lvl2pPr>
            <a:lvl3pPr algn="r">
              <a:defRPr sz="1050" b="1">
                <a:solidFill>
                  <a:srgbClr val="315F4C"/>
                </a:solidFill>
                <a:latin typeface="Arial"/>
                <a:ea typeface="Arial"/>
                <a:cs typeface="Arial"/>
              </a:defRPr>
            </a:lvl3pPr>
            <a:lvl4pPr algn="r">
              <a:defRPr sz="1050" b="1">
                <a:solidFill>
                  <a:srgbClr val="315F4C"/>
                </a:solidFill>
                <a:latin typeface="Arial"/>
                <a:ea typeface="Arial"/>
                <a:cs typeface="Arial"/>
              </a:defRPr>
            </a:lvl4pPr>
            <a:lvl5pPr algn="r">
              <a:defRPr sz="1050" b="1">
                <a:solidFill>
                  <a:srgbClr val="315F4C"/>
                </a:solidFill>
                <a:latin typeface="Arial"/>
                <a:ea typeface="Arial"/>
                <a:cs typeface="Arial"/>
              </a:defRPr>
            </a:lvl5pPr>
            <a:lvl6pPr algn="r">
              <a:defRPr sz="1050" b="1">
                <a:solidFill>
                  <a:srgbClr val="315F4C"/>
                </a:solidFill>
                <a:latin typeface="Arial"/>
                <a:ea typeface="Arial"/>
                <a:cs typeface="Arial"/>
              </a:defRPr>
            </a:lvl6pPr>
            <a:lvl7pPr algn="r">
              <a:defRPr sz="1050" b="1">
                <a:solidFill>
                  <a:srgbClr val="315F4C"/>
                </a:solidFill>
                <a:latin typeface="Arial"/>
                <a:ea typeface="Arial"/>
                <a:cs typeface="Arial"/>
              </a:defRPr>
            </a:lvl7pPr>
            <a:lvl8pPr algn="r">
              <a:defRPr sz="1050" b="1">
                <a:solidFill>
                  <a:srgbClr val="315F4C"/>
                </a:solidFill>
                <a:latin typeface="Arial"/>
                <a:ea typeface="Arial"/>
                <a:cs typeface="Arial"/>
              </a:defRPr>
            </a:lvl8pPr>
            <a:lvl9pPr algn="r">
              <a:defRPr sz="1050" b="1">
                <a:solidFill>
                  <a:srgbClr val="315F4C"/>
                </a:solidFill>
                <a:latin typeface="Arial"/>
                <a:ea typeface="Arial"/>
                <a:cs typeface="Arial"/>
              </a:defRPr>
            </a:lvl9pPr>
          </a:lstStyle>
          <a:p xmlns:a="http://schemas.openxmlformats.org/drawingml/2006/main">
            <a:pPr algn="r">
              <a:defRPr sz="1050" b="1">
                <a:solidFill>
                  <a:srgbClr val="315F4C"/>
                </a:solidFill>
                <a:latin typeface="Arial"/>
                <a:ea typeface="Arial"/>
                <a:cs typeface="Arial"/>
              </a:defRPr>
            </a:pPr>
            <a:r>
              <a:rPr sz="1050" b="1">
                <a:solidFill>
                  <a:srgbClr val="315F4C"/>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203ECE8D-468A-494D-840C-A80C7C6F2AF8}"/>
              </a:ext>
            </a:extLst>
          </p:cNvPr>
          <p:cNvSpPr>
            <a:spLocks xmlns:a="http://schemas.openxmlformats.org/drawingml/2006/main" noGrp="1"/>
          </p:cNvSpPr>
          <p:nvPr/>
        </p:nvSpPr>
        <p:spPr>
          <a:xfrm xmlns:a="http://schemas.openxmlformats.org/drawingml/2006/main">
            <a:off x="619125" y="1571625"/>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15F4C"/>
                </a:solidFill>
                <a:latin typeface="Arial"/>
                <a:ea typeface="Arial"/>
                <a:cs typeface="Arial"/>
              </a:defRPr>
            </a:defPPr>
            <a:lvl1pPr algn="l">
              <a:defRPr sz="1800" b="1">
                <a:solidFill>
                  <a:srgbClr val="315F4C"/>
                </a:solidFill>
                <a:latin typeface="Arial"/>
                <a:ea typeface="Arial"/>
                <a:cs typeface="Arial"/>
              </a:defRPr>
            </a:lvl1pPr>
            <a:lvl2pPr algn="l">
              <a:defRPr sz="1800" b="1">
                <a:solidFill>
                  <a:srgbClr val="315F4C"/>
                </a:solidFill>
                <a:latin typeface="Arial"/>
                <a:ea typeface="Arial"/>
                <a:cs typeface="Arial"/>
              </a:defRPr>
            </a:lvl2pPr>
            <a:lvl3pPr algn="l">
              <a:defRPr sz="1800" b="1">
                <a:solidFill>
                  <a:srgbClr val="315F4C"/>
                </a:solidFill>
                <a:latin typeface="Arial"/>
                <a:ea typeface="Arial"/>
                <a:cs typeface="Arial"/>
              </a:defRPr>
            </a:lvl3pPr>
            <a:lvl4pPr algn="l">
              <a:defRPr sz="1800" b="1">
                <a:solidFill>
                  <a:srgbClr val="315F4C"/>
                </a:solidFill>
                <a:latin typeface="Arial"/>
                <a:ea typeface="Arial"/>
                <a:cs typeface="Arial"/>
              </a:defRPr>
            </a:lvl4pPr>
            <a:lvl5pPr algn="l">
              <a:defRPr sz="1800" b="1">
                <a:solidFill>
                  <a:srgbClr val="315F4C"/>
                </a:solidFill>
                <a:latin typeface="Arial"/>
                <a:ea typeface="Arial"/>
                <a:cs typeface="Arial"/>
              </a:defRPr>
            </a:lvl5pPr>
            <a:lvl6pPr algn="l">
              <a:defRPr sz="1800" b="1">
                <a:solidFill>
                  <a:srgbClr val="315F4C"/>
                </a:solidFill>
                <a:latin typeface="Arial"/>
                <a:ea typeface="Arial"/>
                <a:cs typeface="Arial"/>
              </a:defRPr>
            </a:lvl6pPr>
            <a:lvl7pPr algn="l">
              <a:defRPr sz="1800" b="1">
                <a:solidFill>
                  <a:srgbClr val="315F4C"/>
                </a:solidFill>
                <a:latin typeface="Arial"/>
                <a:ea typeface="Arial"/>
                <a:cs typeface="Arial"/>
              </a:defRPr>
            </a:lvl7pPr>
            <a:lvl8pPr algn="l">
              <a:defRPr sz="1800" b="1">
                <a:solidFill>
                  <a:srgbClr val="315F4C"/>
                </a:solidFill>
                <a:latin typeface="Arial"/>
                <a:ea typeface="Arial"/>
                <a:cs typeface="Arial"/>
              </a:defRPr>
            </a:lvl8pPr>
            <a:lvl9pPr algn="l">
              <a:defRPr sz="1800" b="1">
                <a:solidFill>
                  <a:srgbClr val="315F4C"/>
                </a:solidFill>
                <a:latin typeface="Arial"/>
                <a:ea typeface="Arial"/>
                <a:cs typeface="Arial"/>
              </a:defRPr>
            </a:lvl9pPr>
          </a:lstStyle>
          <a:p xmlns:a="http://schemas.openxmlformats.org/drawingml/2006/main">
            <a:pPr algn="l">
              <a:defRPr sz="1800" b="1">
                <a:solidFill>
                  <a:srgbClr val="315F4C"/>
                </a:solidFill>
                <a:latin typeface="Arial"/>
                <a:ea typeface="Arial"/>
                <a:cs typeface="Arial"/>
              </a:defRPr>
            </a:pPr>
            <a:r>
              <a:rPr sz="1800" b="1">
                <a:solidFill>
                  <a:srgbClr val="315F4C"/>
                </a:solidFill>
                <a:latin typeface="Arial"/>
                <a:ea typeface="Arial"/>
                <a:cs typeface="Arial"/>
              </a:rPr>
              <a:t>1. R. H. Arpaci-Dusseau and A. C. Arpaci-Dusseau</a:t>
            </a:r>
          </a:p>
        </p:txBody>
      </p:sp>
      <p:sp>
        <p:nvSpPr>
          <p:cNvPr id="7" name="">
            <a:extLst xmlns:a="http://schemas.openxmlformats.org/drawingml/2006/main">
              <a:ext uri="{FF2B5EF4-FFF2-40B4-BE49-F238E27FC236}">
                <a16:creationId xmlns:a16="http://schemas.microsoft.com/office/drawing/2014/main" id="{E682B7F4-5030-467C-9D77-D3DB093F0ACF}"/>
              </a:ext>
            </a:extLst>
          </p:cNvPr>
          <p:cNvSpPr>
            <a:spLocks xmlns:a="http://schemas.openxmlformats.org/drawingml/2006/main" noGrp="1"/>
          </p:cNvSpPr>
          <p:nvPr/>
        </p:nvSpPr>
        <p:spPr>
          <a:xfrm xmlns:a="http://schemas.openxmlformats.org/drawingml/2006/main">
            <a:off x="619125" y="192405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63B34"/>
                </a:solidFill>
                <a:latin typeface="Arial"/>
                <a:ea typeface="Arial"/>
                <a:cs typeface="Arial"/>
              </a:defRPr>
            </a:defPPr>
            <a:lvl1pPr algn="l">
              <a:defRPr sz="1650" b="0">
                <a:solidFill>
                  <a:srgbClr val="263B34"/>
                </a:solidFill>
                <a:latin typeface="Arial"/>
                <a:ea typeface="Arial"/>
                <a:cs typeface="Arial"/>
              </a:defRPr>
            </a:lvl1pPr>
            <a:lvl2pPr algn="l">
              <a:defRPr sz="1650" b="0">
                <a:solidFill>
                  <a:srgbClr val="263B34"/>
                </a:solidFill>
                <a:latin typeface="Arial"/>
                <a:ea typeface="Arial"/>
                <a:cs typeface="Arial"/>
              </a:defRPr>
            </a:lvl2pPr>
            <a:lvl3pPr algn="l">
              <a:defRPr sz="1650" b="0">
                <a:solidFill>
                  <a:srgbClr val="263B34"/>
                </a:solidFill>
                <a:latin typeface="Arial"/>
                <a:ea typeface="Arial"/>
                <a:cs typeface="Arial"/>
              </a:defRPr>
            </a:lvl3pPr>
            <a:lvl4pPr algn="l">
              <a:defRPr sz="1650" b="0">
                <a:solidFill>
                  <a:srgbClr val="263B34"/>
                </a:solidFill>
                <a:latin typeface="Arial"/>
                <a:ea typeface="Arial"/>
                <a:cs typeface="Arial"/>
              </a:defRPr>
            </a:lvl4pPr>
            <a:lvl5pPr algn="l">
              <a:defRPr sz="1650" b="0">
                <a:solidFill>
                  <a:srgbClr val="263B34"/>
                </a:solidFill>
                <a:latin typeface="Arial"/>
                <a:ea typeface="Arial"/>
                <a:cs typeface="Arial"/>
              </a:defRPr>
            </a:lvl5pPr>
            <a:lvl6pPr algn="l">
              <a:defRPr sz="1650" b="0">
                <a:solidFill>
                  <a:srgbClr val="263B34"/>
                </a:solidFill>
                <a:latin typeface="Arial"/>
                <a:ea typeface="Arial"/>
                <a:cs typeface="Arial"/>
              </a:defRPr>
            </a:lvl6pPr>
            <a:lvl7pPr algn="l">
              <a:defRPr sz="1650" b="0">
                <a:solidFill>
                  <a:srgbClr val="263B34"/>
                </a:solidFill>
                <a:latin typeface="Arial"/>
                <a:ea typeface="Arial"/>
                <a:cs typeface="Arial"/>
              </a:defRPr>
            </a:lvl7pPr>
            <a:lvl8pPr algn="l">
              <a:defRPr sz="1650" b="0">
                <a:solidFill>
                  <a:srgbClr val="263B34"/>
                </a:solidFill>
                <a:latin typeface="Arial"/>
                <a:ea typeface="Arial"/>
                <a:cs typeface="Arial"/>
              </a:defRPr>
            </a:lvl8pPr>
            <a:lvl9pPr algn="l">
              <a:defRPr sz="1650" b="0">
                <a:solidFill>
                  <a:srgbClr val="263B34"/>
                </a:solidFill>
                <a:latin typeface="Arial"/>
                <a:ea typeface="Arial"/>
                <a:cs typeface="Arial"/>
              </a:defRPr>
            </a:lvl9pPr>
          </a:lstStyle>
          <a:p xmlns:a="http://schemas.openxmlformats.org/drawingml/2006/main">
            <a:pPr algn="l">
              <a:defRPr sz="1650" b="0">
                <a:solidFill>
                  <a:srgbClr val="263B34"/>
                </a:solidFill>
                <a:latin typeface="Arial"/>
                <a:ea typeface="Arial"/>
                <a:cs typeface="Arial"/>
              </a:defRPr>
            </a:pPr>
            <a:r>
              <a:rPr sz="1650" b="0">
                <a:solidFill>
                  <a:srgbClr val="263B34"/>
                </a:solidFill>
                <a:latin typeface="Arial"/>
                <a:ea typeface="Arial"/>
                <a:cs typeface="Arial"/>
              </a:rPr>
              <a:t>Operating Systems: Three Easy Pieces, Chapter 7: Scheduling: Introduction.</a:t>
            </a:r>
          </a:p>
        </p:txBody>
      </p:sp>
      <p:sp>
        <p:nvSpPr>
          <p:cNvPr id="8" name="">
            <a:extLst xmlns:a="http://schemas.openxmlformats.org/drawingml/2006/main">
              <a:ext uri="{FF2B5EF4-FFF2-40B4-BE49-F238E27FC236}">
                <a16:creationId xmlns:a16="http://schemas.microsoft.com/office/drawing/2014/main" id="{B80536C4-2A81-492E-943D-0F4152E37A59}"/>
              </a:ext>
            </a:extLst>
          </p:cNvPr>
          <p:cNvSpPr>
            <a:spLocks xmlns:a="http://schemas.openxmlformats.org/drawingml/2006/main" noGrp="1"/>
          </p:cNvSpPr>
          <p:nvPr/>
        </p:nvSpPr>
        <p:spPr>
          <a:xfrm xmlns:a="http://schemas.openxmlformats.org/drawingml/2006/main">
            <a:off x="619125" y="2314575"/>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65716A"/>
                </a:solidFill>
                <a:latin typeface="Arial"/>
                <a:ea typeface="Arial"/>
                <a:cs typeface="Arial"/>
              </a:defRPr>
            </a:defPPr>
            <a:lvl1pPr algn="l">
              <a:defRPr sz="1425" b="0">
                <a:solidFill>
                  <a:srgbClr val="65716A"/>
                </a:solidFill>
                <a:latin typeface="Arial"/>
                <a:ea typeface="Arial"/>
                <a:cs typeface="Arial"/>
              </a:defRPr>
            </a:lvl1pPr>
            <a:lvl2pPr algn="l">
              <a:defRPr sz="1425" b="0">
                <a:solidFill>
                  <a:srgbClr val="65716A"/>
                </a:solidFill>
                <a:latin typeface="Arial"/>
                <a:ea typeface="Arial"/>
                <a:cs typeface="Arial"/>
              </a:defRPr>
            </a:lvl2pPr>
            <a:lvl3pPr algn="l">
              <a:defRPr sz="1425" b="0">
                <a:solidFill>
                  <a:srgbClr val="65716A"/>
                </a:solidFill>
                <a:latin typeface="Arial"/>
                <a:ea typeface="Arial"/>
                <a:cs typeface="Arial"/>
              </a:defRPr>
            </a:lvl3pPr>
            <a:lvl4pPr algn="l">
              <a:defRPr sz="1425" b="0">
                <a:solidFill>
                  <a:srgbClr val="65716A"/>
                </a:solidFill>
                <a:latin typeface="Arial"/>
                <a:ea typeface="Arial"/>
                <a:cs typeface="Arial"/>
              </a:defRPr>
            </a:lvl4pPr>
            <a:lvl5pPr algn="l">
              <a:defRPr sz="1425" b="0">
                <a:solidFill>
                  <a:srgbClr val="65716A"/>
                </a:solidFill>
                <a:latin typeface="Arial"/>
                <a:ea typeface="Arial"/>
                <a:cs typeface="Arial"/>
              </a:defRPr>
            </a:lvl5pPr>
            <a:lvl6pPr algn="l">
              <a:defRPr sz="1425" b="0">
                <a:solidFill>
                  <a:srgbClr val="65716A"/>
                </a:solidFill>
                <a:latin typeface="Arial"/>
                <a:ea typeface="Arial"/>
                <a:cs typeface="Arial"/>
              </a:defRPr>
            </a:lvl6pPr>
            <a:lvl7pPr algn="l">
              <a:defRPr sz="1425" b="0">
                <a:solidFill>
                  <a:srgbClr val="65716A"/>
                </a:solidFill>
                <a:latin typeface="Arial"/>
                <a:ea typeface="Arial"/>
                <a:cs typeface="Arial"/>
              </a:defRPr>
            </a:lvl7pPr>
            <a:lvl8pPr algn="l">
              <a:defRPr sz="1425" b="0">
                <a:solidFill>
                  <a:srgbClr val="65716A"/>
                </a:solidFill>
                <a:latin typeface="Arial"/>
                <a:ea typeface="Arial"/>
                <a:cs typeface="Arial"/>
              </a:defRPr>
            </a:lvl8pPr>
            <a:lvl9pPr algn="l">
              <a:defRPr sz="1425" b="0">
                <a:solidFill>
                  <a:srgbClr val="65716A"/>
                </a:solidFill>
                <a:latin typeface="Arial"/>
                <a:ea typeface="Arial"/>
                <a:cs typeface="Arial"/>
              </a:defRPr>
            </a:lvl9pPr>
          </a:lstStyle>
          <a:p xmlns:a="http://schemas.openxmlformats.org/drawingml/2006/main">
            <a:pPr algn="l">
              <a:defRPr sz="1425" b="0">
                <a:solidFill>
                  <a:srgbClr val="65716A"/>
                </a:solidFill>
                <a:latin typeface="Arial"/>
                <a:ea typeface="Arial"/>
                <a:cs typeface="Arial"/>
              </a:defRPr>
            </a:pPr>
            <a:r>
              <a:rPr sz="1425" b="0">
                <a:solidFill>
                  <a:srgbClr val="65716A"/>
                </a:solidFill>
                <a:latin typeface="Arial"/>
                <a:ea typeface="Arial"/>
                <a:cs typeface="Arial"/>
              </a:rPr>
              <a:t>https://pages.cs.wisc.edu/~remzi/OSTEP/cpu-sched.pdf</a:t>
            </a:r>
          </a:p>
        </p:txBody>
      </p:sp>
      <p:sp>
        <p:nvSpPr>
          <p:cNvPr id="9" name="">
            <a:extLst xmlns:a="http://schemas.openxmlformats.org/drawingml/2006/main">
              <a:ext uri="{FF2B5EF4-FFF2-40B4-BE49-F238E27FC236}">
                <a16:creationId xmlns:a16="http://schemas.microsoft.com/office/drawing/2014/main" id="{1AE76CAD-E259-4C63-8A45-5A5785089336}"/>
              </a:ext>
            </a:extLst>
          </p:cNvPr>
          <p:cNvSpPr>
            <a:spLocks xmlns:a="http://schemas.openxmlformats.org/drawingml/2006/main" noGrp="1"/>
          </p:cNvSpPr>
          <p:nvPr/>
        </p:nvSpPr>
        <p:spPr>
          <a:xfrm xmlns:a="http://schemas.openxmlformats.org/drawingml/2006/main">
            <a:off x="619125" y="276225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15F4C"/>
                </a:solidFill>
                <a:latin typeface="Arial"/>
                <a:ea typeface="Arial"/>
                <a:cs typeface="Arial"/>
              </a:defRPr>
            </a:defPPr>
            <a:lvl1pPr algn="l">
              <a:defRPr sz="1800" b="1">
                <a:solidFill>
                  <a:srgbClr val="315F4C"/>
                </a:solidFill>
                <a:latin typeface="Arial"/>
                <a:ea typeface="Arial"/>
                <a:cs typeface="Arial"/>
              </a:defRPr>
            </a:lvl1pPr>
            <a:lvl2pPr algn="l">
              <a:defRPr sz="1800" b="1">
                <a:solidFill>
                  <a:srgbClr val="315F4C"/>
                </a:solidFill>
                <a:latin typeface="Arial"/>
                <a:ea typeface="Arial"/>
                <a:cs typeface="Arial"/>
              </a:defRPr>
            </a:lvl2pPr>
            <a:lvl3pPr algn="l">
              <a:defRPr sz="1800" b="1">
                <a:solidFill>
                  <a:srgbClr val="315F4C"/>
                </a:solidFill>
                <a:latin typeface="Arial"/>
                <a:ea typeface="Arial"/>
                <a:cs typeface="Arial"/>
              </a:defRPr>
            </a:lvl3pPr>
            <a:lvl4pPr algn="l">
              <a:defRPr sz="1800" b="1">
                <a:solidFill>
                  <a:srgbClr val="315F4C"/>
                </a:solidFill>
                <a:latin typeface="Arial"/>
                <a:ea typeface="Arial"/>
                <a:cs typeface="Arial"/>
              </a:defRPr>
            </a:lvl4pPr>
            <a:lvl5pPr algn="l">
              <a:defRPr sz="1800" b="1">
                <a:solidFill>
                  <a:srgbClr val="315F4C"/>
                </a:solidFill>
                <a:latin typeface="Arial"/>
                <a:ea typeface="Arial"/>
                <a:cs typeface="Arial"/>
              </a:defRPr>
            </a:lvl5pPr>
            <a:lvl6pPr algn="l">
              <a:defRPr sz="1800" b="1">
                <a:solidFill>
                  <a:srgbClr val="315F4C"/>
                </a:solidFill>
                <a:latin typeface="Arial"/>
                <a:ea typeface="Arial"/>
                <a:cs typeface="Arial"/>
              </a:defRPr>
            </a:lvl6pPr>
            <a:lvl7pPr algn="l">
              <a:defRPr sz="1800" b="1">
                <a:solidFill>
                  <a:srgbClr val="315F4C"/>
                </a:solidFill>
                <a:latin typeface="Arial"/>
                <a:ea typeface="Arial"/>
                <a:cs typeface="Arial"/>
              </a:defRPr>
            </a:lvl7pPr>
            <a:lvl8pPr algn="l">
              <a:defRPr sz="1800" b="1">
                <a:solidFill>
                  <a:srgbClr val="315F4C"/>
                </a:solidFill>
                <a:latin typeface="Arial"/>
                <a:ea typeface="Arial"/>
                <a:cs typeface="Arial"/>
              </a:defRPr>
            </a:lvl8pPr>
            <a:lvl9pPr algn="l">
              <a:defRPr sz="1800" b="1">
                <a:solidFill>
                  <a:srgbClr val="315F4C"/>
                </a:solidFill>
                <a:latin typeface="Arial"/>
                <a:ea typeface="Arial"/>
                <a:cs typeface="Arial"/>
              </a:defRPr>
            </a:lvl9pPr>
          </a:lstStyle>
          <a:p xmlns:a="http://schemas.openxmlformats.org/drawingml/2006/main">
            <a:pPr algn="l">
              <a:defRPr sz="1800" b="1">
                <a:solidFill>
                  <a:srgbClr val="315F4C"/>
                </a:solidFill>
                <a:latin typeface="Arial"/>
                <a:ea typeface="Arial"/>
                <a:cs typeface="Arial"/>
              </a:defRPr>
            </a:pPr>
            <a:r>
              <a:rPr sz="1800" b="1">
                <a:solidFill>
                  <a:srgbClr val="315F4C"/>
                </a:solidFill>
                <a:latin typeface="Arial"/>
                <a:ea typeface="Arial"/>
                <a:cs typeface="Arial"/>
              </a:rPr>
              <a:t>2. scikit-learn contributors</a:t>
            </a:r>
          </a:p>
        </p:txBody>
      </p:sp>
      <p:sp>
        <p:nvSpPr>
          <p:cNvPr id="10" name="">
            <a:extLst xmlns:a="http://schemas.openxmlformats.org/drawingml/2006/main">
              <a:ext uri="{FF2B5EF4-FFF2-40B4-BE49-F238E27FC236}">
                <a16:creationId xmlns:a16="http://schemas.microsoft.com/office/drawing/2014/main" id="{4E7B2CCB-EC36-4FFA-84BA-F85455CDA122}"/>
              </a:ext>
            </a:extLst>
          </p:cNvPr>
          <p:cNvSpPr>
            <a:spLocks xmlns:a="http://schemas.openxmlformats.org/drawingml/2006/main" noGrp="1"/>
          </p:cNvSpPr>
          <p:nvPr/>
        </p:nvSpPr>
        <p:spPr>
          <a:xfrm xmlns:a="http://schemas.openxmlformats.org/drawingml/2006/main">
            <a:off x="619125" y="311467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63B34"/>
                </a:solidFill>
                <a:latin typeface="Arial"/>
                <a:ea typeface="Arial"/>
                <a:cs typeface="Arial"/>
              </a:defRPr>
            </a:defPPr>
            <a:lvl1pPr algn="l">
              <a:defRPr sz="1650" b="0">
                <a:solidFill>
                  <a:srgbClr val="263B34"/>
                </a:solidFill>
                <a:latin typeface="Arial"/>
                <a:ea typeface="Arial"/>
                <a:cs typeface="Arial"/>
              </a:defRPr>
            </a:lvl1pPr>
            <a:lvl2pPr algn="l">
              <a:defRPr sz="1650" b="0">
                <a:solidFill>
                  <a:srgbClr val="263B34"/>
                </a:solidFill>
                <a:latin typeface="Arial"/>
                <a:ea typeface="Arial"/>
                <a:cs typeface="Arial"/>
              </a:defRPr>
            </a:lvl2pPr>
            <a:lvl3pPr algn="l">
              <a:defRPr sz="1650" b="0">
                <a:solidFill>
                  <a:srgbClr val="263B34"/>
                </a:solidFill>
                <a:latin typeface="Arial"/>
                <a:ea typeface="Arial"/>
                <a:cs typeface="Arial"/>
              </a:defRPr>
            </a:lvl3pPr>
            <a:lvl4pPr algn="l">
              <a:defRPr sz="1650" b="0">
                <a:solidFill>
                  <a:srgbClr val="263B34"/>
                </a:solidFill>
                <a:latin typeface="Arial"/>
                <a:ea typeface="Arial"/>
                <a:cs typeface="Arial"/>
              </a:defRPr>
            </a:lvl4pPr>
            <a:lvl5pPr algn="l">
              <a:defRPr sz="1650" b="0">
                <a:solidFill>
                  <a:srgbClr val="263B34"/>
                </a:solidFill>
                <a:latin typeface="Arial"/>
                <a:ea typeface="Arial"/>
                <a:cs typeface="Arial"/>
              </a:defRPr>
            </a:lvl5pPr>
            <a:lvl6pPr algn="l">
              <a:defRPr sz="1650" b="0">
                <a:solidFill>
                  <a:srgbClr val="263B34"/>
                </a:solidFill>
                <a:latin typeface="Arial"/>
                <a:ea typeface="Arial"/>
                <a:cs typeface="Arial"/>
              </a:defRPr>
            </a:lvl6pPr>
            <a:lvl7pPr algn="l">
              <a:defRPr sz="1650" b="0">
                <a:solidFill>
                  <a:srgbClr val="263B34"/>
                </a:solidFill>
                <a:latin typeface="Arial"/>
                <a:ea typeface="Arial"/>
                <a:cs typeface="Arial"/>
              </a:defRPr>
            </a:lvl7pPr>
            <a:lvl8pPr algn="l">
              <a:defRPr sz="1650" b="0">
                <a:solidFill>
                  <a:srgbClr val="263B34"/>
                </a:solidFill>
                <a:latin typeface="Arial"/>
                <a:ea typeface="Arial"/>
                <a:cs typeface="Arial"/>
              </a:defRPr>
            </a:lvl8pPr>
            <a:lvl9pPr algn="l">
              <a:defRPr sz="1650" b="0">
                <a:solidFill>
                  <a:srgbClr val="263B34"/>
                </a:solidFill>
                <a:latin typeface="Arial"/>
                <a:ea typeface="Arial"/>
                <a:cs typeface="Arial"/>
              </a:defRPr>
            </a:lvl9pPr>
          </a:lstStyle>
          <a:p xmlns:a="http://schemas.openxmlformats.org/drawingml/2006/main">
            <a:pPr algn="l">
              <a:defRPr sz="1650" b="0">
                <a:solidFill>
                  <a:srgbClr val="263B34"/>
                </a:solidFill>
                <a:latin typeface="Arial"/>
                <a:ea typeface="Arial"/>
                <a:cs typeface="Arial"/>
              </a:defRPr>
            </a:pPr>
            <a:r>
              <a:rPr sz="1650" b="0">
                <a:solidFill>
                  <a:srgbClr val="263B34"/>
                </a:solidFill>
                <a:latin typeface="Arial"/>
                <a:ea typeface="Arial"/>
                <a:cs typeface="Arial"/>
              </a:rPr>
              <a:t>Decision Trees documentation: supervised classification, CART and Gini impurity.</a:t>
            </a:r>
          </a:p>
        </p:txBody>
      </p:sp>
      <p:sp>
        <p:nvSpPr>
          <p:cNvPr id="11" name="">
            <a:extLst xmlns:a="http://schemas.openxmlformats.org/drawingml/2006/main">
              <a:ext uri="{FF2B5EF4-FFF2-40B4-BE49-F238E27FC236}">
                <a16:creationId xmlns:a16="http://schemas.microsoft.com/office/drawing/2014/main" id="{F7A3E11C-EBF0-4144-9336-C6386E50BD79}"/>
              </a:ext>
            </a:extLst>
          </p:cNvPr>
          <p:cNvSpPr>
            <a:spLocks xmlns:a="http://schemas.openxmlformats.org/drawingml/2006/main" noGrp="1"/>
          </p:cNvSpPr>
          <p:nvPr/>
        </p:nvSpPr>
        <p:spPr>
          <a:xfrm xmlns:a="http://schemas.openxmlformats.org/drawingml/2006/main">
            <a:off x="619125" y="350520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65716A"/>
                </a:solidFill>
                <a:latin typeface="Arial"/>
                <a:ea typeface="Arial"/>
                <a:cs typeface="Arial"/>
              </a:defRPr>
            </a:defPPr>
            <a:lvl1pPr algn="l">
              <a:defRPr sz="1425" b="0">
                <a:solidFill>
                  <a:srgbClr val="65716A"/>
                </a:solidFill>
                <a:latin typeface="Arial"/>
                <a:ea typeface="Arial"/>
                <a:cs typeface="Arial"/>
              </a:defRPr>
            </a:lvl1pPr>
            <a:lvl2pPr algn="l">
              <a:defRPr sz="1425" b="0">
                <a:solidFill>
                  <a:srgbClr val="65716A"/>
                </a:solidFill>
                <a:latin typeface="Arial"/>
                <a:ea typeface="Arial"/>
                <a:cs typeface="Arial"/>
              </a:defRPr>
            </a:lvl2pPr>
            <a:lvl3pPr algn="l">
              <a:defRPr sz="1425" b="0">
                <a:solidFill>
                  <a:srgbClr val="65716A"/>
                </a:solidFill>
                <a:latin typeface="Arial"/>
                <a:ea typeface="Arial"/>
                <a:cs typeface="Arial"/>
              </a:defRPr>
            </a:lvl3pPr>
            <a:lvl4pPr algn="l">
              <a:defRPr sz="1425" b="0">
                <a:solidFill>
                  <a:srgbClr val="65716A"/>
                </a:solidFill>
                <a:latin typeface="Arial"/>
                <a:ea typeface="Arial"/>
                <a:cs typeface="Arial"/>
              </a:defRPr>
            </a:lvl4pPr>
            <a:lvl5pPr algn="l">
              <a:defRPr sz="1425" b="0">
                <a:solidFill>
                  <a:srgbClr val="65716A"/>
                </a:solidFill>
                <a:latin typeface="Arial"/>
                <a:ea typeface="Arial"/>
                <a:cs typeface="Arial"/>
              </a:defRPr>
            </a:lvl5pPr>
            <a:lvl6pPr algn="l">
              <a:defRPr sz="1425" b="0">
                <a:solidFill>
                  <a:srgbClr val="65716A"/>
                </a:solidFill>
                <a:latin typeface="Arial"/>
                <a:ea typeface="Arial"/>
                <a:cs typeface="Arial"/>
              </a:defRPr>
            </a:lvl6pPr>
            <a:lvl7pPr algn="l">
              <a:defRPr sz="1425" b="0">
                <a:solidFill>
                  <a:srgbClr val="65716A"/>
                </a:solidFill>
                <a:latin typeface="Arial"/>
                <a:ea typeface="Arial"/>
                <a:cs typeface="Arial"/>
              </a:defRPr>
            </a:lvl7pPr>
            <a:lvl8pPr algn="l">
              <a:defRPr sz="1425" b="0">
                <a:solidFill>
                  <a:srgbClr val="65716A"/>
                </a:solidFill>
                <a:latin typeface="Arial"/>
                <a:ea typeface="Arial"/>
                <a:cs typeface="Arial"/>
              </a:defRPr>
            </a:lvl8pPr>
            <a:lvl9pPr algn="l">
              <a:defRPr sz="1425" b="0">
                <a:solidFill>
                  <a:srgbClr val="65716A"/>
                </a:solidFill>
                <a:latin typeface="Arial"/>
                <a:ea typeface="Arial"/>
                <a:cs typeface="Arial"/>
              </a:defRPr>
            </a:lvl9pPr>
          </a:lstStyle>
          <a:p xmlns:a="http://schemas.openxmlformats.org/drawingml/2006/main">
            <a:pPr algn="l">
              <a:defRPr sz="1425" b="0">
                <a:solidFill>
                  <a:srgbClr val="65716A"/>
                </a:solidFill>
                <a:latin typeface="Arial"/>
                <a:ea typeface="Arial"/>
                <a:cs typeface="Arial"/>
              </a:defRPr>
            </a:pPr>
            <a:r>
              <a:rPr sz="1425" b="0">
                <a:solidFill>
                  <a:srgbClr val="65716A"/>
                </a:solidFill>
                <a:latin typeface="Arial"/>
                <a:ea typeface="Arial"/>
                <a:cs typeface="Arial"/>
              </a:rPr>
              <a:t>https://scikit-learn.org/stable/modules/tree.html</a:t>
            </a:r>
          </a:p>
        </p:txBody>
      </p:sp>
      <p:sp>
        <p:nvSpPr>
          <p:cNvPr id="12" name="">
            <a:extLst xmlns:a="http://schemas.openxmlformats.org/drawingml/2006/main">
              <a:ext uri="{FF2B5EF4-FFF2-40B4-BE49-F238E27FC236}">
                <a16:creationId xmlns:a16="http://schemas.microsoft.com/office/drawing/2014/main" id="{D8461D4C-4C8A-4DAB-9775-5863CFC1016A}"/>
              </a:ext>
            </a:extLst>
          </p:cNvPr>
          <p:cNvSpPr>
            <a:spLocks xmlns:a="http://schemas.openxmlformats.org/drawingml/2006/main" noGrp="1"/>
          </p:cNvSpPr>
          <p:nvPr/>
        </p:nvSpPr>
        <p:spPr>
          <a:xfrm xmlns:a="http://schemas.openxmlformats.org/drawingml/2006/main">
            <a:off x="619125" y="3952875"/>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15F4C"/>
                </a:solidFill>
                <a:latin typeface="Arial"/>
                <a:ea typeface="Arial"/>
                <a:cs typeface="Arial"/>
              </a:defRPr>
            </a:defPPr>
            <a:lvl1pPr algn="l">
              <a:defRPr sz="1800" b="1">
                <a:solidFill>
                  <a:srgbClr val="315F4C"/>
                </a:solidFill>
                <a:latin typeface="Arial"/>
                <a:ea typeface="Arial"/>
                <a:cs typeface="Arial"/>
              </a:defRPr>
            </a:lvl1pPr>
            <a:lvl2pPr algn="l">
              <a:defRPr sz="1800" b="1">
                <a:solidFill>
                  <a:srgbClr val="315F4C"/>
                </a:solidFill>
                <a:latin typeface="Arial"/>
                <a:ea typeface="Arial"/>
                <a:cs typeface="Arial"/>
              </a:defRPr>
            </a:lvl2pPr>
            <a:lvl3pPr algn="l">
              <a:defRPr sz="1800" b="1">
                <a:solidFill>
                  <a:srgbClr val="315F4C"/>
                </a:solidFill>
                <a:latin typeface="Arial"/>
                <a:ea typeface="Arial"/>
                <a:cs typeface="Arial"/>
              </a:defRPr>
            </a:lvl3pPr>
            <a:lvl4pPr algn="l">
              <a:defRPr sz="1800" b="1">
                <a:solidFill>
                  <a:srgbClr val="315F4C"/>
                </a:solidFill>
                <a:latin typeface="Arial"/>
                <a:ea typeface="Arial"/>
                <a:cs typeface="Arial"/>
              </a:defRPr>
            </a:lvl4pPr>
            <a:lvl5pPr algn="l">
              <a:defRPr sz="1800" b="1">
                <a:solidFill>
                  <a:srgbClr val="315F4C"/>
                </a:solidFill>
                <a:latin typeface="Arial"/>
                <a:ea typeface="Arial"/>
                <a:cs typeface="Arial"/>
              </a:defRPr>
            </a:lvl5pPr>
            <a:lvl6pPr algn="l">
              <a:defRPr sz="1800" b="1">
                <a:solidFill>
                  <a:srgbClr val="315F4C"/>
                </a:solidFill>
                <a:latin typeface="Arial"/>
                <a:ea typeface="Arial"/>
                <a:cs typeface="Arial"/>
              </a:defRPr>
            </a:lvl6pPr>
            <a:lvl7pPr algn="l">
              <a:defRPr sz="1800" b="1">
                <a:solidFill>
                  <a:srgbClr val="315F4C"/>
                </a:solidFill>
                <a:latin typeface="Arial"/>
                <a:ea typeface="Arial"/>
                <a:cs typeface="Arial"/>
              </a:defRPr>
            </a:lvl7pPr>
            <a:lvl8pPr algn="l">
              <a:defRPr sz="1800" b="1">
                <a:solidFill>
                  <a:srgbClr val="315F4C"/>
                </a:solidFill>
                <a:latin typeface="Arial"/>
                <a:ea typeface="Arial"/>
                <a:cs typeface="Arial"/>
              </a:defRPr>
            </a:lvl8pPr>
            <a:lvl9pPr algn="l">
              <a:defRPr sz="1800" b="1">
                <a:solidFill>
                  <a:srgbClr val="315F4C"/>
                </a:solidFill>
                <a:latin typeface="Arial"/>
                <a:ea typeface="Arial"/>
                <a:cs typeface="Arial"/>
              </a:defRPr>
            </a:lvl9pPr>
          </a:lstStyle>
          <a:p xmlns:a="http://schemas.openxmlformats.org/drawingml/2006/main">
            <a:pPr algn="l">
              <a:defRPr sz="1800" b="1">
                <a:solidFill>
                  <a:srgbClr val="315F4C"/>
                </a:solidFill>
                <a:latin typeface="Arial"/>
                <a:ea typeface="Arial"/>
                <a:cs typeface="Arial"/>
              </a:defRPr>
            </a:pPr>
            <a:r>
              <a:rPr sz="1800" b="1">
                <a:solidFill>
                  <a:srgbClr val="315F4C"/>
                </a:solidFill>
                <a:latin typeface="Arial"/>
                <a:ea typeface="Arial"/>
                <a:cs typeface="Arial"/>
              </a:rPr>
              <a:t>3. Python Software Foundation</a:t>
            </a:r>
          </a:p>
        </p:txBody>
      </p:sp>
      <p:sp>
        <p:nvSpPr>
          <p:cNvPr id="13" name="">
            <a:extLst xmlns:a="http://schemas.openxmlformats.org/drawingml/2006/main">
              <a:ext uri="{FF2B5EF4-FFF2-40B4-BE49-F238E27FC236}">
                <a16:creationId xmlns:a16="http://schemas.microsoft.com/office/drawing/2014/main" id="{339CF34C-5774-453D-98D3-74EE42A87DD5}"/>
              </a:ext>
            </a:extLst>
          </p:cNvPr>
          <p:cNvSpPr>
            <a:spLocks xmlns:a="http://schemas.openxmlformats.org/drawingml/2006/main" noGrp="1"/>
          </p:cNvSpPr>
          <p:nvPr/>
        </p:nvSpPr>
        <p:spPr>
          <a:xfrm xmlns:a="http://schemas.openxmlformats.org/drawingml/2006/main">
            <a:off x="619125" y="43053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63B34"/>
                </a:solidFill>
                <a:latin typeface="Arial"/>
                <a:ea typeface="Arial"/>
                <a:cs typeface="Arial"/>
              </a:defRPr>
            </a:defPPr>
            <a:lvl1pPr algn="l">
              <a:defRPr sz="1650" b="0">
                <a:solidFill>
                  <a:srgbClr val="263B34"/>
                </a:solidFill>
                <a:latin typeface="Arial"/>
                <a:ea typeface="Arial"/>
                <a:cs typeface="Arial"/>
              </a:defRPr>
            </a:lvl1pPr>
            <a:lvl2pPr algn="l">
              <a:defRPr sz="1650" b="0">
                <a:solidFill>
                  <a:srgbClr val="263B34"/>
                </a:solidFill>
                <a:latin typeface="Arial"/>
                <a:ea typeface="Arial"/>
                <a:cs typeface="Arial"/>
              </a:defRPr>
            </a:lvl2pPr>
            <a:lvl3pPr algn="l">
              <a:defRPr sz="1650" b="0">
                <a:solidFill>
                  <a:srgbClr val="263B34"/>
                </a:solidFill>
                <a:latin typeface="Arial"/>
                <a:ea typeface="Arial"/>
                <a:cs typeface="Arial"/>
              </a:defRPr>
            </a:lvl3pPr>
            <a:lvl4pPr algn="l">
              <a:defRPr sz="1650" b="0">
                <a:solidFill>
                  <a:srgbClr val="263B34"/>
                </a:solidFill>
                <a:latin typeface="Arial"/>
                <a:ea typeface="Arial"/>
                <a:cs typeface="Arial"/>
              </a:defRPr>
            </a:lvl4pPr>
            <a:lvl5pPr algn="l">
              <a:defRPr sz="1650" b="0">
                <a:solidFill>
                  <a:srgbClr val="263B34"/>
                </a:solidFill>
                <a:latin typeface="Arial"/>
                <a:ea typeface="Arial"/>
                <a:cs typeface="Arial"/>
              </a:defRPr>
            </a:lvl5pPr>
            <a:lvl6pPr algn="l">
              <a:defRPr sz="1650" b="0">
                <a:solidFill>
                  <a:srgbClr val="263B34"/>
                </a:solidFill>
                <a:latin typeface="Arial"/>
                <a:ea typeface="Arial"/>
                <a:cs typeface="Arial"/>
              </a:defRPr>
            </a:lvl6pPr>
            <a:lvl7pPr algn="l">
              <a:defRPr sz="1650" b="0">
                <a:solidFill>
                  <a:srgbClr val="263B34"/>
                </a:solidFill>
                <a:latin typeface="Arial"/>
                <a:ea typeface="Arial"/>
                <a:cs typeface="Arial"/>
              </a:defRPr>
            </a:lvl7pPr>
            <a:lvl8pPr algn="l">
              <a:defRPr sz="1650" b="0">
                <a:solidFill>
                  <a:srgbClr val="263B34"/>
                </a:solidFill>
                <a:latin typeface="Arial"/>
                <a:ea typeface="Arial"/>
                <a:cs typeface="Arial"/>
              </a:defRPr>
            </a:lvl8pPr>
            <a:lvl9pPr algn="l">
              <a:defRPr sz="1650" b="0">
                <a:solidFill>
                  <a:srgbClr val="263B34"/>
                </a:solidFill>
                <a:latin typeface="Arial"/>
                <a:ea typeface="Arial"/>
                <a:cs typeface="Arial"/>
              </a:defRPr>
            </a:lvl9pPr>
          </a:lstStyle>
          <a:p xmlns:a="http://schemas.openxmlformats.org/drawingml/2006/main">
            <a:pPr algn="l">
              <a:defRPr sz="1650" b="0">
                <a:solidFill>
                  <a:srgbClr val="263B34"/>
                </a:solidFill>
                <a:latin typeface="Arial"/>
                <a:ea typeface="Arial"/>
                <a:cs typeface="Arial"/>
              </a:defRPr>
            </a:pPr>
            <a:r>
              <a:rPr sz="1650" b="0">
                <a:solidFill>
                  <a:srgbClr val="263B34"/>
                </a:solidFill>
                <a:latin typeface="Arial"/>
                <a:ea typeface="Arial"/>
                <a:cs typeface="Arial"/>
              </a:rPr>
              <a:t>Python documentation for collections.deque, http.server and JSON data handling.</a:t>
            </a:r>
          </a:p>
        </p:txBody>
      </p:sp>
      <p:sp>
        <p:nvSpPr>
          <p:cNvPr id="14" name="">
            <a:extLst xmlns:a="http://schemas.openxmlformats.org/drawingml/2006/main">
              <a:ext uri="{FF2B5EF4-FFF2-40B4-BE49-F238E27FC236}">
                <a16:creationId xmlns:a16="http://schemas.microsoft.com/office/drawing/2014/main" id="{FDF693C0-581E-4321-A822-9A71C0D6E64D}"/>
              </a:ext>
            </a:extLst>
          </p:cNvPr>
          <p:cNvSpPr>
            <a:spLocks xmlns:a="http://schemas.openxmlformats.org/drawingml/2006/main" noGrp="1"/>
          </p:cNvSpPr>
          <p:nvPr/>
        </p:nvSpPr>
        <p:spPr>
          <a:xfrm xmlns:a="http://schemas.openxmlformats.org/drawingml/2006/main">
            <a:off x="619125" y="4695825"/>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65716A"/>
                </a:solidFill>
                <a:latin typeface="Arial"/>
                <a:ea typeface="Arial"/>
                <a:cs typeface="Arial"/>
              </a:defRPr>
            </a:defPPr>
            <a:lvl1pPr algn="l">
              <a:defRPr sz="1425" b="0">
                <a:solidFill>
                  <a:srgbClr val="65716A"/>
                </a:solidFill>
                <a:latin typeface="Arial"/>
                <a:ea typeface="Arial"/>
                <a:cs typeface="Arial"/>
              </a:defRPr>
            </a:lvl1pPr>
            <a:lvl2pPr algn="l">
              <a:defRPr sz="1425" b="0">
                <a:solidFill>
                  <a:srgbClr val="65716A"/>
                </a:solidFill>
                <a:latin typeface="Arial"/>
                <a:ea typeface="Arial"/>
                <a:cs typeface="Arial"/>
              </a:defRPr>
            </a:lvl2pPr>
            <a:lvl3pPr algn="l">
              <a:defRPr sz="1425" b="0">
                <a:solidFill>
                  <a:srgbClr val="65716A"/>
                </a:solidFill>
                <a:latin typeface="Arial"/>
                <a:ea typeface="Arial"/>
                <a:cs typeface="Arial"/>
              </a:defRPr>
            </a:lvl3pPr>
            <a:lvl4pPr algn="l">
              <a:defRPr sz="1425" b="0">
                <a:solidFill>
                  <a:srgbClr val="65716A"/>
                </a:solidFill>
                <a:latin typeface="Arial"/>
                <a:ea typeface="Arial"/>
                <a:cs typeface="Arial"/>
              </a:defRPr>
            </a:lvl4pPr>
            <a:lvl5pPr algn="l">
              <a:defRPr sz="1425" b="0">
                <a:solidFill>
                  <a:srgbClr val="65716A"/>
                </a:solidFill>
                <a:latin typeface="Arial"/>
                <a:ea typeface="Arial"/>
                <a:cs typeface="Arial"/>
              </a:defRPr>
            </a:lvl5pPr>
            <a:lvl6pPr algn="l">
              <a:defRPr sz="1425" b="0">
                <a:solidFill>
                  <a:srgbClr val="65716A"/>
                </a:solidFill>
                <a:latin typeface="Arial"/>
                <a:ea typeface="Arial"/>
                <a:cs typeface="Arial"/>
              </a:defRPr>
            </a:lvl6pPr>
            <a:lvl7pPr algn="l">
              <a:defRPr sz="1425" b="0">
                <a:solidFill>
                  <a:srgbClr val="65716A"/>
                </a:solidFill>
                <a:latin typeface="Arial"/>
                <a:ea typeface="Arial"/>
                <a:cs typeface="Arial"/>
              </a:defRPr>
            </a:lvl7pPr>
            <a:lvl8pPr algn="l">
              <a:defRPr sz="1425" b="0">
                <a:solidFill>
                  <a:srgbClr val="65716A"/>
                </a:solidFill>
                <a:latin typeface="Arial"/>
                <a:ea typeface="Arial"/>
                <a:cs typeface="Arial"/>
              </a:defRPr>
            </a:lvl8pPr>
            <a:lvl9pPr algn="l">
              <a:defRPr sz="1425" b="0">
                <a:solidFill>
                  <a:srgbClr val="65716A"/>
                </a:solidFill>
                <a:latin typeface="Arial"/>
                <a:ea typeface="Arial"/>
                <a:cs typeface="Arial"/>
              </a:defRPr>
            </a:lvl9pPr>
          </a:lstStyle>
          <a:p xmlns:a="http://schemas.openxmlformats.org/drawingml/2006/main">
            <a:pPr algn="l">
              <a:defRPr sz="1425" b="0">
                <a:solidFill>
                  <a:srgbClr val="65716A"/>
                </a:solidFill>
                <a:latin typeface="Arial"/>
                <a:ea typeface="Arial"/>
                <a:cs typeface="Arial"/>
              </a:defRPr>
            </a:pPr>
            <a:r>
              <a:rPr sz="1425" b="0">
                <a:solidFill>
                  <a:srgbClr val="65716A"/>
                </a:solidFill>
                <a:latin typeface="Arial"/>
                <a:ea typeface="Arial"/>
                <a:cs typeface="Arial"/>
              </a:rPr>
              <a:t>https://docs.python.org/3/library/</a:t>
            </a:r>
          </a:p>
        </p:txBody>
      </p:sp>
      <p:sp>
        <p:nvSpPr>
          <p:cNvPr id="15" name="">
            <a:extLst xmlns:a="http://schemas.openxmlformats.org/drawingml/2006/main">
              <a:ext uri="{FF2B5EF4-FFF2-40B4-BE49-F238E27FC236}">
                <a16:creationId xmlns:a16="http://schemas.microsoft.com/office/drawing/2014/main" id="{5732C964-983E-497C-AB4A-A3A019E96446}"/>
              </a:ext>
            </a:extLst>
          </p:cNvPr>
          <p:cNvSpPr>
            <a:spLocks xmlns:a="http://schemas.openxmlformats.org/drawingml/2006/main" noGrp="1"/>
          </p:cNvSpPr>
          <p:nvPr/>
        </p:nvSpPr>
        <p:spPr>
          <a:xfrm xmlns:a="http://schemas.openxmlformats.org/drawingml/2006/main">
            <a:off x="619125" y="514350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315F4C"/>
                </a:solidFill>
                <a:latin typeface="Arial"/>
                <a:ea typeface="Arial"/>
                <a:cs typeface="Arial"/>
              </a:defRPr>
            </a:defPPr>
            <a:lvl1pPr algn="l">
              <a:defRPr sz="1800" b="1">
                <a:solidFill>
                  <a:srgbClr val="315F4C"/>
                </a:solidFill>
                <a:latin typeface="Arial"/>
                <a:ea typeface="Arial"/>
                <a:cs typeface="Arial"/>
              </a:defRPr>
            </a:lvl1pPr>
            <a:lvl2pPr algn="l">
              <a:defRPr sz="1800" b="1">
                <a:solidFill>
                  <a:srgbClr val="315F4C"/>
                </a:solidFill>
                <a:latin typeface="Arial"/>
                <a:ea typeface="Arial"/>
                <a:cs typeface="Arial"/>
              </a:defRPr>
            </a:lvl2pPr>
            <a:lvl3pPr algn="l">
              <a:defRPr sz="1800" b="1">
                <a:solidFill>
                  <a:srgbClr val="315F4C"/>
                </a:solidFill>
                <a:latin typeface="Arial"/>
                <a:ea typeface="Arial"/>
                <a:cs typeface="Arial"/>
              </a:defRPr>
            </a:lvl3pPr>
            <a:lvl4pPr algn="l">
              <a:defRPr sz="1800" b="1">
                <a:solidFill>
                  <a:srgbClr val="315F4C"/>
                </a:solidFill>
                <a:latin typeface="Arial"/>
                <a:ea typeface="Arial"/>
                <a:cs typeface="Arial"/>
              </a:defRPr>
            </a:lvl4pPr>
            <a:lvl5pPr algn="l">
              <a:defRPr sz="1800" b="1">
                <a:solidFill>
                  <a:srgbClr val="315F4C"/>
                </a:solidFill>
                <a:latin typeface="Arial"/>
                <a:ea typeface="Arial"/>
                <a:cs typeface="Arial"/>
              </a:defRPr>
            </a:lvl5pPr>
            <a:lvl6pPr algn="l">
              <a:defRPr sz="1800" b="1">
                <a:solidFill>
                  <a:srgbClr val="315F4C"/>
                </a:solidFill>
                <a:latin typeface="Arial"/>
                <a:ea typeface="Arial"/>
                <a:cs typeface="Arial"/>
              </a:defRPr>
            </a:lvl6pPr>
            <a:lvl7pPr algn="l">
              <a:defRPr sz="1800" b="1">
                <a:solidFill>
                  <a:srgbClr val="315F4C"/>
                </a:solidFill>
                <a:latin typeface="Arial"/>
                <a:ea typeface="Arial"/>
                <a:cs typeface="Arial"/>
              </a:defRPr>
            </a:lvl7pPr>
            <a:lvl8pPr algn="l">
              <a:defRPr sz="1800" b="1">
                <a:solidFill>
                  <a:srgbClr val="315F4C"/>
                </a:solidFill>
                <a:latin typeface="Arial"/>
                <a:ea typeface="Arial"/>
                <a:cs typeface="Arial"/>
              </a:defRPr>
            </a:lvl8pPr>
            <a:lvl9pPr algn="l">
              <a:defRPr sz="1800" b="1">
                <a:solidFill>
                  <a:srgbClr val="315F4C"/>
                </a:solidFill>
                <a:latin typeface="Arial"/>
                <a:ea typeface="Arial"/>
                <a:cs typeface="Arial"/>
              </a:defRPr>
            </a:lvl9pPr>
          </a:lstStyle>
          <a:p xmlns:a="http://schemas.openxmlformats.org/drawingml/2006/main">
            <a:pPr algn="l">
              <a:defRPr sz="1800" b="1">
                <a:solidFill>
                  <a:srgbClr val="315F4C"/>
                </a:solidFill>
                <a:latin typeface="Arial"/>
                <a:ea typeface="Arial"/>
                <a:cs typeface="Arial"/>
              </a:defRPr>
            </a:pPr>
            <a:r>
              <a:rPr sz="1800" b="1">
                <a:solidFill>
                  <a:srgbClr val="315F4C"/>
                </a:solidFill>
                <a:latin typeface="Arial"/>
                <a:ea typeface="Arial"/>
                <a:cs typeface="Arial"/>
              </a:rPr>
              <a:t>4. PolicyForge AI source code and reproducible experiment artefacts</a:t>
            </a:r>
          </a:p>
        </p:txBody>
      </p:sp>
      <p:sp>
        <p:nvSpPr>
          <p:cNvPr id="16" name="">
            <a:extLst xmlns:a="http://schemas.openxmlformats.org/drawingml/2006/main">
              <a:ext uri="{FF2B5EF4-FFF2-40B4-BE49-F238E27FC236}">
                <a16:creationId xmlns:a16="http://schemas.microsoft.com/office/drawing/2014/main" id="{ECAA931F-1C3B-4780-998D-F69D21ECFBAE}"/>
              </a:ext>
            </a:extLst>
          </p:cNvPr>
          <p:cNvSpPr>
            <a:spLocks xmlns:a="http://schemas.openxmlformats.org/drawingml/2006/main" noGrp="1"/>
          </p:cNvSpPr>
          <p:nvPr/>
        </p:nvSpPr>
        <p:spPr>
          <a:xfrm xmlns:a="http://schemas.openxmlformats.org/drawingml/2006/main">
            <a:off x="619125" y="54959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650" b="0">
                <a:solidFill>
                  <a:srgbClr val="263B34"/>
                </a:solidFill>
                <a:latin typeface="Arial"/>
                <a:ea typeface="Arial"/>
                <a:cs typeface="Arial"/>
              </a:defRPr>
            </a:defPPr>
            <a:lvl1pPr algn="l">
              <a:defRPr sz="1650" b="0">
                <a:solidFill>
                  <a:srgbClr val="263B34"/>
                </a:solidFill>
                <a:latin typeface="Arial"/>
                <a:ea typeface="Arial"/>
                <a:cs typeface="Arial"/>
              </a:defRPr>
            </a:lvl1pPr>
            <a:lvl2pPr algn="l">
              <a:defRPr sz="1650" b="0">
                <a:solidFill>
                  <a:srgbClr val="263B34"/>
                </a:solidFill>
                <a:latin typeface="Arial"/>
                <a:ea typeface="Arial"/>
                <a:cs typeface="Arial"/>
              </a:defRPr>
            </a:lvl2pPr>
            <a:lvl3pPr algn="l">
              <a:defRPr sz="1650" b="0">
                <a:solidFill>
                  <a:srgbClr val="263B34"/>
                </a:solidFill>
                <a:latin typeface="Arial"/>
                <a:ea typeface="Arial"/>
                <a:cs typeface="Arial"/>
              </a:defRPr>
            </a:lvl3pPr>
            <a:lvl4pPr algn="l">
              <a:defRPr sz="1650" b="0">
                <a:solidFill>
                  <a:srgbClr val="263B34"/>
                </a:solidFill>
                <a:latin typeface="Arial"/>
                <a:ea typeface="Arial"/>
                <a:cs typeface="Arial"/>
              </a:defRPr>
            </a:lvl4pPr>
            <a:lvl5pPr algn="l">
              <a:defRPr sz="1650" b="0">
                <a:solidFill>
                  <a:srgbClr val="263B34"/>
                </a:solidFill>
                <a:latin typeface="Arial"/>
                <a:ea typeface="Arial"/>
                <a:cs typeface="Arial"/>
              </a:defRPr>
            </a:lvl5pPr>
            <a:lvl6pPr algn="l">
              <a:defRPr sz="1650" b="0">
                <a:solidFill>
                  <a:srgbClr val="263B34"/>
                </a:solidFill>
                <a:latin typeface="Arial"/>
                <a:ea typeface="Arial"/>
                <a:cs typeface="Arial"/>
              </a:defRPr>
            </a:lvl6pPr>
            <a:lvl7pPr algn="l">
              <a:defRPr sz="1650" b="0">
                <a:solidFill>
                  <a:srgbClr val="263B34"/>
                </a:solidFill>
                <a:latin typeface="Arial"/>
                <a:ea typeface="Arial"/>
                <a:cs typeface="Arial"/>
              </a:defRPr>
            </a:lvl7pPr>
            <a:lvl8pPr algn="l">
              <a:defRPr sz="1650" b="0">
                <a:solidFill>
                  <a:srgbClr val="263B34"/>
                </a:solidFill>
                <a:latin typeface="Arial"/>
                <a:ea typeface="Arial"/>
                <a:cs typeface="Arial"/>
              </a:defRPr>
            </a:lvl8pPr>
            <a:lvl9pPr algn="l">
              <a:defRPr sz="1650" b="0">
                <a:solidFill>
                  <a:srgbClr val="263B34"/>
                </a:solidFill>
                <a:latin typeface="Arial"/>
                <a:ea typeface="Arial"/>
                <a:cs typeface="Arial"/>
              </a:defRPr>
            </a:lvl9pPr>
          </a:lstStyle>
          <a:p xmlns:a="http://schemas.openxmlformats.org/drawingml/2006/main">
            <a:pPr algn="l">
              <a:defRPr sz="1650" b="0">
                <a:solidFill>
                  <a:srgbClr val="263B34"/>
                </a:solidFill>
                <a:latin typeface="Arial"/>
                <a:ea typeface="Arial"/>
                <a:cs typeface="Arial"/>
              </a:defRPr>
            </a:pPr>
            <a:r>
              <a:rPr sz="1650" b="0">
                <a:solidFill>
                  <a:srgbClr val="263B34"/>
                </a:solidFill>
                <a:latin typeface="Arial"/>
                <a:ea typeface="Arial"/>
                <a:cs typeface="Arial"/>
              </a:rPr>
              <a:t>core.py, experiments.py, advisor.py, tutor.py, train_advisor.py and advisor_model.json.</a:t>
            </a:r>
          </a:p>
        </p:txBody>
      </p:sp>
      <p:sp>
        <p:nvSpPr>
          <p:cNvPr id="17" name="">
            <a:extLst xmlns:a="http://schemas.openxmlformats.org/drawingml/2006/main">
              <a:ext uri="{FF2B5EF4-FFF2-40B4-BE49-F238E27FC236}">
                <a16:creationId xmlns:a16="http://schemas.microsoft.com/office/drawing/2014/main" id="{736EFB5E-D454-49B5-9B75-6A86A322D8A7}"/>
              </a:ext>
            </a:extLst>
          </p:cNvPr>
          <p:cNvSpPr>
            <a:spLocks xmlns:a="http://schemas.openxmlformats.org/drawingml/2006/main" noGrp="1"/>
          </p:cNvSpPr>
          <p:nvPr/>
        </p:nvSpPr>
        <p:spPr>
          <a:xfrm xmlns:a="http://schemas.openxmlformats.org/drawingml/2006/main">
            <a:off x="619125" y="58864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65716A"/>
                </a:solidFill>
                <a:latin typeface="Arial"/>
                <a:ea typeface="Arial"/>
                <a:cs typeface="Arial"/>
              </a:defRPr>
            </a:defPPr>
            <a:lvl1pPr algn="l">
              <a:defRPr sz="1425" b="0">
                <a:solidFill>
                  <a:srgbClr val="65716A"/>
                </a:solidFill>
                <a:latin typeface="Arial"/>
                <a:ea typeface="Arial"/>
                <a:cs typeface="Arial"/>
              </a:defRPr>
            </a:lvl1pPr>
            <a:lvl2pPr algn="l">
              <a:defRPr sz="1425" b="0">
                <a:solidFill>
                  <a:srgbClr val="65716A"/>
                </a:solidFill>
                <a:latin typeface="Arial"/>
                <a:ea typeface="Arial"/>
                <a:cs typeface="Arial"/>
              </a:defRPr>
            </a:lvl2pPr>
            <a:lvl3pPr algn="l">
              <a:defRPr sz="1425" b="0">
                <a:solidFill>
                  <a:srgbClr val="65716A"/>
                </a:solidFill>
                <a:latin typeface="Arial"/>
                <a:ea typeface="Arial"/>
                <a:cs typeface="Arial"/>
              </a:defRPr>
            </a:lvl3pPr>
            <a:lvl4pPr algn="l">
              <a:defRPr sz="1425" b="0">
                <a:solidFill>
                  <a:srgbClr val="65716A"/>
                </a:solidFill>
                <a:latin typeface="Arial"/>
                <a:ea typeface="Arial"/>
                <a:cs typeface="Arial"/>
              </a:defRPr>
            </a:lvl4pPr>
            <a:lvl5pPr algn="l">
              <a:defRPr sz="1425" b="0">
                <a:solidFill>
                  <a:srgbClr val="65716A"/>
                </a:solidFill>
                <a:latin typeface="Arial"/>
                <a:ea typeface="Arial"/>
                <a:cs typeface="Arial"/>
              </a:defRPr>
            </a:lvl5pPr>
            <a:lvl6pPr algn="l">
              <a:defRPr sz="1425" b="0">
                <a:solidFill>
                  <a:srgbClr val="65716A"/>
                </a:solidFill>
                <a:latin typeface="Arial"/>
                <a:ea typeface="Arial"/>
                <a:cs typeface="Arial"/>
              </a:defRPr>
            </a:lvl6pPr>
            <a:lvl7pPr algn="l">
              <a:defRPr sz="1425" b="0">
                <a:solidFill>
                  <a:srgbClr val="65716A"/>
                </a:solidFill>
                <a:latin typeface="Arial"/>
                <a:ea typeface="Arial"/>
                <a:cs typeface="Arial"/>
              </a:defRPr>
            </a:lvl7pPr>
            <a:lvl8pPr algn="l">
              <a:defRPr sz="1425" b="0">
                <a:solidFill>
                  <a:srgbClr val="65716A"/>
                </a:solidFill>
                <a:latin typeface="Arial"/>
                <a:ea typeface="Arial"/>
                <a:cs typeface="Arial"/>
              </a:defRPr>
            </a:lvl8pPr>
            <a:lvl9pPr algn="l">
              <a:defRPr sz="1425" b="0">
                <a:solidFill>
                  <a:srgbClr val="65716A"/>
                </a:solidFill>
                <a:latin typeface="Arial"/>
                <a:ea typeface="Arial"/>
                <a:cs typeface="Arial"/>
              </a:defRPr>
            </a:lvl9pPr>
          </a:lstStyle>
          <a:p xmlns:a="http://schemas.openxmlformats.org/drawingml/2006/main">
            <a:pPr algn="l">
              <a:defRPr sz="1425" b="0">
                <a:solidFill>
                  <a:srgbClr val="65716A"/>
                </a:solidFill>
                <a:latin typeface="Arial"/>
                <a:ea typeface="Arial"/>
                <a:cs typeface="Arial"/>
              </a:defRPr>
            </a:pPr>
            <a:r>
              <a:rPr sz="1425" b="0">
                <a:solidFill>
                  <a:srgbClr val="65716A"/>
                </a:solidFill>
                <a:latin typeface="Arial"/>
                <a:ea typeface="Arial"/>
                <a:cs typeface="Arial"/>
              </a:rPr>
              <a:t>Local project implementation and test outputs, October 2026.</a:t>
            </a:r>
          </a:p>
        </p:txBody>
      </p:sp>
    </p:spTree>
    <p:extLst>
      <p:ext uri="{BB962C8B-B14F-4D97-AF65-F5344CB8AC3E}">
        <p14:creationId xmlns:p14="http://schemas.microsoft.com/office/powerpoint/2010/main" val="5751423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2026-10-24T06:03:29.8360000Z</dcterms:created>
  <dcterms:modified xsi:type="dcterms:W3CDTF">2026-10-24T06:03:29.8370000Z</dcterms:modified>
</coreProperties>
</file>